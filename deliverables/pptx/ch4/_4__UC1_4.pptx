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con_svg1.svg"/><Relationship Id="rId4" Type="http://schemas.openxmlformats.org/officeDocument/2006/relationships/image" Target="../media/image2.png"/><Relationship Id="rId5" Type="http://schemas.openxmlformats.org/officeDocument/2006/relationships/image" Target="../media/icon_svg2.svg"/><Relationship Id="rId6" Type="http://schemas.openxmlformats.org/officeDocument/2006/relationships/image" Target="../media/icon_svg3.svg"/><Relationship Id="rId7" Type="http://schemas.openxmlformats.org/officeDocument/2006/relationships/image" Target="../media/image3.png"/><Relationship Id="rId8" Type="http://schemas.openxmlformats.org/officeDocument/2006/relationships/image" Target="../media/icon_svg4.svg"/><Relationship Id="rId9" Type="http://schemas.openxmlformats.org/officeDocument/2006/relationships/image" Target="../media/icon_svg5.svg"/><Relationship Id="rId10" Type="http://schemas.openxmlformats.org/officeDocument/2006/relationships/image" Target="../media/image4.png"/><Relationship Id="rId11" Type="http://schemas.openxmlformats.org/officeDocument/2006/relationships/image" Target="../media/icon_svg6.svg"/><Relationship Id="rId12" Type="http://schemas.openxmlformats.org/officeDocument/2006/relationships/image" Target="../media/icon_svg7.svg"/><Relationship Id="rId13" Type="http://schemas.openxmlformats.org/officeDocument/2006/relationships/image" Target="../media/icon_svg8.svg"/><Relationship Id="rId14" Type="http://schemas.openxmlformats.org/officeDocument/2006/relationships/image" Target="../media/icon_svg9.svg"/><Relationship Id="rId15" Type="http://schemas.openxmlformats.org/officeDocument/2006/relationships/image" Target="../media/icon_svg10.svg"/><Relationship Id="rId16" Type="http://schemas.openxmlformats.org/officeDocument/2006/relationships/image" Target="../media/icon_svg11.svg"/><Relationship Id="rId17" Type="http://schemas.openxmlformats.org/officeDocument/2006/relationships/image" Target="../media/icon_svg12.svg"/><Relationship Id="rId18" Type="http://schemas.openxmlformats.org/officeDocument/2006/relationships/image" Target="../media/icon_svg13.svg"/><Relationship Id="rId19" Type="http://schemas.openxmlformats.org/officeDocument/2006/relationships/image" Target="../media/icon_svg1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18751" y="72917"/>
            <a:ext cx="117541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4.4  表4-1  例外分岐一覧（候補なし・根拠不足・矛盾・版不明・対象外・低信頼）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000" y="481251"/>
            <a:ext cx="11841694" cy="408334"/>
          </a:xfrm>
          <a:prstGeom prst="roundRect">
            <a:avLst>
              <a:gd name="adj" fmla="val 7142"/>
            </a:avLst>
          </a:prstGeom>
          <a:solidFill>
            <a:srgbClr val="F2F8FE"/>
          </a:solidFill>
          <a:ln w="8750">
            <a:solidFill>
              <a:srgbClr val="9CC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" y="488543"/>
            <a:ext cx="11841694" cy="3937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検索・回答の過程で例外的な状況が発生した場合の検知方法、出力メッセージ、次に確認すべきこと、提示レベルを整理する。</a:t>
            </a:r>
          </a:p>
          <a:p>
            <a:pPr algn="ctr">
              <a:lnSpc>
                <a:spcPts val="1400"/>
              </a:lnSpc>
            </a:pPr>
            <a:r>
              <a:rPr sz="9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いずれの場合も、ユーザーに誤った情報を提示せず、適切な保留・確認を行う。</a:t>
            </a:r>
          </a:p>
        </p:txBody>
      </p:sp>
      <p:graphicFrame>
        <p:nvGraphicFramePr>
          <p:cNvPr id="5" name="exception-table"/>
          <p:cNvGraphicFramePr>
            <a:graphicFrameLocks noGrp="1"/>
          </p:cNvGraphicFramePr>
          <p:nvPr/>
        </p:nvGraphicFramePr>
        <p:xfrm>
          <a:off x="175000" y="947919"/>
          <a:ext cx="11841693" cy="584793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1667"/>
                <a:gridCol w="758335"/>
                <a:gridCol w="1283336"/>
                <a:gridCol w="904169"/>
                <a:gridCol w="1239586"/>
                <a:gridCol w="2187505"/>
                <a:gridCol w="2916673"/>
                <a:gridCol w="1502087"/>
                <a:gridCol w="758335"/>
              </a:tblGrid>
              <a:tr h="320834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例外の種類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条件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5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（どのようなときに発生するか）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検知方法（例）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ユーザーの質問例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システムの動作・分岐イメージ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出力メッセージ例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6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（画面イメージ）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次に確認すべきこと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提示レベル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123E82"/>
                    </a:solidFill>
                  </a:tcPr>
                </a:tc>
              </a:tr>
              <a:tr h="72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850" b="1" i="0">
                          <a:solidFill>
                            <a:srgbClr val="D42A3A"/>
                          </a:solidFill>
                          <a:latin typeface="Meiryo"/>
                          <a:ea typeface="Meiryo"/>
                          <a:cs typeface="Meiryo"/>
                        </a:rPr>
                        <a:t>該当なし</a:t>
                      </a:r>
                    </a:p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850" b="1" i="0">
                          <a:solidFill>
                            <a:srgbClr val="D42A3A"/>
                          </a:solidFill>
                          <a:latin typeface="Meiryo"/>
                          <a:ea typeface="Meiryo"/>
                          <a:cs typeface="Meiryo"/>
                        </a:rPr>
                        <a:t>（確定キー）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BE3E8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部品番号・工程番号・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文書番号などの確定キー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で検索したが、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該当レコードが存在しない。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構造化検索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（SQL）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0件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入力キーの再確認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部品番号の桁数・表記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別の部品番号で再検索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結果表示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なし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90416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8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曖昧</a:t>
                      </a:r>
                    </a:p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8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（複数該当）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確定キーで検索したが、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複数の候補が該当し、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閾値を超える件数がある。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構造化検索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（SQL）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n件 &gt; 閾値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（例：&gt; 50件）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作業内容の指定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版の指定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適用範囲の指定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より詳細なキーワード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候補一覧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86041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9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根拠不足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検索結果はあるが、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上位候補のスコアが閾値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未満、または回答に必要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な根拠情報が不足している。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検索スコア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閾値未満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／必要項目の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欠落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より具体的な作業内容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部品番号の指定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工程の特定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関連するキーワード追加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参考提示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87500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4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9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矛盾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同一文書IDで版の内容が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不整合、または複数候補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で主要項目（作業内容・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適用範囲等）が相違する。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版情報の不整合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複数候補の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主要項目差異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どちらの版を参照すべきか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適用する機種・期間の確認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担当者への確認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候補比較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72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5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8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版・適用不明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検索結果において、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版列がNULL、または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適用情報が登録されて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いない。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版列NULL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適用情報なし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最新版の確認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適用範囲の確認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担当者への確認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参考提示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700002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6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9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対象外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画像・図面・NECST 等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本PoCの対象外データ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に関する質問。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キーワード検知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（図面、画像、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NECST 等）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対象システムの利用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設計部門への確認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将来の対応可否の確認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回答なし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（案内）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  <a:tr h="72916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90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7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250"/>
                        </a:lnSpc>
                      </a:pPr>
                      <a:r>
                        <a:rPr sz="9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低信頼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solidFill>
                      <a:srgbClr val="FFF4D6"/>
                    </a:solidFill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検索スコアが閾値未満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かつ一致条件が少なく、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回答の信頼性が低い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と判断される。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100"/>
                        </a:lnSpc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総合スコア &lt; 閾値</a:t>
                      </a:r>
                      <a:br/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一致条件が少ない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Meiryo"/>
                          <a:ea typeface="Meiryo"/>
                          <a:cs typeface="Meiryo"/>
                        </a:rPr>
                        <a:t/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72917" tIns="14583" rIns="29167" bIns="14583" anchor="ctr">
                      <a:noAutofit/>
                    </a:bodyPr>
                    <a:lstStyle/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より具体的なキーワード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部品番号／工程の指定</a:t>
                      </a:r>
                    </a:p>
                    <a:p>
                      <a:pPr algn="l" marL="102084" indent="-102084">
                        <a:lnSpc>
                          <a:spcPts val="1100"/>
                        </a:lnSpc>
                        <a:buFont typeface="Arial"/>
                        <a:buChar char="•"/>
                      </a:pPr>
                      <a:r>
                        <a:rPr sz="7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作業内容の詳細化</a:t>
                      </a:r>
                    </a:p>
                  </a:txBody>
                  <a:tcPr marL="7291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参考提示</a:t>
                      </a: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z="7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（保留）</a:t>
                      </a:r>
                    </a:p>
                  </a:txBody>
                  <a:tcPr marL="29167" marT="14583" marR="29167" marB="14583" anchor="ctr">
                    <a:lnB w="7292">
                      <a:solidFill>
                        <a:srgbClr val="D3DEEB"/>
                      </a:solidFill>
                    </a:lnB>
                    <a:lnT w="7292">
                      <a:solidFill>
                        <a:srgbClr val="D3DEEB"/>
                      </a:solidFill>
                    </a:lnT>
                    <a:lnR w="7292">
                      <a:solidFill>
                        <a:srgbClr val="D3DEEB"/>
                      </a:solidFill>
                    </a:lnR>
                    <a:lnL w="7292">
                      <a:solidFill>
                        <a:srgbClr val="D3DEEB"/>
                      </a:solidFill>
                    </a:lnL>
                    <a:noFill/>
                  </a:tcPr>
                </a:tc>
              </a:tr>
            </a:tbl>
          </a:graphicData>
        </a:graphic>
      </p:graphicFrame>
      <p:pic>
        <p:nvPicPr>
          <p:cNvPr id="6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1675" y="1531254"/>
            <a:ext cx="189584" cy="2041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45842" y="1443753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「部品番号 A12345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のTOSを確認したい」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844" y="1458337"/>
            <a:ext cx="729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（完全一致・フィルタ）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5425013" y="1633337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39596" y="1458337"/>
            <a:ext cx="554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0件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993764" y="1633337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08347" y="1458337"/>
            <a:ext cx="787502" cy="350001"/>
          </a:xfrm>
          <a:prstGeom prst="roundRect">
            <a:avLst>
              <a:gd name="adj" fmla="val 8333"/>
            </a:avLst>
          </a:prstGeom>
          <a:solidFill>
            <a:srgbClr val="FBDDE2"/>
          </a:solidFill>
          <a:ln w="8750">
            <a:solidFill>
              <a:srgbClr val="D97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該当なし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（類似で埋めない）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3349" y="1312503"/>
            <a:ext cx="2829173" cy="641668"/>
          </a:xfrm>
          <a:prstGeom prst="roundRect">
            <a:avLst>
              <a:gd name="adj" fmla="val 4545"/>
            </a:avLst>
          </a:prstGeom>
          <a:solidFill>
            <a:srgbClr val="FFF3F4"/>
          </a:solidFill>
          <a:ln w="8750">
            <a:solidFill>
              <a:srgbClr val="E58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 material:error-fill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7099" y="1341670"/>
            <a:ext cx="145834" cy="14583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02100" y="1327086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D42A3A"/>
                </a:solidFill>
                <a:latin typeface="Meiryo"/>
                <a:ea typeface="Meiryo"/>
                <a:cs typeface="Meiryo"/>
              </a:rPr>
              <a:t>該当レコードはありません。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2100" y="1487503"/>
            <a:ext cx="2566673" cy="371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・指定された部品番号：A12345</a:t>
            </a:r>
          </a:p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・対象：TOS</a:t>
            </a:r>
          </a:p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入力内容をご確認ください。</a:t>
            </a:r>
          </a:p>
        </p:txBody>
      </p:sp>
      <p:pic>
        <p:nvPicPr>
          <p:cNvPr id="17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41675" y="2347922"/>
            <a:ext cx="189584" cy="20416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3645842" y="2260422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「工程番号 100 の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TOSを確認したい」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95844" y="2275005"/>
            <a:ext cx="729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構造化検索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425013" y="2450006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39596" y="2275005"/>
            <a:ext cx="554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n件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（多数）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993764" y="2450006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08347" y="2275005"/>
            <a:ext cx="787502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候補一覧提示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＋追加条件の依頼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83349" y="2041671"/>
            <a:ext cx="2829173" cy="816669"/>
          </a:xfrm>
          <a:prstGeom prst="roundRect">
            <a:avLst>
              <a:gd name="adj" fmla="val 3571"/>
            </a:avLst>
          </a:prstGeom>
          <a:solidFill>
            <a:srgbClr val="F2F7FD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 material:info-fill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27099" y="2070838"/>
            <a:ext cx="145834" cy="1458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02100" y="2056255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1F4E9C"/>
                </a:solidFill>
                <a:latin typeface="Meiryo"/>
                <a:ea typeface="Meiryo"/>
                <a:cs typeface="Meiryo"/>
              </a:rPr>
              <a:t>複数の候補が見つかりました。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2100" y="2216672"/>
            <a:ext cx="2566673" cy="123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該当候補を絞り込むため、追加の条件を指定してください。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102100" y="2362505"/>
          <a:ext cx="2552089" cy="4666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834"/>
                <a:gridCol w="583335"/>
                <a:gridCol w="1166669"/>
                <a:gridCol w="481251"/>
              </a:tblGrid>
              <a:tr h="116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件数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116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120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16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リーマ加工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85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16667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3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100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面取り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62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41675" y="3230216"/>
            <a:ext cx="189584" cy="204167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45842" y="3142716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「この加工工程に近い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過去のTOSを探したい」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95844" y="3157299"/>
            <a:ext cx="729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6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全文＋ベクトル検索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（ハイブリッド）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5425013" y="3332299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39596" y="3157299"/>
            <a:ext cx="554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低スコア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／根拠欠落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5993764" y="3332299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008347" y="3157299"/>
            <a:ext cx="787502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保留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（部分情報を参考提示）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3349" y="2945840"/>
            <a:ext cx="2829173" cy="772918"/>
          </a:xfrm>
          <a:prstGeom prst="roundRect">
            <a:avLst>
              <a:gd name="adj" fmla="val 3773"/>
            </a:avLst>
          </a:prstGeom>
          <a:solidFill>
            <a:srgbClr val="FFF3F4"/>
          </a:solidFill>
          <a:ln w="8750">
            <a:solidFill>
              <a:srgbClr val="E58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 material:warning-fill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27099" y="2975007"/>
            <a:ext cx="145834" cy="14583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102100" y="2960424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D42A3A"/>
                </a:solidFill>
                <a:latin typeface="Meiryo"/>
                <a:ea typeface="Meiryo"/>
                <a:cs typeface="Meiryo"/>
              </a:rPr>
              <a:t>十分な根拠が得られないため、確定した回答はできません。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2100" y="3120841"/>
            <a:ext cx="2566673" cy="123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以下は参考となる候補です。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7102100" y="3266674"/>
          <a:ext cx="2552090" cy="371877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1667"/>
                <a:gridCol w="700002"/>
                <a:gridCol w="466668"/>
                <a:gridCol w="1093753"/>
              </a:tblGrid>
              <a:tr h="12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TOS番号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類似度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作業内容（要約）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12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TOS-12345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0.42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 …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2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TOS-67890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0.38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リーマ加工 …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1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41675" y="4097926"/>
            <a:ext cx="189584" cy="204167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3645842" y="4010426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「JP-123の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作業内容を教えて」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95844" y="3893759"/>
            <a:ext cx="568751" cy="277084"/>
          </a:xfrm>
          <a:prstGeom prst="roundRect">
            <a:avLst>
              <a:gd name="adj" fmla="val 10526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候補A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（Rev.2）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95844" y="4229176"/>
            <a:ext cx="568751" cy="277084"/>
          </a:xfrm>
          <a:prstGeom prst="roundRect">
            <a:avLst>
              <a:gd name="adj" fmla="val 10526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候補B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（Rev.3）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10429" y="4039593"/>
            <a:ext cx="597918" cy="320834"/>
          </a:xfrm>
          <a:prstGeom prst="roundRect">
            <a:avLst>
              <a:gd name="adj" fmla="val 9090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6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内容比較で</a:t>
            </a:r>
          </a:p>
          <a:p>
            <a:pPr algn="ctr">
              <a:lnSpc>
                <a:spcPts val="900"/>
              </a:lnSpc>
            </a:pPr>
            <a:r>
              <a:rPr sz="6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相違を検知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39598" y="4025009"/>
            <a:ext cx="656252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両方を提示</a:t>
            </a:r>
          </a:p>
          <a:p>
            <a:pPr algn="ctr">
              <a:lnSpc>
                <a:spcPts val="900"/>
              </a:lnSpc>
            </a:pPr>
            <a:r>
              <a:rPr sz="60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＋矛盾箇所の明示</a:t>
            </a:r>
          </a:p>
        </p:txBody>
      </p:sp>
      <p:sp>
        <p:nvSpPr>
          <p:cNvPr id="47" name="Freeform 46"/>
          <p:cNvSpPr/>
          <p:nvPr/>
        </p:nvSpPr>
        <p:spPr>
          <a:xfrm>
            <a:off x="5264596" y="4032301"/>
            <a:ext cx="72916" cy="335417"/>
          </a:xfrm>
          <a:custGeom>
            <a:avLst/>
            <a:gdLst/>
            <a:ahLst/>
            <a:cxnLst/>
            <a:rect l="l" t="t" r="r" b="b"/>
            <a:pathLst>
              <a:path w="72916" h="335417">
                <a:moveTo>
                  <a:pt x="0" y="0"/>
                </a:moveTo>
                <a:lnTo>
                  <a:pt x="72916" y="0"/>
                </a:lnTo>
                <a:lnTo>
                  <a:pt x="72916" y="335417"/>
                </a:lnTo>
                <a:lnTo>
                  <a:pt x="0" y="335417"/>
                </a:lnTo>
              </a:path>
            </a:pathLst>
          </a:custGeom>
          <a:noFill/>
          <a:ln w="10208">
            <a:solidFill>
              <a:srgbClr val="1F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5337512" y="4200010"/>
            <a:ext cx="72917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008347" y="4200010"/>
            <a:ext cx="131251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6883349" y="3806259"/>
            <a:ext cx="2829173" cy="787502"/>
          </a:xfrm>
          <a:prstGeom prst="roundRect">
            <a:avLst>
              <a:gd name="adj" fmla="val 3703"/>
            </a:avLst>
          </a:prstGeom>
          <a:solidFill>
            <a:srgbClr val="FFF3F4"/>
          </a:solidFill>
          <a:ln w="8750">
            <a:solidFill>
              <a:srgbClr val="E58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icon material:warning-fill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27099" y="3835426"/>
            <a:ext cx="145834" cy="1458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102100" y="3820842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D42A3A"/>
                </a:solidFill>
                <a:latin typeface="Meiryo"/>
                <a:ea typeface="Meiryo"/>
                <a:cs typeface="Meiryo"/>
              </a:rPr>
              <a:t>複数の候補で内容に相違があります。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2100" y="3981259"/>
            <a:ext cx="2566673" cy="123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ご確認のうえ、適切な版を選択してください。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7102100" y="4127093"/>
          <a:ext cx="2552090" cy="4375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56252"/>
                <a:gridCol w="947919"/>
                <a:gridCol w="947919"/>
              </a:tblGrid>
              <a:tr h="1093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項目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Rev.2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Rev.3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1093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リーマ加工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093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A機種のみ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A/B機種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109375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更新日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2023/01/10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2024/05/20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5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41675" y="4900011"/>
            <a:ext cx="189584" cy="204167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3645842" y="4812511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「JP-456の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最新版を教えて」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95844" y="4827095"/>
            <a:ext cx="729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検索結果取得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5425013" y="5002095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39596" y="4827095"/>
            <a:ext cx="554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版・適用情報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なし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5993764" y="5002095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6008347" y="4827095"/>
            <a:ext cx="787502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適用未確認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（最新版と断定しない）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883349" y="4681261"/>
            <a:ext cx="2829173" cy="641668"/>
          </a:xfrm>
          <a:prstGeom prst="roundRect">
            <a:avLst>
              <a:gd name="adj" fmla="val 4545"/>
            </a:avLst>
          </a:prstGeom>
          <a:solidFill>
            <a:srgbClr val="F2F7FD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icon material:info-fill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27099" y="4710428"/>
            <a:ext cx="145834" cy="14583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7102100" y="4695844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1F4E9C"/>
                </a:solidFill>
                <a:latin typeface="Meiryo"/>
                <a:ea typeface="Meiryo"/>
                <a:cs typeface="Meiryo"/>
              </a:rPr>
              <a:t>版・適用情報が不明です。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02100" y="4856261"/>
            <a:ext cx="2566673" cy="123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以下の候補は適用情報が登録されていません。</a:t>
            </a:r>
          </a:p>
        </p:txBody>
      </p:sp>
      <p:graphicFrame>
        <p:nvGraphicFramePr>
          <p:cNvPr id="66" name="Table 65"/>
          <p:cNvGraphicFramePr>
            <a:graphicFrameLocks noGrp="1"/>
          </p:cNvGraphicFramePr>
          <p:nvPr/>
        </p:nvGraphicFramePr>
        <p:xfrm>
          <a:off x="7102100" y="5002095"/>
          <a:ext cx="2552089" cy="24791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91667"/>
                <a:gridCol w="583335"/>
                <a:gridCol w="802085"/>
                <a:gridCol w="364584"/>
                <a:gridCol w="510418"/>
              </a:tblGrid>
              <a:tr h="12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No.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適用範囲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E6EEF8"/>
                    </a:solidFill>
                  </a:tcPr>
                </a:tc>
              </a:tr>
              <a:tr h="12395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1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JP-456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溶接作業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－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6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－</a:t>
                      </a:r>
                    </a:p>
                  </a:txBody>
                  <a:tcPr marL="21875" marT="14583" marR="21875" marB="14583" anchor="ctr">
                    <a:lnB w="5833">
                      <a:solidFill>
                        <a:srgbClr val="C9D6E6"/>
                      </a:solidFill>
                    </a:lnB>
                    <a:lnT w="5833">
                      <a:solidFill>
                        <a:srgbClr val="C9D6E6"/>
                      </a:solidFill>
                    </a:lnT>
                    <a:lnR w="5833">
                      <a:solidFill>
                        <a:srgbClr val="C9D6E6"/>
                      </a:solidFill>
                    </a:lnR>
                    <a:lnL w="5833">
                      <a:solidFill>
                        <a:srgbClr val="C9D6E6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7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441675" y="5614596"/>
            <a:ext cx="189584" cy="204167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3645842" y="5527096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「この図面と類似形状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のWPSを探したい」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95844" y="5541680"/>
            <a:ext cx="875002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対象外判定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585430" y="5716680"/>
            <a:ext cx="175000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5775013" y="5541680"/>
            <a:ext cx="1020836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PoC対象外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（案内メッセージ）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883349" y="5410429"/>
            <a:ext cx="2829173" cy="612501"/>
          </a:xfrm>
          <a:prstGeom prst="roundRect">
            <a:avLst>
              <a:gd name="adj" fmla="val 4761"/>
            </a:avLst>
          </a:prstGeom>
          <a:solidFill>
            <a:srgbClr val="F2F7FD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icon material:info-fill" descr="image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927099" y="5439596"/>
            <a:ext cx="145834" cy="14583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102100" y="5425013"/>
            <a:ext cx="2566673" cy="16041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1F4E9C"/>
                </a:solidFill>
                <a:latin typeface="Meiryo"/>
                <a:ea typeface="Meiryo"/>
                <a:cs typeface="Meiryo"/>
              </a:rPr>
              <a:t>ご質問の内容は、本PoCの対象外です。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02100" y="5585430"/>
            <a:ext cx="2566673" cy="37187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・対象外：図面画像の類似形状検索</a:t>
            </a:r>
          </a:p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・確認先：設計部門／関連システム</a:t>
            </a:r>
          </a:p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※ 将来的な拡張で対応を検討します。</a:t>
            </a:r>
          </a:p>
        </p:txBody>
      </p:sp>
      <p:pic>
        <p:nvPicPr>
          <p:cNvPr id="76" name="icon material:person-fil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441675" y="6329181"/>
            <a:ext cx="189584" cy="204167"/>
          </a:xfrm>
          <a:prstGeom prst="rect">
            <a:avLst/>
          </a:prstGeom>
        </p:spPr>
      </p:pic>
      <p:sp>
        <p:nvSpPr>
          <p:cNvPr id="77" name="Rounded Rectangle 76"/>
          <p:cNvSpPr/>
          <p:nvPr/>
        </p:nvSpPr>
        <p:spPr>
          <a:xfrm>
            <a:off x="3645842" y="6241681"/>
            <a:ext cx="962502" cy="379168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8750">
            <a:solidFill>
              <a:srgbClr val="8FB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「Aと似た工程の</a:t>
            </a:r>
            <a:br/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TOSを探して」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695844" y="6256265"/>
            <a:ext cx="729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検索結果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5425013" y="6431265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5439596" y="6256265"/>
            <a:ext cx="554168" cy="350001"/>
          </a:xfrm>
          <a:prstGeom prst="roundRect">
            <a:avLst>
              <a:gd name="adj" fmla="val 8333"/>
            </a:avLst>
          </a:prstGeom>
          <a:solidFill>
            <a:srgbClr val="E4F0FC"/>
          </a:solidFill>
          <a:ln w="8750">
            <a:solidFill>
              <a:srgbClr val="6E9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7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低信頼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（スコア &lt; 閾値）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5993764" y="6431265"/>
            <a:ext cx="14583" cy="0"/>
          </a:xfrm>
          <a:prstGeom prst="line">
            <a:avLst/>
          </a:prstGeom>
          <a:ln w="10208">
            <a:solidFill>
              <a:srgbClr val="1F3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6008347" y="6256265"/>
            <a:ext cx="787502" cy="350001"/>
          </a:xfrm>
          <a:prstGeom prst="roundRect">
            <a:avLst>
              <a:gd name="adj" fmla="val 8333"/>
            </a:avLst>
          </a:prstGeom>
          <a:solidFill>
            <a:srgbClr val="FFF1CC"/>
          </a:solidFill>
          <a:ln w="8750">
            <a:solidFill>
              <a:srgbClr val="E2B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21875" tIns="7292" rIns="21875" bIns="7292">
            <a:noAutofit/>
          </a:bodyPr>
          <a:lstStyle/>
          <a:p>
            <a:pPr algn="ctr">
              <a:lnSpc>
                <a:spcPts val="900"/>
              </a:lnSpc>
            </a:pPr>
            <a:r>
              <a:rPr sz="6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低信頼のため保留</a:t>
            </a:r>
          </a:p>
          <a:p>
            <a:pPr algn="ctr">
              <a:lnSpc>
                <a:spcPts val="900"/>
              </a:lnSpc>
            </a:pPr>
            <a:r>
              <a:rPr sz="550" b="0" i="0">
                <a:solidFill>
                  <a:srgbClr val="33466A"/>
                </a:solidFill>
                <a:latin typeface="Meiryo"/>
                <a:ea typeface="Meiryo"/>
                <a:cs typeface="Meiryo"/>
              </a:rPr>
              <a:t>（追加条件の提示）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883349" y="6110431"/>
            <a:ext cx="2829173" cy="641668"/>
          </a:xfrm>
          <a:prstGeom prst="roundRect">
            <a:avLst>
              <a:gd name="adj" fmla="val 4545"/>
            </a:avLst>
          </a:prstGeom>
          <a:solidFill>
            <a:srgbClr val="FFF3F4"/>
          </a:solidFill>
          <a:ln w="8750">
            <a:solidFill>
              <a:srgbClr val="E58A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icon material:warning-fill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27099" y="6139598"/>
            <a:ext cx="145834" cy="145834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102100" y="6125014"/>
            <a:ext cx="2566673" cy="29166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50"/>
              </a:lnSpc>
            </a:pPr>
            <a:r>
              <a:rPr sz="700" b="1" i="0">
                <a:solidFill>
                  <a:srgbClr val="D42A3A"/>
                </a:solidFill>
                <a:latin typeface="Meiryo"/>
                <a:ea typeface="Meiryo"/>
                <a:cs typeface="Meiryo"/>
              </a:rPr>
              <a:t>回答の信頼性が低いため、確定した回答はできません。</a:t>
            </a:r>
            <a:br/>
            <a:r>
              <a:rPr sz="700" b="1" i="0">
                <a:solidFill>
                  <a:srgbClr val="D42A3A"/>
                </a:solidFill>
                <a:latin typeface="Meiryo"/>
                <a:ea typeface="Meiryo"/>
                <a:cs typeface="Meiryo"/>
              </a:rPr>
              <a:t>追加の条件を指定してください。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02100" y="6416682"/>
            <a:ext cx="2566673" cy="12395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00"/>
              </a:lnSpc>
            </a:pPr>
            <a:r>
              <a:rPr sz="6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（参考）類似候補：2件（スコア：0.31, 0.28）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
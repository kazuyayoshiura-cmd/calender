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  ユースケースごとの検索・回答までの処理フロー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" y="802085"/>
            <a:ext cx="11841694" cy="5833347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5000" y="481251"/>
            <a:ext cx="11841694" cy="32083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1667" y="481251"/>
            <a:ext cx="11666694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4.1  共通処理フロー（図4-1）</a:t>
            </a:r>
            <a:r>
              <a:rPr sz="11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　　質問解釈 → ルーティング → 検索 → 版・適用確認 → 根拠組立 → 表示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917" y="875002"/>
            <a:ext cx="2566673" cy="247917"/>
          </a:xfrm>
          <a:prstGeom prst="rect">
            <a:avLst/>
          </a:prstGeom>
          <a:solidFill>
            <a:srgbClr val="CFE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Dify（UI / ワークフロー）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8340" y="875002"/>
            <a:ext cx="7510434" cy="247917"/>
          </a:xfrm>
          <a:prstGeom prst="rect">
            <a:avLst/>
          </a:prstGeom>
          <a:solidFill>
            <a:srgbClr val="B5D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検索API / アプリケーション（業務ロジック）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12524" y="875002"/>
            <a:ext cx="1531254" cy="247917"/>
          </a:xfrm>
          <a:prstGeom prst="rect">
            <a:avLst/>
          </a:prstGeom>
          <a:solidFill>
            <a:srgbClr val="CFE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データストア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6465" y="1166669"/>
            <a:ext cx="0" cy="5366680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390649" y="1166669"/>
            <a:ext cx="0" cy="5366680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084" y="1487503"/>
            <a:ext cx="320834" cy="32083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1668" y="1400003"/>
            <a:ext cx="1093753" cy="495834"/>
          </a:xfrm>
          <a:prstGeom prst="roundRect">
            <a:avLst>
              <a:gd name="adj" fmla="val 8823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質問入力</a:t>
            </a:r>
          </a:p>
          <a:p>
            <a:pPr algn="ctr">
              <a:lnSpc>
                <a:spcPts val="120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（自然言語）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6671" y="1312503"/>
            <a:ext cx="933336" cy="670835"/>
          </a:xfrm>
          <a:prstGeom prst="roundRect">
            <a:avLst>
              <a:gd name="adj" fmla="val 6521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検索API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/interpret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（構造化抽出依頼）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0424" y="1166669"/>
            <a:ext cx="1181253" cy="962502"/>
          </a:xfrm>
          <a:prstGeom prst="roundRect">
            <a:avLst>
              <a:gd name="adj" fmla="val 4545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LLMでJSON抽出</a:t>
            </a:r>
          </a:p>
          <a:p>
            <a:pPr algn="ctr">
              <a:lnSpc>
                <a:spcPts val="110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（所定スキーマ）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target_system, intent,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part_no, process_no,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doc_no, rev, keywords,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free_text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2093" y="1210419"/>
            <a:ext cx="1356253" cy="875002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キーの実在チェック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・用語辞書で正規化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（L/C → ロードセンター等）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・同名異義語の文脈判定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・マスタ存在確認</a:t>
            </a:r>
          </a:p>
        </p:txBody>
      </p:sp>
      <p:sp>
        <p:nvSpPr>
          <p:cNvPr id="16" name="Diamond 15"/>
          <p:cNvSpPr/>
          <p:nvPr/>
        </p:nvSpPr>
        <p:spPr>
          <a:xfrm>
            <a:off x="5833347" y="1297920"/>
            <a:ext cx="875002" cy="700002"/>
          </a:xfrm>
          <a:prstGeom prst="diamond">
            <a:avLst/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10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キーは</a:t>
            </a:r>
          </a:p>
          <a:p>
            <a:pPr algn="ctr">
              <a:lnSpc>
                <a:spcPts val="110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マスタに実在？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0852" y="1400003"/>
            <a:ext cx="1093753" cy="495834"/>
          </a:xfrm>
          <a:prstGeom prst="roundRect">
            <a:avLst>
              <a:gd name="adj" fmla="val 8823"/>
            </a:avLst>
          </a:prstGeom>
          <a:solidFill>
            <a:srgbClr val="FBDDE2"/>
          </a:solidFill>
          <a:ln w="10938">
            <a:solidFill>
              <a:srgbClr val="D97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該当なし</a:t>
            </a:r>
          </a:p>
          <a:p>
            <a:pPr algn="ctr">
              <a:lnSpc>
                <a:spcPts val="120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（類似で埋めない）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5421" y="1647920"/>
            <a:ext cx="131250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0007" y="1647920"/>
            <a:ext cx="160417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41676" y="1647920"/>
            <a:ext cx="160417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58346" y="1647920"/>
            <a:ext cx="175001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08349" y="1647920"/>
            <a:ext cx="1312503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4183" y="1443753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存在しない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337" y="2318755"/>
            <a:ext cx="1254170" cy="46666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938">
            <a:solidFill>
              <a:srgbClr val="3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追加確認の質問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（意図不明・同名異義語等）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11464" y="1983338"/>
            <a:ext cx="0" cy="335417"/>
          </a:xfrm>
          <a:prstGeom prst="line">
            <a:avLst/>
          </a:prstGeom>
          <a:ln w="11667">
            <a:solidFill>
              <a:srgbClr val="1F3A6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1188544" y="1895838"/>
            <a:ext cx="269793" cy="656251"/>
          </a:xfrm>
          <a:custGeom>
            <a:avLst/>
            <a:gdLst/>
            <a:ahLst/>
            <a:cxnLst/>
            <a:rect l="l" t="t" r="r" b="b"/>
            <a:pathLst>
              <a:path w="269793" h="656251">
                <a:moveTo>
                  <a:pt x="269793" y="656251"/>
                </a:moveTo>
                <a:lnTo>
                  <a:pt x="0" y="656251"/>
                </a:lnTo>
                <a:lnTo>
                  <a:pt x="0" y="0"/>
                </a:lnTo>
              </a:path>
            </a:pathLst>
          </a:custGeom>
          <a:noFill/>
          <a:ln w="11667">
            <a:solidFill>
              <a:srgbClr val="1F3A6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60424" y="2187505"/>
            <a:ext cx="2625006" cy="80208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750">
            <a:solidFill>
              <a:srgbClr val="9DB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7924" y="2216672"/>
            <a:ext cx="247917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ルーティング規則（優先順）</a:t>
            </a:r>
          </a:p>
        </p:txBody>
      </p:sp>
      <p:sp>
        <p:nvSpPr>
          <p:cNvPr id="29" name="Oval 28"/>
          <p:cNvSpPr/>
          <p:nvPr/>
        </p:nvSpPr>
        <p:spPr>
          <a:xfrm>
            <a:off x="3062507" y="2420839"/>
            <a:ext cx="109375" cy="109375"/>
          </a:xfrm>
          <a:prstGeom prst="ellipse">
            <a:avLst/>
          </a:prstGeom>
          <a:solidFill>
            <a:srgbClr val="7FA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8341" y="2406256"/>
            <a:ext cx="2347922" cy="1385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確定キーのみ → 構造化検索</a:t>
            </a:r>
          </a:p>
        </p:txBody>
      </p:sp>
      <p:sp>
        <p:nvSpPr>
          <p:cNvPr id="31" name="Oval 30"/>
          <p:cNvSpPr/>
          <p:nvPr/>
        </p:nvSpPr>
        <p:spPr>
          <a:xfrm>
            <a:off x="3062507" y="2563027"/>
            <a:ext cx="109375" cy="109375"/>
          </a:xfrm>
          <a:prstGeom prst="ellipse">
            <a:avLst/>
          </a:prstGeom>
          <a:solidFill>
            <a:srgbClr val="7FA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8341" y="2548443"/>
            <a:ext cx="2347922" cy="1385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確定キー＋自然言語 → 構造化で絞ってから全文＋ベクトル</a:t>
            </a:r>
          </a:p>
        </p:txBody>
      </p:sp>
      <p:sp>
        <p:nvSpPr>
          <p:cNvPr id="33" name="Oval 32"/>
          <p:cNvSpPr/>
          <p:nvPr/>
        </p:nvSpPr>
        <p:spPr>
          <a:xfrm>
            <a:off x="3062507" y="2705215"/>
            <a:ext cx="109375" cy="109375"/>
          </a:xfrm>
          <a:prstGeom prst="ellipse">
            <a:avLst/>
          </a:prstGeom>
          <a:solidFill>
            <a:srgbClr val="7FA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8341" y="2690631"/>
            <a:ext cx="2347922" cy="1385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自然言語のみ → 全文＋ベクトルのハイブリッド</a:t>
            </a:r>
          </a:p>
        </p:txBody>
      </p:sp>
      <p:sp>
        <p:nvSpPr>
          <p:cNvPr id="35" name="Oval 34"/>
          <p:cNvSpPr/>
          <p:nvPr/>
        </p:nvSpPr>
        <p:spPr>
          <a:xfrm>
            <a:off x="3062507" y="2847402"/>
            <a:ext cx="109375" cy="109375"/>
          </a:xfrm>
          <a:prstGeom prst="ellipse">
            <a:avLst/>
          </a:prstGeom>
          <a:solidFill>
            <a:srgbClr val="7FA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8341" y="2832819"/>
            <a:ext cx="2347922" cy="1385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意図不明 → 追加確認の質問（Dify）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430" y="2318755"/>
            <a:ext cx="1020836" cy="495834"/>
          </a:xfrm>
          <a:prstGeom prst="roundRect">
            <a:avLst>
              <a:gd name="adj" fmla="val 8823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5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ルーティング判定</a:t>
            </a:r>
          </a:p>
          <a:p>
            <a:pPr algn="ctr">
              <a:lnSpc>
                <a:spcPts val="11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（優先順の4規則）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70848" y="1997921"/>
            <a:ext cx="0" cy="320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329181" y="2070838"/>
            <a:ext cx="947919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 / キーなし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585430" y="2566673"/>
            <a:ext cx="175000" cy="0"/>
          </a:xfrm>
          <a:prstGeom prst="line">
            <a:avLst/>
          </a:prstGeom>
          <a:ln w="10938">
            <a:solidFill>
              <a:srgbClr val="1F3A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485441" y="1210419"/>
            <a:ext cx="1385420" cy="156042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8750">
            <a:solidFill>
              <a:srgbClr val="7FA3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 material:databas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3775" y="1327086"/>
            <a:ext cx="306251" cy="30625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93775" y="1297920"/>
            <a:ext cx="97708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N-PLUS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（TOS / 他テーブル）</a:t>
            </a:r>
          </a:p>
        </p:txBody>
      </p:sp>
      <p:pic>
        <p:nvPicPr>
          <p:cNvPr id="44" name="icon material:description-fill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3775" y="1808338"/>
            <a:ext cx="306251" cy="30625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93775" y="1779171"/>
            <a:ext cx="97708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ファイルサーバー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（JP / 作業標準 等）</a:t>
            </a:r>
          </a:p>
        </p:txBody>
      </p:sp>
      <p:pic>
        <p:nvPicPr>
          <p:cNvPr id="46" name="icon lucide:databas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43775" y="2289589"/>
            <a:ext cx="306251" cy="30625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893775" y="2260422"/>
            <a:ext cx="97708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マスタ・辞書</a:t>
            </a:r>
          </a:p>
          <a:p>
            <a:pPr algn="l">
              <a:lnSpc>
                <a:spcPts val="12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（部品 / 工程 / 用語）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81266" y="2566673"/>
            <a:ext cx="3704175" cy="0"/>
          </a:xfrm>
          <a:prstGeom prst="line">
            <a:avLst/>
          </a:prstGeom>
          <a:ln w="10938">
            <a:solidFill>
              <a:srgbClr val="7FA3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270848" y="2814590"/>
            <a:ext cx="0" cy="204167"/>
          </a:xfrm>
          <a:prstGeom prst="line">
            <a:avLst/>
          </a:prstGeom>
          <a:ln w="16042">
            <a:solidFill>
              <a:srgbClr val="1F3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09383" y="3018757"/>
            <a:ext cx="2282297" cy="0"/>
          </a:xfrm>
          <a:prstGeom prst="line">
            <a:avLst/>
          </a:prstGeom>
          <a:ln w="16042">
            <a:solidFill>
              <a:srgbClr val="1F3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09383" y="3018757"/>
            <a:ext cx="0" cy="18958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68761" y="3018757"/>
            <a:ext cx="0" cy="18958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891680" y="3018757"/>
            <a:ext cx="0" cy="18958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062507" y="3208341"/>
            <a:ext cx="1093753" cy="802085"/>
          </a:xfrm>
          <a:prstGeom prst="roundRect">
            <a:avLst>
              <a:gd name="adj" fmla="val 5454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（完全一致・フィルタ）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SELECT … WHERE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部品番号=? AND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工程番号=?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8343" y="3208341"/>
            <a:ext cx="1020836" cy="802085"/>
          </a:xfrm>
          <a:prstGeom prst="roundRect">
            <a:avLst>
              <a:gd name="adj" fmla="val 5454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5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全文検索</a:t>
            </a:r>
          </a:p>
          <a:p>
            <a:pPr algn="ctr">
              <a:lnSpc>
                <a:spcPts val="12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（BM25・kuromoji）</a:t>
            </a:r>
          </a:p>
          <a:p>
            <a:pPr algn="ctr">
              <a:lnSpc>
                <a:spcPts val="12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辞書展開語を 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81263" y="3208341"/>
            <a:ext cx="1020836" cy="802085"/>
          </a:xfrm>
          <a:prstGeom prst="roundRect">
            <a:avLst>
              <a:gd name="adj" fmla="val 5454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5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ベクトル検索</a:t>
            </a:r>
          </a:p>
          <a:p>
            <a:pPr algn="ctr">
              <a:lnSpc>
                <a:spcPts val="12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（Embedding近傍）</a:t>
            </a:r>
          </a:p>
          <a:p>
            <a:pPr algn="ctr">
              <a:lnSpc>
                <a:spcPts val="12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文脈化テキスト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609383" y="4010426"/>
            <a:ext cx="0" cy="30625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68761" y="4010426"/>
            <a:ext cx="0" cy="30625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91680" y="4010426"/>
            <a:ext cx="0" cy="30625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062507" y="4316677"/>
            <a:ext cx="3339591" cy="568751"/>
          </a:xfrm>
          <a:prstGeom prst="roundRect">
            <a:avLst>
              <a:gd name="adj" fmla="val 7692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5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RRF統合 ＋必須条件フィルタ</a:t>
            </a:r>
          </a:p>
          <a:p>
            <a:pPr algn="ctr">
              <a:lnSpc>
                <a:spcPts val="11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（リランク：任意）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35432" y="3427091"/>
            <a:ext cx="1166669" cy="583335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ts val="120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（第6章のルール）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08349" y="2814590"/>
            <a:ext cx="0" cy="61250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6402098" y="4010426"/>
            <a:ext cx="816669" cy="590626"/>
          </a:xfrm>
          <a:custGeom>
            <a:avLst/>
            <a:gdLst/>
            <a:ahLst/>
            <a:cxnLst/>
            <a:rect l="l" t="t" r="r" b="b"/>
            <a:pathLst>
              <a:path w="816669" h="590626">
                <a:moveTo>
                  <a:pt x="0" y="590626"/>
                </a:moveTo>
                <a:lnTo>
                  <a:pt x="816669" y="590626"/>
                </a:lnTo>
                <a:lnTo>
                  <a:pt x="816669" y="0"/>
                </a:lnTo>
              </a:path>
            </a:pathLst>
          </a:custGeom>
          <a:noFill/>
          <a:ln w="16042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20852" y="3427091"/>
            <a:ext cx="1093753" cy="583335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根拠アセンブリ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（source_ref付与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原本リンク生成）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802101" y="3718759"/>
            <a:ext cx="218751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567728" y="1895838"/>
            <a:ext cx="0" cy="153125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9304188" y="3397925"/>
            <a:ext cx="787502" cy="641668"/>
          </a:xfrm>
          <a:prstGeom prst="diamond">
            <a:avLst/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10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保留条件？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114605" y="3718759"/>
            <a:ext cx="189583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0572941" y="3470841"/>
            <a:ext cx="1254170" cy="510418"/>
          </a:xfrm>
          <a:prstGeom prst="roundRect">
            <a:avLst>
              <a:gd name="adj" fmla="val 8571"/>
            </a:avLst>
          </a:prstGeom>
          <a:solidFill>
            <a:srgbClr val="FBDDE2"/>
          </a:solidFill>
          <a:ln w="10938">
            <a:solidFill>
              <a:srgbClr val="D97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5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保留</a:t>
            </a:r>
          </a:p>
          <a:p>
            <a:pPr algn="ctr">
              <a:lnSpc>
                <a:spcPts val="10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（未確認事項＋</a:t>
            </a:r>
          </a:p>
          <a:p>
            <a:pPr algn="ctr">
              <a:lnSpc>
                <a:spcPts val="10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次に確認すること）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091690" y="3718759"/>
            <a:ext cx="481251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697939" y="3252091"/>
            <a:ext cx="1750004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根拠不足／矛盾／版不明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697939" y="4039593"/>
            <a:ext cx="0" cy="26250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756273" y="4068759"/>
            <a:ext cx="656252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問題なし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14605" y="4302093"/>
            <a:ext cx="1166669" cy="320834"/>
          </a:xfrm>
          <a:prstGeom prst="roundRect">
            <a:avLst>
              <a:gd name="adj" fmla="val 13636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出力種別の判定</a:t>
            </a:r>
          </a:p>
        </p:txBody>
      </p:sp>
      <p:sp>
        <p:nvSpPr>
          <p:cNvPr id="75" name="Freeform 74"/>
          <p:cNvSpPr/>
          <p:nvPr/>
        </p:nvSpPr>
        <p:spPr>
          <a:xfrm>
            <a:off x="7692726" y="4462510"/>
            <a:ext cx="1421879" cy="495835"/>
          </a:xfrm>
          <a:custGeom>
            <a:avLst/>
            <a:gdLst/>
            <a:ahLst/>
            <a:cxnLst/>
            <a:rect l="l" t="t" r="r" b="b"/>
            <a:pathLst>
              <a:path w="1421879" h="495835">
                <a:moveTo>
                  <a:pt x="1421879" y="0"/>
                </a:moveTo>
                <a:lnTo>
                  <a:pt x="0" y="0"/>
                </a:lnTo>
                <a:lnTo>
                  <a:pt x="0" y="495835"/>
                </a:lnTo>
              </a:path>
            </a:pathLst>
          </a:custGeom>
          <a:noFill/>
          <a:ln w="16042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43768" y="4272927"/>
            <a:ext cx="1356253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構造化結果（データそのまま）</a:t>
            </a:r>
          </a:p>
        </p:txBody>
      </p:sp>
      <p:sp>
        <p:nvSpPr>
          <p:cNvPr id="77" name="Freeform 76"/>
          <p:cNvSpPr/>
          <p:nvPr/>
        </p:nvSpPr>
        <p:spPr>
          <a:xfrm>
            <a:off x="10281274" y="4462510"/>
            <a:ext cx="911460" cy="495835"/>
          </a:xfrm>
          <a:custGeom>
            <a:avLst/>
            <a:gdLst/>
            <a:ahLst/>
            <a:cxnLst/>
            <a:rect l="l" t="t" r="r" b="b"/>
            <a:pathLst>
              <a:path w="911460" h="495835">
                <a:moveTo>
                  <a:pt x="0" y="0"/>
                </a:moveTo>
                <a:lnTo>
                  <a:pt x="911460" y="0"/>
                </a:lnTo>
                <a:lnTo>
                  <a:pt x="911460" y="495835"/>
                </a:lnTo>
              </a:path>
            </a:pathLst>
          </a:custGeom>
          <a:noFill/>
          <a:ln w="16042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39607" y="4272927"/>
            <a:ext cx="802085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説明／比較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81266" y="4958345"/>
            <a:ext cx="1822921" cy="466668"/>
          </a:xfrm>
          <a:prstGeom prst="roundRect">
            <a:avLst>
              <a:gd name="adj" fmla="val 9375"/>
            </a:avLst>
          </a:prstGeom>
          <a:solidFill>
            <a:srgbClr val="E3F2DC"/>
          </a:solidFill>
          <a:ln w="10938">
            <a:solidFill>
              <a:srgbClr val="8C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取得データを直接表示</a:t>
            </a:r>
          </a:p>
          <a:p>
            <a:pPr algn="ctr">
              <a:lnSpc>
                <a:spcPts val="120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（テーブル・一覧）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500024" y="4958345"/>
            <a:ext cx="1341670" cy="466668"/>
          </a:xfrm>
          <a:prstGeom prst="roundRect">
            <a:avLst>
              <a:gd name="adj" fmla="val 9375"/>
            </a:avLst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2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LLMに根拠を渡して生成</a:t>
            </a:r>
          </a:p>
          <a:p>
            <a:pPr algn="ctr">
              <a:lnSpc>
                <a:spcPts val="120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（参照ID必須）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62507" y="5760430"/>
            <a:ext cx="8604187" cy="554168"/>
          </a:xfrm>
          <a:prstGeom prst="roundRect">
            <a:avLst>
              <a:gd name="adj" fmla="val 7894"/>
            </a:avLst>
          </a:prstGeom>
          <a:solidFill>
            <a:srgbClr val="D8E9FA"/>
          </a:solidFill>
          <a:ln w="10938">
            <a:solidFill>
              <a:srgbClr val="7FA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4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候補一覧／根拠／版・適用ラベル／原本リンク の表示</a:t>
            </a:r>
          </a:p>
          <a:p>
            <a:pPr algn="ctr">
              <a:lnSpc>
                <a:spcPts val="14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＋ ログ記録（F-07）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692726" y="5425013"/>
            <a:ext cx="0" cy="335417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192734" y="5425013"/>
            <a:ext cx="0" cy="335417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697939" y="4622927"/>
            <a:ext cx="0" cy="113750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11666694" y="3726050"/>
            <a:ext cx="262500" cy="2311464"/>
          </a:xfrm>
          <a:custGeom>
            <a:avLst/>
            <a:gdLst/>
            <a:ahLst/>
            <a:cxnLst/>
            <a:rect l="l" t="t" r="r" b="b"/>
            <a:pathLst>
              <a:path w="262500" h="2311464">
                <a:moveTo>
                  <a:pt x="160417" y="0"/>
                </a:moveTo>
                <a:lnTo>
                  <a:pt x="262500" y="0"/>
                </a:lnTo>
                <a:lnTo>
                  <a:pt x="262500" y="2311464"/>
                </a:lnTo>
                <a:lnTo>
                  <a:pt x="0" y="2311464"/>
                </a:lnTo>
              </a:path>
            </a:pathLst>
          </a:custGeom>
          <a:noFill/>
          <a:ln w="16042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
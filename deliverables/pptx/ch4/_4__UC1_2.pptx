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con_svg4.svg"/><Relationship Id="rId9" Type="http://schemas.openxmlformats.org/officeDocument/2006/relationships/image" Target="../media/icon_svg5.svg"/><Relationship Id="rId10" Type="http://schemas.openxmlformats.org/officeDocument/2006/relationships/image" Target="../media/icon_svg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con_svg7.svg"/><Relationship Id="rId4" Type="http://schemas.openxmlformats.org/officeDocument/2006/relationships/image" Target="../media/icon_svg8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4.2  UC1：共有ファイル／JP等検索の処理フロー（図4-2）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" y="495834"/>
            <a:ext cx="11841694" cy="452084"/>
          </a:xfrm>
          <a:prstGeom prst="roundRect">
            <a:avLst>
              <a:gd name="adj" fmla="val 6451"/>
            </a:avLst>
          </a:prstGeom>
          <a:solidFill>
            <a:srgbClr val="F2F8FE"/>
          </a:solidFill>
          <a:ln w="8750">
            <a:solidFill>
              <a:srgbClr val="9CC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" y="510418"/>
            <a:ext cx="11841694" cy="4229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0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UC1では、社内のファイルサーバーに格納された作業標準（JP）等のドキュメントを対象に、</a:t>
            </a:r>
          </a:p>
          <a:p>
            <a:pPr algn="ctr">
              <a:lnSpc>
                <a:spcPts val="1500"/>
              </a:lnSpc>
            </a:pPr>
            <a:r>
              <a:rPr sz="10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「文書番号で指定して探す」または「作業内容から関連する標準を探す」の2パターンの検索フローを実現する。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" y="1006252"/>
            <a:ext cx="5877097" cy="5760430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5000" y="1006252"/>
            <a:ext cx="5877097" cy="32083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7084" y="1006252"/>
            <a:ext cx="3864592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パターン1：文書番号指定で検索（正確検索）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0843" y="1057294"/>
            <a:ext cx="1822921" cy="21875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例：「作業標準JP-123の最新版を教えて」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667" y="1356253"/>
            <a:ext cx="5687513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文書番号（JP番号等）が明示されている場合は、構造化検索により該当文書を特定し、</a:t>
            </a:r>
          </a:p>
          <a:p>
            <a:pPr algn="l">
              <a:lnSpc>
                <a:spcPts val="14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最新版・適用範囲を確認して提示する。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917" y="1750004"/>
            <a:ext cx="1035419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ユーザー</a:t>
            </a:r>
          </a:p>
          <a:p>
            <a:pPr algn="ctr">
              <a:lnSpc>
                <a:spcPts val="10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（Dify）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2503" y="1750004"/>
            <a:ext cx="2347922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検索API / アプリケーション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9592" y="1750004"/>
            <a:ext cx="1181253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データストア</a:t>
            </a:r>
          </a:p>
          <a:p>
            <a:pPr algn="ctr">
              <a:lnSpc>
                <a:spcPts val="10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（ファイルサーバー）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00011" y="1750004"/>
            <a:ext cx="1050002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</a:t>
            </a:r>
          </a:p>
          <a:p>
            <a:pPr algn="ctr">
              <a:lnSpc>
                <a:spcPts val="10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（説明生成：任意）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97920" y="2085422"/>
            <a:ext cx="0" cy="4652094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75009" y="2085422"/>
            <a:ext cx="0" cy="4652094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85428" y="2085422"/>
            <a:ext cx="0" cy="4652094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52" y="2114588"/>
            <a:ext cx="233334" cy="23333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06251" y="2377089"/>
            <a:ext cx="933336" cy="802085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72917" tIns="43750" rIns="43750" bIns="29167">
            <a:noAutofit/>
          </a:bodyPr>
          <a:lstStyle/>
          <a:p>
            <a:pPr algn="l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質問入力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例：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「作業標準JP-123の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最新版を教えて」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8962" y="2129172"/>
            <a:ext cx="1604170" cy="554168"/>
          </a:xfrm>
          <a:prstGeom prst="roundRect">
            <a:avLst>
              <a:gd name="adj" fmla="val 7894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（LLMでJSON抽出）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doc_no=JP-123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intent=doc_search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9586" y="2552089"/>
            <a:ext cx="459376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698962" y="2829173"/>
            <a:ext cx="1604170" cy="437501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文書番号の検証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（マスタ／ファイル一覧で実在チェック）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01047" y="2683340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1946880" y="3412508"/>
            <a:ext cx="1108336" cy="539585"/>
          </a:xfrm>
          <a:prstGeom prst="diamond">
            <a:avLst/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文書番号は</a:t>
            </a:r>
          </a:p>
          <a:p>
            <a:pPr algn="ctr">
              <a:lnSpc>
                <a:spcPts val="105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実在する？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01047" y="3266674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820842" y="3448966"/>
            <a:ext cx="2114588" cy="466668"/>
          </a:xfrm>
          <a:prstGeom prst="roundRect">
            <a:avLst>
              <a:gd name="adj" fmla="val 9375"/>
            </a:avLst>
          </a:prstGeom>
          <a:solidFill>
            <a:srgbClr val="FBDDE2"/>
          </a:solidFill>
          <a:ln w="10938">
            <a:solidFill>
              <a:srgbClr val="D97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該当なし（類似で埋めない）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・入力キーの再確認依頼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55215" y="3682300"/>
            <a:ext cx="765627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13549" y="3500008"/>
            <a:ext cx="656252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存在しない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8962" y="4097926"/>
            <a:ext cx="1604170" cy="583335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構造化検索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（完全一致・フィルタ）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SELECT … WHERE JP番号=?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501047" y="3952093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59381" y="3952093"/>
            <a:ext cx="656252" cy="14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存在する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33342" y="4083343"/>
            <a:ext cx="1137503" cy="123958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 material:databas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1675" y="4156260"/>
            <a:ext cx="262501" cy="2625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083343" y="4127093"/>
            <a:ext cx="758335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ファイルサーバー</a:t>
            </a:r>
          </a:p>
          <a:p>
            <a:pPr algn="l">
              <a:lnSpc>
                <a:spcPts val="11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（JP / 作業標準 等）</a:t>
            </a:r>
          </a:p>
        </p:txBody>
      </p:sp>
      <p:pic>
        <p:nvPicPr>
          <p:cNvPr id="34" name="icon material:description-fill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1675" y="4593761"/>
            <a:ext cx="262501" cy="29166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83343" y="4535427"/>
            <a:ext cx="758335" cy="5104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該当文書の取得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（最新版・版履歴・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適用範囲）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03133" y="4389594"/>
            <a:ext cx="430209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698962" y="4827095"/>
            <a:ext cx="1604170" cy="583335"/>
          </a:xfrm>
          <a:prstGeom prst="roundRect">
            <a:avLst>
              <a:gd name="adj" fmla="val 7500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版・適用判定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（第6章のルール）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・最新版の特定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・適用範囲の確認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01047" y="4681261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303133" y="5118762"/>
            <a:ext cx="430209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698962" y="5556263"/>
            <a:ext cx="1604170" cy="393751"/>
          </a:xfrm>
          <a:prstGeom prst="roundRect">
            <a:avLst>
              <a:gd name="adj" fmla="val 11111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結果整形</a:t>
            </a:r>
          </a:p>
          <a:p>
            <a:pPr algn="ctr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（該当文書情報・原本リンク）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01047" y="5410429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958345" y="5395846"/>
            <a:ext cx="1020836" cy="729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938">
            <a:solidFill>
              <a:srgbClr val="3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要約生成（任意）</a:t>
            </a:r>
          </a:p>
          <a:p>
            <a:pPr algn="l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（参照ID付き）</a:t>
            </a:r>
          </a:p>
          <a:p>
            <a:pPr algn="l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・文書の概要説明</a:t>
            </a:r>
          </a:p>
          <a:p>
            <a:pPr algn="l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・改訂ポイント 等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03133" y="5753138"/>
            <a:ext cx="1655212" cy="0"/>
          </a:xfrm>
          <a:prstGeom prst="line">
            <a:avLst/>
          </a:prstGeom>
          <a:ln w="11667">
            <a:solidFill>
              <a:srgbClr val="1F3A6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94800" y="5585430"/>
            <a:ext cx="437501" cy="14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（任意）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585" y="6110431"/>
            <a:ext cx="3062507" cy="597918"/>
          </a:xfrm>
          <a:prstGeom prst="roundRect">
            <a:avLst>
              <a:gd name="adj" fmla="val 7317"/>
            </a:avLst>
          </a:prstGeom>
          <a:solidFill>
            <a:srgbClr val="E3F2DC"/>
          </a:solidFill>
          <a:ln w="10938">
            <a:solidFill>
              <a:srgbClr val="8C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結果表示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・文書情報（最新版・版履歴・適用範囲）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・原本リンク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・必要に応じて要約（任意）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01047" y="5950014"/>
            <a:ext cx="0" cy="160417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3602092" y="6125014"/>
            <a:ext cx="1866671" cy="284376"/>
          </a:xfrm>
          <a:custGeom>
            <a:avLst/>
            <a:gdLst/>
            <a:ahLst/>
            <a:cxnLst/>
            <a:rect l="l" t="t" r="r" b="b"/>
            <a:pathLst>
              <a:path w="1866671" h="284376">
                <a:moveTo>
                  <a:pt x="1866671" y="0"/>
                </a:moveTo>
                <a:lnTo>
                  <a:pt x="1866671" y="284376"/>
                </a:lnTo>
                <a:lnTo>
                  <a:pt x="0" y="284376"/>
                </a:lnTo>
              </a:path>
            </a:pathLst>
          </a:custGeom>
          <a:noFill/>
          <a:ln w="11667">
            <a:solidFill>
              <a:srgbClr val="1F3A6E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72918" y="3179174"/>
            <a:ext cx="926044" cy="1210420"/>
          </a:xfrm>
          <a:custGeom>
            <a:avLst/>
            <a:gdLst/>
            <a:ahLst/>
            <a:cxnLst/>
            <a:rect l="l" t="t" r="r" b="b"/>
            <a:pathLst>
              <a:path w="926044" h="1210420">
                <a:moveTo>
                  <a:pt x="0" y="0"/>
                </a:moveTo>
                <a:lnTo>
                  <a:pt x="0" y="1210420"/>
                </a:lnTo>
                <a:lnTo>
                  <a:pt x="926044" y="1210420"/>
                </a:lnTo>
              </a:path>
            </a:pathLst>
          </a:custGeom>
          <a:noFill/>
          <a:ln w="10208">
            <a:solidFill>
              <a:srgbClr val="1F3A6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39598" y="1006252"/>
            <a:ext cx="5877097" cy="5760430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39598" y="1006252"/>
            <a:ext cx="5877097" cy="32083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1681" y="1006252"/>
            <a:ext cx="3864592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パターン2：作業内容から関連標準を探す（類似検索）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35440" y="1057294"/>
            <a:ext cx="1822921" cy="21875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例：「設計変更に関するJP作業標準は？」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56265" y="1356253"/>
            <a:ext cx="5687513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作業内容などの自然言語から、全文検索＋ベクトル検索のハイブリッド方式で関連する作業標準を</a:t>
            </a:r>
          </a:p>
          <a:p>
            <a:pPr algn="l">
              <a:lnSpc>
                <a:spcPts val="14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検索し、候補を提示する。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2514" y="1750004"/>
            <a:ext cx="1035419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ユーザー</a:t>
            </a:r>
          </a:p>
          <a:p>
            <a:pPr algn="ctr">
              <a:lnSpc>
                <a:spcPts val="10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（Dify）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77100" y="1750004"/>
            <a:ext cx="2347922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検索API / アプリケーション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54189" y="1750004"/>
            <a:ext cx="1181253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データストア</a:t>
            </a:r>
          </a:p>
          <a:p>
            <a:pPr algn="ctr">
              <a:lnSpc>
                <a:spcPts val="10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（ファイルサーバー）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64609" y="1750004"/>
            <a:ext cx="1050002" cy="291667"/>
          </a:xfrm>
          <a:prstGeom prst="rect">
            <a:avLst/>
          </a:prstGeom>
          <a:solidFill>
            <a:srgbClr val="D6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</a:t>
            </a:r>
          </a:p>
          <a:p>
            <a:pPr algn="ctr">
              <a:lnSpc>
                <a:spcPts val="10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（説明生成・比較）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262517" y="2085422"/>
            <a:ext cx="0" cy="4652094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39606" y="2085422"/>
            <a:ext cx="0" cy="4652094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850025" y="2085422"/>
            <a:ext cx="0" cy="4652094"/>
          </a:xfrm>
          <a:prstGeom prst="line">
            <a:avLst/>
          </a:prstGeom>
          <a:ln w="7292">
            <a:solidFill>
              <a:srgbClr val="C9D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0849" y="2114588"/>
            <a:ext cx="233334" cy="233334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6270848" y="2377089"/>
            <a:ext cx="933336" cy="933336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72917" tIns="43750" rIns="43750" bIns="29167">
            <a:noAutofit/>
          </a:bodyPr>
          <a:lstStyle/>
          <a:p>
            <a:pPr algn="l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質問入力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例：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「設計変更に関して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指示しているJP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作業標準の項番を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教えて」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63559" y="2129172"/>
            <a:ext cx="1604170" cy="627085"/>
          </a:xfrm>
          <a:prstGeom prst="roundRect">
            <a:avLst>
              <a:gd name="adj" fmla="val 6976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9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ctr">
              <a:lnSpc>
                <a:spcPts val="9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（LLMでJSON抽出）</a:t>
            </a:r>
          </a:p>
          <a:p>
            <a:pPr algn="ctr">
              <a:lnSpc>
                <a:spcPts val="9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intent=doc_search</a:t>
            </a:r>
          </a:p>
          <a:p>
            <a:pPr algn="ctr">
              <a:lnSpc>
                <a:spcPts val="9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keywords=設計変更, 指示</a:t>
            </a:r>
          </a:p>
          <a:p>
            <a:pPr algn="ctr">
              <a:lnSpc>
                <a:spcPts val="9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free_text=…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204183" y="2588548"/>
            <a:ext cx="459376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663559" y="2902090"/>
            <a:ext cx="1604170" cy="481251"/>
          </a:xfrm>
          <a:prstGeom prst="roundRect">
            <a:avLst>
              <a:gd name="adj" fmla="val 9090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9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キーワードの正規化・拡張</a:t>
            </a:r>
          </a:p>
          <a:p>
            <a:pPr algn="ctr">
              <a:lnSpc>
                <a:spcPts val="9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（辞書展開・同義語含む）</a:t>
            </a:r>
          </a:p>
          <a:p>
            <a:pPr algn="ctr">
              <a:lnSpc>
                <a:spcPts val="9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例：設計変更 → 変更管理, DCCB 等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465645" y="2756256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590643" y="3529175"/>
            <a:ext cx="1750004" cy="787502"/>
          </a:xfrm>
          <a:prstGeom prst="roundRect">
            <a:avLst>
              <a:gd name="adj" fmla="val 5555"/>
            </a:avLst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ハイブリッド検索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・全文検索（BM25：kuromoji）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・ベクトル検索（文脈化テキスト）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・RRF統合 ＋ 必須条件フィルタ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　（リランク：任意）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465645" y="3383341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697939" y="3529175"/>
            <a:ext cx="1137503" cy="109375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icon material:databas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6273" y="3602092"/>
            <a:ext cx="262501" cy="2625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0047940" y="3572925"/>
            <a:ext cx="758335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ファイルサーバー</a:t>
            </a:r>
          </a:p>
          <a:p>
            <a:pPr algn="l">
              <a:lnSpc>
                <a:spcPts val="11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（JP / 作業標準 等）</a:t>
            </a:r>
          </a:p>
        </p:txBody>
      </p:sp>
      <p:pic>
        <p:nvPicPr>
          <p:cNvPr id="72" name="icon material:description-fill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6273" y="4039593"/>
            <a:ext cx="262501" cy="29166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047940" y="3981259"/>
            <a:ext cx="758335" cy="51041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関連文書の取得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（本文・該当箇所・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版情報）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340647" y="3922926"/>
            <a:ext cx="357292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7663559" y="4462510"/>
            <a:ext cx="1604170" cy="612501"/>
          </a:xfrm>
          <a:prstGeom prst="roundRect">
            <a:avLst>
              <a:gd name="adj" fmla="val 7142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版・適用判定</a:t>
            </a:r>
          </a:p>
          <a:p>
            <a:pPr algn="ctr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（第6章のルール）</a:t>
            </a:r>
          </a:p>
          <a:p>
            <a:pPr algn="ctr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・適用範囲の確認</a:t>
            </a:r>
          </a:p>
          <a:p>
            <a:pPr algn="ctr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・旧版・適用外の除外/警告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465645" y="4316677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9267730" y="4550011"/>
            <a:ext cx="430209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590643" y="5220845"/>
            <a:ext cx="1750004" cy="422918"/>
          </a:xfrm>
          <a:prstGeom prst="roundRect">
            <a:avLst>
              <a:gd name="adj" fmla="val 10344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結果整形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（候補一覧・一致/類似/未確認の区分）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65645" y="5075012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10922942" y="5031262"/>
            <a:ext cx="1020836" cy="933336"/>
          </a:xfrm>
          <a:prstGeom prst="roundRect">
            <a:avLst>
              <a:gd name="adj" fmla="val 4687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LLMで説明・比較生成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（参照ID付き）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・候補の要約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・共通点／相違点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・適用上の注意 等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340647" y="5432304"/>
            <a:ext cx="1582295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6504182" y="6110431"/>
            <a:ext cx="4156260" cy="597918"/>
          </a:xfrm>
          <a:prstGeom prst="roundRect">
            <a:avLst>
              <a:gd name="adj" fmla="val 7317"/>
            </a:avLst>
          </a:prstGeom>
          <a:solidFill>
            <a:srgbClr val="E3F2DC"/>
          </a:solidFill>
          <a:ln w="10938">
            <a:solidFill>
              <a:srgbClr val="8C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結果表示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・候補一覧（関連度順）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・一致した条件／類似する点／未確認事項</a:t>
            </a:r>
          </a:p>
          <a:p>
            <a:pPr algn="l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・原本リンク・版情報・適用ラベル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465645" y="5643763"/>
            <a:ext cx="0" cy="466668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0660441" y="5964597"/>
            <a:ext cx="772919" cy="444793"/>
          </a:xfrm>
          <a:custGeom>
            <a:avLst/>
            <a:gdLst/>
            <a:ahLst/>
            <a:cxnLst/>
            <a:rect l="l" t="t" r="r" b="b"/>
            <a:pathLst>
              <a:path w="772919" h="444793">
                <a:moveTo>
                  <a:pt x="772919" y="0"/>
                </a:moveTo>
                <a:lnTo>
                  <a:pt x="772919" y="444793"/>
                </a:lnTo>
                <a:lnTo>
                  <a:pt x="0" y="444793"/>
                </a:lnTo>
              </a:path>
            </a:pathLst>
          </a:custGeom>
          <a:noFill/>
          <a:ln w="11667">
            <a:solidFill>
              <a:srgbClr val="1F3A6E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6737516" y="3310424"/>
            <a:ext cx="853127" cy="612502"/>
          </a:xfrm>
          <a:custGeom>
            <a:avLst/>
            <a:gdLst/>
            <a:ahLst/>
            <a:cxnLst/>
            <a:rect l="l" t="t" r="r" b="b"/>
            <a:pathLst>
              <a:path w="853127" h="612502">
                <a:moveTo>
                  <a:pt x="0" y="0"/>
                </a:moveTo>
                <a:lnTo>
                  <a:pt x="0" y="612502"/>
                </a:lnTo>
                <a:lnTo>
                  <a:pt x="853127" y="612502"/>
                </a:lnTo>
              </a:path>
            </a:pathLst>
          </a:custGeom>
          <a:noFill/>
          <a:ln w="10208">
            <a:solidFill>
              <a:srgbClr val="1F3A6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4.2  UC1：共有ファイル／JP等検索の出力イメージ（図4-2）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" y="554168"/>
            <a:ext cx="5877097" cy="6168764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5000" y="554168"/>
            <a:ext cx="5877097" cy="36458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 material:descripti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084" y="605210"/>
            <a:ext cx="247917" cy="2625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3335" y="554168"/>
            <a:ext cx="5395846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出力イメージ（パターン1：文書番号指定）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001" y="1093753"/>
            <a:ext cx="5527096" cy="2697923"/>
          </a:xfrm>
          <a:prstGeom prst="roundRect">
            <a:avLst>
              <a:gd name="adj" fmla="val 1621"/>
            </a:avLst>
          </a:prstGeom>
          <a:solidFill>
            <a:srgbClr val="F7FAFD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1" y="1093753"/>
            <a:ext cx="58333" cy="2697923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168" y="1239586"/>
            <a:ext cx="2187505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作業標準 JP-123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9589" y="1283336"/>
            <a:ext cx="700002" cy="218751"/>
          </a:xfrm>
          <a:prstGeom prst="roundRect">
            <a:avLst>
              <a:gd name="adj" fmla="val 13333"/>
            </a:avLst>
          </a:prstGeom>
          <a:solidFill>
            <a:srgbClr val="2E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最新版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4168" y="1677087"/>
          <a:ext cx="5104178" cy="1895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66669"/>
                <a:gridCol w="3937509"/>
              </a:tblGrid>
              <a:tr h="37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版数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Rev.3（2024/10/01）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37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○○工程（機種A/B）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37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文書種別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作業標準（JP）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37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改訂ポイント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手順5の検査方法を変更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37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原本リンク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F5FD0"/>
                          </a:solidFill>
                          <a:latin typeface="Meiryo"/>
                          <a:ea typeface="Meiryo"/>
                          <a:cs typeface="Meiryo"/>
                        </a:rPr>
                        <a:t>JP-123_Rev3.pdf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50001" y="4025009"/>
            <a:ext cx="43750" cy="26250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668" y="4025009"/>
            <a:ext cx="5410429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LLMによる要約（任意）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1" y="4360427"/>
            <a:ext cx="5527096" cy="2158338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001" y="4506260"/>
            <a:ext cx="5206262" cy="9479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本作業標準は、○○工程における△△作業の手順を規定したものです。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Rev.3では、手順5の検査方法が変更されています。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主な改訂点は以下のとおりです。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01" y="5483346"/>
            <a:ext cx="5206262" cy="729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950"/>
              </a:lnSpc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…（参照：JP-123 Rev.3、P.3）</a:t>
            </a:r>
          </a:p>
          <a:p>
            <a:pPr algn="l" marL="175000" indent="-175000">
              <a:lnSpc>
                <a:spcPts val="1950"/>
              </a:lnSpc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…（参照：JP-123 Rev.3、P.5）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9598" y="554168"/>
            <a:ext cx="5877097" cy="6168764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9598" y="554168"/>
            <a:ext cx="5877097" cy="36458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 material:descripti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1681" y="605210"/>
            <a:ext cx="247917" cy="26250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7932" y="554168"/>
            <a:ext cx="5395846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出力イメージ（パターン2：作業内容から検索）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4598" y="1093753"/>
            <a:ext cx="43750" cy="26250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1265" y="1093753"/>
            <a:ext cx="5410429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候補一覧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314598" y="1429170"/>
          <a:ext cx="5527095" cy="204167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8334"/>
                <a:gridCol w="845835"/>
                <a:gridCol w="1720837"/>
                <a:gridCol w="729168"/>
                <a:gridCol w="729168"/>
                <a:gridCol w="1093753"/>
              </a:tblGrid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文書番号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文書名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関連度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JP-045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設計変更時の作業手順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0.92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機種A/B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JP-078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DCCB対応手順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Rev.2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全機種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JP-123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変更指示書の作成手順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0.78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機種A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314598" y="3704175"/>
            <a:ext cx="43750" cy="26250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1265" y="3704175"/>
            <a:ext cx="5410429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LLMによる説明・比較（抜粋）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4598" y="4039593"/>
            <a:ext cx="5527096" cy="2479172"/>
          </a:xfrm>
          <a:prstGeom prst="roundRect">
            <a:avLst>
              <a:gd name="adj" fmla="val 1764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9598" y="4170843"/>
            <a:ext cx="5206262" cy="2479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上記のJPは、いずれも設計変更対応に関連する作業標準です。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9598" y="4520844"/>
            <a:ext cx="5206262" cy="1968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850"/>
              </a:lnSpc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JP-045：設計変更時の基本的な作業手順。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（参照：JP-045 Rev.5, P.2）</a:t>
            </a:r>
          </a:p>
          <a:p>
            <a:pPr algn="l" marL="175000" indent="-175000">
              <a:lnSpc>
                <a:spcPts val="1850"/>
              </a:lnSpc>
              <a:spcBef>
                <a:spcPts val="550"/>
              </a:spcBef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JP-078：DCCBに関する具体的な指示方法。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（参照：JP-078 Rev.2, P.1）</a:t>
            </a:r>
          </a:p>
          <a:p>
            <a:pPr algn="l" marL="175000" indent="-175000">
              <a:lnSpc>
                <a:spcPts val="1850"/>
              </a:lnSpc>
              <a:spcBef>
                <a:spcPts val="550"/>
              </a:spcBef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JP-123：変更指示書の作成手順。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（参照：JP-123 Rev.3, P.4）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
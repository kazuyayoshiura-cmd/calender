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4.3  UC2：N-PLUS／TOS検索の出力イメージ（図4-3）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" y="525001"/>
            <a:ext cx="11841694" cy="2318755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5000" y="525001"/>
            <a:ext cx="11841694" cy="3062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1667" y="525001"/>
            <a:ext cx="11695861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パターン1：部品・工程指定（取得データの直接表示）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834" y="918752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918" y="918752"/>
            <a:ext cx="4272927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TOS 基本情報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834" y="1181253"/>
          <a:ext cx="4666678" cy="1575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3753"/>
                <a:gridCol w="3572925"/>
              </a:tblGrid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LTS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LTS-000123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TOS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TOS-456789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部品番号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A123-45678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ステータス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有効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Rev.3（2024/10/01）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S/N 001～100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原本リンク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F5FD0"/>
                          </a:solidFill>
                          <a:latin typeface="Meiryo"/>
                          <a:ea typeface="Meiryo"/>
                          <a:cs typeface="Meiryo"/>
                        </a:rPr>
                        <a:t>N-PLUSで開く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79179" y="918752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81263" y="918752"/>
            <a:ext cx="6460432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関連シーケンス／工程一覧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279179" y="1181253"/>
          <a:ext cx="6562515" cy="109375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02085"/>
                <a:gridCol w="1458337"/>
                <a:gridCol w="2916673"/>
                <a:gridCol w="1385420"/>
              </a:tblGrid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Seq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工数(h)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2.0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110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面取り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120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検査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75000" y="2945840"/>
            <a:ext cx="5877097" cy="3791675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5000" y="2945840"/>
            <a:ext cx="5877097" cy="3062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67" y="2945840"/>
            <a:ext cx="573126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パターン2：類似作業工程探索（候補一覧＋比較）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834" y="3339591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918" y="3339591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類似 TOS 候補一覧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834" y="3602092"/>
          <a:ext cx="5585431" cy="128333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4584"/>
                <a:gridCol w="904169"/>
                <a:gridCol w="656252"/>
                <a:gridCol w="1545837"/>
                <a:gridCol w="627085"/>
                <a:gridCol w="656252"/>
                <a:gridCol w="831252"/>
              </a:tblGrid>
              <a:tr h="26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部品番号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作業内容（要約）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類似度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B987-65432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穴あけ加工（治具使用）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0.92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A123-45678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120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穴明け・リーマ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0.87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C111-22222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050～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834" y="5060428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918" y="5060428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LLMによる比較説明（抜粋）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168" y="5337512"/>
            <a:ext cx="5468763" cy="1312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No.1は治具を使用した穴あけ加工で、工程条件が近似しています。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No.2は同一部品の類似工程で、作業手順が参考になります。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No.3は材質が異なるため、適用可否の確認が必要です。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9598" y="2945840"/>
            <a:ext cx="5877097" cy="3791675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39598" y="2945840"/>
            <a:ext cx="5877097" cy="3062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6265" y="2945840"/>
            <a:ext cx="573126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パターン3：部品・工程＋作業内容（絞り込み後の候補一覧＋比較）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5431" y="3339591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7515" y="3339591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絞り込み後の類似 TOS 候補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285431" y="3602092"/>
          <a:ext cx="5585431" cy="128333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4584"/>
                <a:gridCol w="904169"/>
                <a:gridCol w="656252"/>
                <a:gridCol w="1545837"/>
                <a:gridCol w="627085"/>
                <a:gridCol w="656252"/>
                <a:gridCol w="831252"/>
              </a:tblGrid>
              <a:tr h="26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TOS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作業内容（要約）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類似度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TOS-456789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溶接（TIG）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0.95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TOS-123456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210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溶接（スポット）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0.88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TOS-789012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溶接（TIG・治具）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050～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285431" y="5060428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7515" y="5060428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LLMによる比較説明（抜粋）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3765" y="5337512"/>
            <a:ext cx="5468763" cy="1312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No.1は同一部品番号で溶接工程の作業条件が最も近いです。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No.2は工程番号が異なりますが、作業内容が類似しています。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治具の有無や適用範囲が異なるため、適用可否の確認が必要です。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
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con_svg3.svg"/><Relationship Id="rId7" Type="http://schemas.openxmlformats.org/officeDocument/2006/relationships/image" Target="../media/icon_svg4.svg"/><Relationship Id="rId8" Type="http://schemas.openxmlformats.org/officeDocument/2006/relationships/image" Target="../media/icon_svg5.svg"/><Relationship Id="rId9" Type="http://schemas.openxmlformats.org/officeDocument/2006/relationships/image" Target="../media/icon_svg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4.3  UC2：N-PLUS／TOS検索の処理フロー（図4-3）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" y="495834"/>
            <a:ext cx="11841694" cy="452084"/>
          </a:xfrm>
          <a:prstGeom prst="roundRect">
            <a:avLst>
              <a:gd name="adj" fmla="val 6451"/>
            </a:avLst>
          </a:prstGeom>
          <a:solidFill>
            <a:srgbClr val="F2F8FE"/>
          </a:solidFill>
          <a:ln w="8750">
            <a:solidFill>
              <a:srgbClr val="9CC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" y="510418"/>
            <a:ext cx="11841694" cy="4229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UC2では、N-PLUSのTOSデータを対象に、「部品・工程を指定して検索」「類似作業工程を探索」「両者を併用した検索」の3つのパターンを実現する。</a:t>
            </a:r>
          </a:p>
          <a:p>
            <a:pPr algn="ctr">
              <a:lnSpc>
                <a:spcPts val="1500"/>
              </a:lnSpc>
            </a:pPr>
            <a:r>
              <a:rPr sz="10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いずれのパターンでも、構造化検索・全文検索・ベクトル検索を適切に組み合わせ、版・適用判定を行い、根拠付きで候補を提示する。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75000" y="1006252"/>
            <a:ext cx="3908342" cy="5731263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5000" y="1006252"/>
            <a:ext cx="3908342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7084" y="1006252"/>
            <a:ext cx="376250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パターン1：部品・工程指定で検索（正確検索）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84" y="1356253"/>
            <a:ext cx="3733342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部品番号や工程番号などの確定キーを指定し、</a:t>
            </a:r>
          </a:p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N-PLUSのTOSを正確に検索する。</a:t>
            </a:r>
          </a:p>
        </p:txBody>
      </p:sp>
      <p:pic>
        <p:nvPicPr>
          <p:cNvPr id="9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917" y="1866671"/>
            <a:ext cx="233334" cy="2333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0418" y="1808338"/>
            <a:ext cx="1093753" cy="81666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72917" tIns="43750" rIns="43750" bIns="29167">
            <a:noAutofit/>
          </a:bodyPr>
          <a:lstStyle/>
          <a:p>
            <a:pPr algn="l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「部品番号Aの工程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100のTOSを確認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したい」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4170" y="2107297"/>
            <a:ext cx="131251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735421" y="1808338"/>
            <a:ext cx="1720837" cy="597918"/>
          </a:xfrm>
          <a:prstGeom prst="roundRect">
            <a:avLst>
              <a:gd name="adj" fmla="val 731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（LLMでJSON抽出）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part_no, process_no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intent=tos_search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5421" y="2552089"/>
            <a:ext cx="1720837" cy="481251"/>
          </a:xfrm>
          <a:prstGeom prst="roundRect">
            <a:avLst>
              <a:gd name="adj" fmla="val 9090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コード検証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・部品番号の実在チェック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・工程番号の実在チェック</a:t>
            </a:r>
          </a:p>
        </p:txBody>
      </p:sp>
      <p:sp>
        <p:nvSpPr>
          <p:cNvPr id="14" name="Diamond 13"/>
          <p:cNvSpPr/>
          <p:nvPr/>
        </p:nvSpPr>
        <p:spPr>
          <a:xfrm>
            <a:off x="2143755" y="3164591"/>
            <a:ext cx="904169" cy="568751"/>
          </a:xfrm>
          <a:prstGeom prst="diamond">
            <a:avLst/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7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キーは</a:t>
            </a:r>
          </a:p>
          <a:p>
            <a:pPr algn="ctr">
              <a:lnSpc>
                <a:spcPts val="1000"/>
              </a:lnSpc>
            </a:pPr>
            <a:r>
              <a:rPr sz="7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マスタに実在？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64591" y="3157299"/>
            <a:ext cx="875002" cy="583335"/>
          </a:xfrm>
          <a:prstGeom prst="roundRect">
            <a:avLst>
              <a:gd name="adj" fmla="val 7500"/>
            </a:avLst>
          </a:prstGeom>
          <a:solidFill>
            <a:srgbClr val="FBDDE2"/>
          </a:solidFill>
          <a:ln w="10938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9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該当なし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（類似で埋めない）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・入力キーの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再確認を依頼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5421" y="3879176"/>
            <a:ext cx="1720837" cy="714585"/>
          </a:xfrm>
          <a:prstGeom prst="roundRect">
            <a:avLst>
              <a:gd name="adj" fmla="val 6122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（完全一致・フィルタ）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SELECT … FROM TOS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WHERE part_no=?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AND process_no=?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7084" y="3981259"/>
            <a:ext cx="1254170" cy="510418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834" y="4076051"/>
            <a:ext cx="306251" cy="3208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1668" y="4010426"/>
            <a:ext cx="875002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N-PLUS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（TOS／Sequence／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MakeProcess 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5421" y="4739594"/>
            <a:ext cx="1720837" cy="627085"/>
          </a:xfrm>
          <a:prstGeom prst="roundRect">
            <a:avLst>
              <a:gd name="adj" fmla="val 6976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ts val="10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（第6章のルール）</a:t>
            </a:r>
          </a:p>
          <a:p>
            <a:pPr algn="ctr">
              <a:lnSpc>
                <a:spcPts val="10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・最新版の特定</a:t>
            </a:r>
          </a:p>
          <a:p>
            <a:pPr algn="ctr">
              <a:lnSpc>
                <a:spcPts val="105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・適用範囲の確認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751" y="5527096"/>
            <a:ext cx="3470841" cy="1093753"/>
          </a:xfrm>
          <a:prstGeom prst="roundRect">
            <a:avLst>
              <a:gd name="adj" fmla="val 4000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結果表示（取得データを直接表示）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・TOS基本情報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・関連シーケンス／工程一覧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・版・適用ラベル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・原本リンク（N-PLUS画面）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95839" y="2406256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595839" y="3033340"/>
            <a:ext cx="0" cy="13125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595839" y="3733342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95839" y="4593761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5839" y="5366679"/>
            <a:ext cx="0" cy="160417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4173" y="3733342"/>
            <a:ext cx="583335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存在する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47924" y="3448966"/>
            <a:ext cx="11666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64591" y="3004174"/>
            <a:ext cx="875002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存在しない</a:t>
            </a:r>
          </a:p>
        </p:txBody>
      </p:sp>
      <p:sp>
        <p:nvSpPr>
          <p:cNvPr id="30" name="Freeform 29"/>
          <p:cNvSpPr/>
          <p:nvPr/>
        </p:nvSpPr>
        <p:spPr>
          <a:xfrm>
            <a:off x="1057294" y="2625006"/>
            <a:ext cx="1086461" cy="823960"/>
          </a:xfrm>
          <a:custGeom>
            <a:avLst/>
            <a:gdLst/>
            <a:ahLst/>
            <a:cxnLst/>
            <a:rect l="l" t="t" r="r" b="b"/>
            <a:pathLst>
              <a:path w="1086461" h="823960">
                <a:moveTo>
                  <a:pt x="1086461" y="823960"/>
                </a:moveTo>
                <a:lnTo>
                  <a:pt x="0" y="823960"/>
                </a:lnTo>
                <a:lnTo>
                  <a:pt x="0" y="0"/>
                </a:lnTo>
              </a:path>
            </a:pathLst>
          </a:custGeom>
          <a:noFill/>
          <a:ln w="10208">
            <a:solidFill>
              <a:srgbClr val="1F3A6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1531254" y="4236468"/>
            <a:ext cx="20416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141676" y="1006252"/>
            <a:ext cx="3908342" cy="5731263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41676" y="1006252"/>
            <a:ext cx="3908342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3760" y="1006252"/>
            <a:ext cx="376250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パターン2：類似作業工程探索（類似検索）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3760" y="1356253"/>
            <a:ext cx="3733342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作業内容などの自然言語から、過去に類似する作業工程で</a:t>
            </a:r>
          </a:p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使われたTOSを探索する。</a:t>
            </a:r>
          </a:p>
        </p:txBody>
      </p:sp>
      <p:pic>
        <p:nvPicPr>
          <p:cNvPr id="36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14593" y="1866671"/>
            <a:ext cx="233334" cy="233334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477094" y="1808338"/>
            <a:ext cx="1093753" cy="81666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72917" tIns="43750" rIns="43750" bIns="29167">
            <a:noAutofit/>
          </a:bodyPr>
          <a:lstStyle/>
          <a:p>
            <a:pPr algn="l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「過去に類似工程で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使われたTOSを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探したい」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70846" y="2107297"/>
            <a:ext cx="131251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702097" y="1808338"/>
            <a:ext cx="1720837" cy="597918"/>
          </a:xfrm>
          <a:prstGeom prst="roundRect">
            <a:avLst>
              <a:gd name="adj" fmla="val 731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（LLMでJSON抽出）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keywords, free_text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intent=similar_search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02097" y="2552089"/>
            <a:ext cx="1720837" cy="510418"/>
          </a:xfrm>
          <a:prstGeom prst="roundRect">
            <a:avLst>
              <a:gd name="adj" fmla="val 8571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用語辞書で正規化・拡張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（工程名、作業内容、略語 等）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例：穴あけ ＝ 穴加工、ドリル 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02097" y="3208341"/>
            <a:ext cx="1720837" cy="772918"/>
          </a:xfrm>
          <a:prstGeom prst="roundRect">
            <a:avLst>
              <a:gd name="adj" fmla="val 5660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ハイブリッド検索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・全文検索（BM25：kuromoji）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・ベクトル検索（工程文脈テキスト）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・RRF統合 ＋ 必須条件フィルタ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　（リランク：任意）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43760" y="3339591"/>
            <a:ext cx="1254170" cy="510418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7510" y="3434383"/>
            <a:ext cx="306251" cy="32083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608344" y="3368758"/>
            <a:ext cx="875002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N-PLUS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（TOS／Sequence／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MakeProcess 等）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60427" y="4214593"/>
            <a:ext cx="1822921" cy="656252"/>
          </a:xfrm>
          <a:prstGeom prst="roundRect">
            <a:avLst>
              <a:gd name="adj" fmla="val 6666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版・適用判定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（第6章のルール）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・適用範囲の確認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・旧版・適用外の除外／警告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9181" y="4156260"/>
            <a:ext cx="1604170" cy="816669"/>
          </a:xfrm>
          <a:prstGeom prst="roundRect">
            <a:avLst>
              <a:gd name="adj" fmla="val 535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LLMで説明・比較生成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（参照ID付き）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・作業内容の要約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・類似点／相違点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・適用上の注意 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60427" y="5395846"/>
            <a:ext cx="3572925" cy="1225003"/>
          </a:xfrm>
          <a:prstGeom prst="roundRect">
            <a:avLst>
              <a:gd name="adj" fmla="val 3571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結果表示（候補一覧＋比較）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・類似TOSの候補一覧（スコア順）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・主要項目の比較（作業内容・工程・工数 等）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・根拠／類似する点／未確認事項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・原本リンク（N-PLUS画面）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62515" y="2406256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562515" y="3062507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497929" y="3594800"/>
            <a:ext cx="204168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5271887" y="3981259"/>
            <a:ext cx="1290628" cy="233334"/>
          </a:xfrm>
          <a:custGeom>
            <a:avLst/>
            <a:gdLst/>
            <a:ahLst/>
            <a:cxnLst/>
            <a:rect l="l" t="t" r="r" b="b"/>
            <a:pathLst>
              <a:path w="1290628" h="233334">
                <a:moveTo>
                  <a:pt x="1290628" y="0"/>
                </a:moveTo>
                <a:lnTo>
                  <a:pt x="1290628" y="102084"/>
                </a:lnTo>
                <a:lnTo>
                  <a:pt x="0" y="102084"/>
                </a:lnTo>
                <a:lnTo>
                  <a:pt x="0" y="233334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6183348" y="4542719"/>
            <a:ext cx="145833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271887" y="4870845"/>
            <a:ext cx="0" cy="52500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131267" y="4972928"/>
            <a:ext cx="0" cy="422918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5023970" y="2625006"/>
            <a:ext cx="678127" cy="656252"/>
          </a:xfrm>
          <a:custGeom>
            <a:avLst/>
            <a:gdLst/>
            <a:ahLst/>
            <a:cxnLst/>
            <a:rect l="l" t="t" r="r" b="b"/>
            <a:pathLst>
              <a:path w="678127" h="656252">
                <a:moveTo>
                  <a:pt x="0" y="0"/>
                </a:moveTo>
                <a:lnTo>
                  <a:pt x="0" y="656252"/>
                </a:lnTo>
                <a:lnTo>
                  <a:pt x="678127" y="656252"/>
                </a:lnTo>
              </a:path>
            </a:pathLst>
          </a:custGeom>
          <a:noFill/>
          <a:ln w="10208">
            <a:solidFill>
              <a:srgbClr val="1F3A6E"/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8352" y="1006252"/>
            <a:ext cx="3908342" cy="5731263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08352" y="1006252"/>
            <a:ext cx="3908342" cy="320834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10436" y="1006252"/>
            <a:ext cx="376250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パターン3：部品・工程 ＋ 作業内容の併用検索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0436" y="1356253"/>
            <a:ext cx="3733342" cy="364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部品番号や工程番号などの確定キーで検索範囲を絞り込み、</a:t>
            </a:r>
          </a:p>
          <a:p>
            <a:pPr algn="l">
              <a:lnSpc>
                <a:spcPts val="13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作業内容の類似度を用いて関連するTOSを探索する。</a:t>
            </a:r>
          </a:p>
        </p:txBody>
      </p:sp>
      <p:pic>
        <p:nvPicPr>
          <p:cNvPr id="60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1269" y="1866671"/>
            <a:ext cx="233334" cy="233334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443770" y="1808338"/>
            <a:ext cx="1093753" cy="816669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72917" tIns="43750" rIns="43750" bIns="29167">
            <a:noAutofit/>
          </a:bodyPr>
          <a:lstStyle/>
          <a:p>
            <a:pPr algn="l">
              <a:lnSpc>
                <a:spcPts val="110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質問入力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例：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「部品番号Aで、溶接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工程に近い過去の</a:t>
            </a:r>
          </a:p>
          <a:p>
            <a:pPr algn="l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TOSを探したい」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537522" y="2107297"/>
            <a:ext cx="131250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9668772" y="1808338"/>
            <a:ext cx="1720837" cy="597918"/>
          </a:xfrm>
          <a:prstGeom prst="roundRect">
            <a:avLst>
              <a:gd name="adj" fmla="val 731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質問解釈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（LLMでJSON抽出）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part_no, keywords</a:t>
            </a:r>
          </a:p>
          <a:p>
            <a:pPr algn="ctr">
              <a:lnSpc>
                <a:spcPts val="10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intent=hybrid_search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668772" y="2552089"/>
            <a:ext cx="1720837" cy="481251"/>
          </a:xfrm>
          <a:prstGeom prst="roundRect">
            <a:avLst>
              <a:gd name="adj" fmla="val 9090"/>
            </a:avLst>
          </a:prstGeom>
          <a:solidFill>
            <a:srgbClr val="FFF3D6"/>
          </a:solidFill>
          <a:ln w="10938">
            <a:solidFill>
              <a:srgbClr val="E0B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コード検証・正規化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・部品番号の実在チェック</a:t>
            </a:r>
          </a:p>
          <a:p>
            <a:pPr algn="ctr">
              <a:lnSpc>
                <a:spcPts val="1100"/>
              </a:lnSpc>
            </a:pPr>
            <a:r>
              <a:rPr sz="7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・用語辞書で正規化・拡張</a:t>
            </a:r>
          </a:p>
        </p:txBody>
      </p:sp>
      <p:sp>
        <p:nvSpPr>
          <p:cNvPr id="65" name="Diamond 64"/>
          <p:cNvSpPr/>
          <p:nvPr/>
        </p:nvSpPr>
        <p:spPr>
          <a:xfrm>
            <a:off x="10077107" y="3164591"/>
            <a:ext cx="904169" cy="568751"/>
          </a:xfrm>
          <a:prstGeom prst="diamond">
            <a:avLst/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9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部品番号は</a:t>
            </a:r>
          </a:p>
          <a:p>
            <a:pPr algn="ctr">
              <a:lnSpc>
                <a:spcPts val="95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マスタに実在？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097942" y="3157299"/>
            <a:ext cx="875002" cy="583335"/>
          </a:xfrm>
          <a:prstGeom prst="roundRect">
            <a:avLst>
              <a:gd name="adj" fmla="val 7500"/>
            </a:avLst>
          </a:prstGeom>
          <a:solidFill>
            <a:srgbClr val="FBDDE2"/>
          </a:solidFill>
          <a:ln w="10938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9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該当なし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（類似で埋めない）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・入力キーの</a:t>
            </a:r>
          </a:p>
          <a:p>
            <a:pPr algn="ctr">
              <a:lnSpc>
                <a:spcPts val="90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再確認を依頼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68772" y="3879176"/>
            <a:ext cx="1720837" cy="583335"/>
          </a:xfrm>
          <a:prstGeom prst="roundRect">
            <a:avLst>
              <a:gd name="adj" fmla="val 7500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05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構造化で絞り込み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（部品番号で候補を限定）</a:t>
            </a:r>
          </a:p>
          <a:p>
            <a:pPr algn="ctr">
              <a:lnSpc>
                <a:spcPts val="105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SELECT … WHERE part_no=?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210436" y="3915634"/>
            <a:ext cx="1254170" cy="510418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icon material:database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4186" y="4010426"/>
            <a:ext cx="306251" cy="32083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575020" y="3944801"/>
            <a:ext cx="875002" cy="452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050"/>
              </a:lnSpc>
            </a:pPr>
            <a:r>
              <a:rPr sz="800" b="1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N-PLUS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（TOS／Sequence／</a:t>
            </a:r>
          </a:p>
          <a:p>
            <a:pPr algn="l">
              <a:lnSpc>
                <a:spcPts val="1050"/>
              </a:lnSpc>
            </a:pPr>
            <a:r>
              <a:rPr sz="6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　MakeProcess 等）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27103" y="4681261"/>
            <a:ext cx="1822921" cy="656252"/>
          </a:xfrm>
          <a:prstGeom prst="roundRect">
            <a:avLst>
              <a:gd name="adj" fmla="val 6666"/>
            </a:avLst>
          </a:prstGeom>
          <a:solidFill>
            <a:srgbClr val="DCEBFA"/>
          </a:solidFill>
          <a:ln w="10938">
            <a:solidFill>
              <a:srgbClr val="5B8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全文 ＋ ベクトル検索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（工程・作業内容の類似検索）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RRF統合 ＋ 必須条件フィルタ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295857" y="4608344"/>
            <a:ext cx="1604170" cy="816669"/>
          </a:xfrm>
          <a:prstGeom prst="roundRect">
            <a:avLst>
              <a:gd name="adj" fmla="val 5357"/>
            </a:avLst>
          </a:prstGeom>
          <a:solidFill>
            <a:srgbClr val="EEF5FC"/>
          </a:solidFill>
          <a:ln w="10938">
            <a:solidFill>
              <a:srgbClr val="3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ctr">
              <a:lnSpc>
                <a:spcPts val="1100"/>
              </a:lnSpc>
            </a:pPr>
            <a:r>
              <a:rPr sz="8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LLMで説明・比較生成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（参照ID付き）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・類似工程の理由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・候補の比較</a:t>
            </a:r>
          </a:p>
          <a:p>
            <a:pPr algn="ctr">
              <a:lnSpc>
                <a:spcPts val="1100"/>
              </a:lnSpc>
            </a:pPr>
            <a:r>
              <a:rPr sz="7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・適用上の注意 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27103" y="5614596"/>
            <a:ext cx="3572925" cy="991669"/>
          </a:xfrm>
          <a:prstGeom prst="roundRect">
            <a:avLst>
              <a:gd name="adj" fmla="val 4411"/>
            </a:avLst>
          </a:prstGeom>
          <a:solidFill>
            <a:srgbClr val="E3F2DC"/>
          </a:solidFill>
          <a:ln w="10938">
            <a:solidFill>
              <a:srgbClr val="8C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58333" tIns="14583" rIns="58333" bIns="14583">
            <a:noAutofit/>
          </a:bodyPr>
          <a:lstStyle/>
          <a:p>
            <a:pPr algn="l">
              <a:lnSpc>
                <a:spcPts val="1450"/>
              </a:lnSpc>
            </a:pPr>
            <a:r>
              <a:rPr sz="9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結果表示（絞り込み後の候補一覧＋比較）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・候補一覧（類似度順）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・一致した条件／類似する点／未確認事項</a:t>
            </a:r>
          </a:p>
          <a:p>
            <a:pPr algn="l">
              <a:lnSpc>
                <a:spcPts val="1450"/>
              </a:lnSpc>
            </a:pPr>
            <a:r>
              <a:rPr sz="8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・原本リンク（N-PLUS画面）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529191" y="2406256"/>
            <a:ext cx="0" cy="14583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529191" y="3033340"/>
            <a:ext cx="0" cy="131251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529191" y="3733342"/>
            <a:ext cx="0" cy="14583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587525" y="3733342"/>
            <a:ext cx="583335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存在する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981276" y="3448966"/>
            <a:ext cx="116666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097942" y="3004174"/>
            <a:ext cx="875002" cy="14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存在しない</a:t>
            </a:r>
          </a:p>
        </p:txBody>
      </p:sp>
      <p:sp>
        <p:nvSpPr>
          <p:cNvPr id="80" name="Freeform 79"/>
          <p:cNvSpPr/>
          <p:nvPr/>
        </p:nvSpPr>
        <p:spPr>
          <a:xfrm>
            <a:off x="8990646" y="2625006"/>
            <a:ext cx="1086461" cy="823960"/>
          </a:xfrm>
          <a:custGeom>
            <a:avLst/>
            <a:gdLst/>
            <a:ahLst/>
            <a:cxnLst/>
            <a:rect l="l" t="t" r="r" b="b"/>
            <a:pathLst>
              <a:path w="1086461" h="823960">
                <a:moveTo>
                  <a:pt x="1086461" y="823960"/>
                </a:moveTo>
                <a:lnTo>
                  <a:pt x="0" y="823960"/>
                </a:lnTo>
                <a:lnTo>
                  <a:pt x="0" y="0"/>
                </a:lnTo>
              </a:path>
            </a:pathLst>
          </a:custGeom>
          <a:noFill/>
          <a:ln w="10208">
            <a:solidFill>
              <a:srgbClr val="1F3A6E"/>
            </a:solidFill>
            <a:prstDash val="dash"/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9464605" y="4170843"/>
            <a:ext cx="204167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9238563" y="4462510"/>
            <a:ext cx="1290628" cy="218751"/>
          </a:xfrm>
          <a:custGeom>
            <a:avLst/>
            <a:gdLst/>
            <a:ahLst/>
            <a:cxnLst/>
            <a:rect l="l" t="t" r="r" b="b"/>
            <a:pathLst>
              <a:path w="1290628" h="218751">
                <a:moveTo>
                  <a:pt x="1290628" y="0"/>
                </a:moveTo>
                <a:lnTo>
                  <a:pt x="1290628" y="102084"/>
                </a:lnTo>
                <a:lnTo>
                  <a:pt x="0" y="102084"/>
                </a:lnTo>
                <a:lnTo>
                  <a:pt x="0" y="218751"/>
                </a:lnTo>
              </a:path>
            </a:pathLst>
          </a:custGeom>
          <a:noFill/>
          <a:ln w="16042">
            <a:solidFill>
              <a:srgbClr val="1F3A6E"/>
            </a:solidFill>
            <a:tailEnd type="triangl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10150024" y="5009387"/>
            <a:ext cx="145833" cy="0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9238563" y="5337512"/>
            <a:ext cx="0" cy="277084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097942" y="5425013"/>
            <a:ext cx="0" cy="189583"/>
          </a:xfrm>
          <a:prstGeom prst="line">
            <a:avLst/>
          </a:prstGeom>
          <a:ln w="16042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4.3  UC2：N-PLUS／TOS検索の出力イメージ（図4-3）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75000" y="525001"/>
            <a:ext cx="11841694" cy="231875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5000" y="525001"/>
            <a:ext cx="11841694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1667" y="525001"/>
            <a:ext cx="11695861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パターン1：部品・工程指定（取得データの直接表示）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834" y="918752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918" y="918752"/>
            <a:ext cx="4272927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TOS 基本情報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834" y="1181253"/>
          <a:ext cx="4666678" cy="1575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3753"/>
                <a:gridCol w="3572925"/>
              </a:tblGrid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LTS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LTS-000123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TOS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TOS-456789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A123-45678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ステータス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有効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Rev.3（2024/10/01）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S/N 001～100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75000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原本リンク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solidFill>
                      <a:srgbClr val="F3F6FA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00" b="0" i="0">
                          <a:solidFill>
                            <a:srgbClr val="1F5FD0"/>
                          </a:solidFill>
                          <a:latin typeface="Meiryo"/>
                          <a:ea typeface="Meiryo"/>
                          <a:cs typeface="Meiryo"/>
                        </a:rPr>
                        <a:t>N-PLUSで開く</a:t>
                      </a:r>
                    </a:p>
                  </a:txBody>
                  <a:tcPr marL="72917" marT="14583" marR="72917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279179" y="918752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81263" y="918752"/>
            <a:ext cx="6460432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関連シーケンス／工程一覧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279179" y="1181253"/>
          <a:ext cx="6562515" cy="109375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02085"/>
                <a:gridCol w="1458337"/>
                <a:gridCol w="2916673"/>
                <a:gridCol w="1385420"/>
              </a:tblGrid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Seq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工数(h)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2.0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110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面取り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0.5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検査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0.3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1875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58333" marT="14583" marR="58333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75000" y="2945840"/>
            <a:ext cx="5877097" cy="379167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5000" y="2945840"/>
            <a:ext cx="5877097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67" y="2945840"/>
            <a:ext cx="573126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パターン2：類似作業工程探索（候補一覧＋比較）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834" y="3339591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918" y="3339591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類似 TOS 候補一覧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834" y="3602092"/>
          <a:ext cx="5585431" cy="128333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584"/>
                <a:gridCol w="904169"/>
                <a:gridCol w="656252"/>
                <a:gridCol w="1545837"/>
                <a:gridCol w="627085"/>
                <a:gridCol w="656252"/>
                <a:gridCol w="831252"/>
              </a:tblGrid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作業内容（要約）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類似度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B987-65432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穴あけ加工（治具使用）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A123-45678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穴明け・リーマ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0.87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C111-22222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050～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320834" y="5060428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918" y="5060428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LLMによる比較説明（抜粋）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168" y="5337512"/>
            <a:ext cx="5468763" cy="1312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No.1は治具を使用した穴あけ加工で、工程条件が近似しています。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No.2は同一部品の類似工程で、作業手順が参考になります。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No.3は材質が異なるため、適用可否の確認が必要です。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39598" y="2945840"/>
            <a:ext cx="5877097" cy="3791675"/>
          </a:xfrm>
          <a:prstGeom prst="rect">
            <a:avLst/>
          </a:prstGeom>
          <a:solidFill>
            <a:srgbClr val="FFFFFF"/>
          </a:solidFill>
          <a:ln w="10938">
            <a:solidFill>
              <a:srgbClr val="1F3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39598" y="2945840"/>
            <a:ext cx="5877097" cy="3062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6265" y="2945840"/>
            <a:ext cx="5731263" cy="306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パターン3：部品・工程＋作業内容（絞り込み後の候補一覧＋比較）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5431" y="3339591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7515" y="3339591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絞り込み後の類似 TOS 候補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285431" y="3602092"/>
          <a:ext cx="5585431" cy="128333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4584"/>
                <a:gridCol w="904169"/>
                <a:gridCol w="656252"/>
                <a:gridCol w="1545837"/>
                <a:gridCol w="627085"/>
                <a:gridCol w="656252"/>
                <a:gridCol w="831252"/>
              </a:tblGrid>
              <a:tr h="262501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TOS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作業内容（要約）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類似度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TOS-456789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溶接（TIG）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0.95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TOS-123456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210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溶接（スポット）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0.88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001～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TOS-789012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200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溶接（TIG・治具）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0.83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Rev.1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050～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  <a:tr h="2552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…</a:t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43750" marT="14583" marR="43750" marB="14583" anchor="ctr">
                    <a:lnB w="7292">
                      <a:solidFill>
                        <a:srgbClr val="C9D6E6"/>
                      </a:solidFill>
                    </a:lnB>
                    <a:lnT w="7292">
                      <a:solidFill>
                        <a:srgbClr val="C9D6E6"/>
                      </a:solidFill>
                    </a:lnT>
                    <a:lnR w="7292">
                      <a:solidFill>
                        <a:srgbClr val="C9D6E6"/>
                      </a:solidFill>
                    </a:lnR>
                    <a:lnL w="7292">
                      <a:solidFill>
                        <a:srgbClr val="C9D6E6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6285431" y="5060428"/>
            <a:ext cx="43750" cy="218751"/>
          </a:xfrm>
          <a:prstGeom prst="rect">
            <a:avLst/>
          </a:prstGeom>
          <a:solidFill>
            <a:srgbClr val="1F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7515" y="5060428"/>
            <a:ext cx="5483346" cy="218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LLMによる比較説明（抜粋）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3765" y="5337512"/>
            <a:ext cx="5468763" cy="1312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45834" indent="-145834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No.1は同一部品番号で溶接工程の作業条件が最も近いです。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No.2は工程番号が異なりますが、作業内容が類似しています。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（参照：TOS-xxxxx）</a:t>
            </a:r>
          </a:p>
          <a:p>
            <a:pPr algn="l" marL="145834" indent="-145834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治具の有無や適用範囲が異なるため、適用可否の確認が必要です。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
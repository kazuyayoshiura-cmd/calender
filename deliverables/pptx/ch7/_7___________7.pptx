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29167"/>
            <a:ext cx="11958361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表7-4　検索候補の共通データ構造（API間で受け渡す共通フォーマット）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" y="510418"/>
            <a:ext cx="11958361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検索・版判定・説明生成の各APIで共通して扱う「検索候補（1件）」のデータ構造を定義する。構造化・全文・ベクトルなど異なる検索方式の結果を統一フォーマットで扱い、</a:t>
            </a:r>
          </a:p>
          <a:p>
            <a:pPr algn="l">
              <a:lnSpc>
                <a:spcPts val="1600"/>
              </a:lnSpc>
            </a:pPr>
            <a:r>
              <a:rPr sz="10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以降の版・適用判定、根拠提示、生成に利用する。</a:t>
            </a:r>
          </a:p>
        </p:txBody>
      </p:sp>
      <p:graphicFrame>
        <p:nvGraphicFramePr>
          <p:cNvPr id="4" name="schema-table"/>
          <p:cNvGraphicFramePr>
            <a:graphicFrameLocks noGrp="1"/>
          </p:cNvGraphicFramePr>
          <p:nvPr/>
        </p:nvGraphicFramePr>
        <p:xfrm>
          <a:off x="160417" y="1035419"/>
          <a:ext cx="8327102" cy="49145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3751"/>
                <a:gridCol w="1283336"/>
                <a:gridCol w="947919"/>
                <a:gridCol w="437501"/>
                <a:gridCol w="2712506"/>
                <a:gridCol w="2552089"/>
              </a:tblGrid>
              <a:tr h="291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項目名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必須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説明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主な設定値・形式例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0E3F82"/>
                    </a:solidFill>
                  </a:tcPr>
                </a:tc>
              </a:tr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candidate_id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検索候補を一意に識別するID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（検索方式・データソース・元ID等を含む）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例：DOC-12345、TOS-9876-10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27708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data_source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データソース種別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N-PLUS / TOS / 共有文書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6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source_type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データの種類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構造化 / 文書 / その他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26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title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候補のタイトル（文書名・工程名等）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例：WPS W-55 Rev.C、作業工程 10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93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matched_conditions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object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検索時にマッチした条件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（質問から抽出・正規化した条件との対応）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{ "部品番号": "A123", "工程番号": "10", … }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393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similarity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number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検索スコア（0～1）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（ベクトル類似度・RRF後の統合スコア等）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0.0 ～ 1.0（例：0.87）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791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version_status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版の状態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latest / old / draft / unknown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applicability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適用判定の結果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applicable / not_applicable /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unverified / partial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7708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unverified_items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array&lt;string&gt;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適用判定で未確認・不明な項目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["号機", "機種", "発効日"]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393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source_ref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object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元データへの参照情報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{ "table": "WPS", "id": "W-55",</a:t>
                      </a:r>
                      <a:br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  "file_path": "\\...", "url": "...", "page": 12 }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54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evidence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array&lt;object&gt;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回答の根拠として利用する箇所の一覧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（本文・表・項番・ページ等）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[ { "type": "text", "page": 12, "section": "3.2",</a:t>
                      </a:r>
                      <a:br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    "text": "..." }, { "type": "table", "page": 15,</a:t>
                      </a:r>
                      <a:br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    "row": 3, "col": 2, "text": "..." } ]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excerpt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string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検索時にマッチした本文の抜粋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（ハイライト表示用）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例："機械加工前に…"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93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1050" b="1" i="0">
                          <a:solidFill>
                            <a:srgbClr val="1356B0"/>
                          </a:solidFill>
                          <a:latin typeface="Meiryo"/>
                          <a:ea typeface="Meiryo"/>
                          <a:cs typeface="Meiryo"/>
                        </a:rPr>
                        <a:t>metadata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87500" tIns="14583" rIns="14583" bIns="14583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object</a:t>
                      </a:r>
                    </a:p>
                  </a:txBody>
                  <a:tcPr marL="87500" marT="14583" marR="14583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その他のメタデータ（更新日・ファイル種別・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 等、表示に必要な情報）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{ "rev": "C", "effective_date": "2025-06-01",</a:t>
                      </a:r>
                      <a:br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  "file_type": "PDF", "更新日": "2025-06-10" }</a:t>
                      </a:r>
                    </a:p>
                  </a:txBody>
                  <a:tcPr marL="87500" marT="14583" marR="29167" marB="14583" anchor="ctr">
                    <a:lnB w="14583">
                      <a:solidFill>
                        <a:srgbClr val="FFFFFF"/>
                      </a:solidFill>
                    </a:lnB>
                    <a:lnT w="14583">
                      <a:solidFill>
                        <a:srgbClr val="FFFFFF"/>
                      </a:solidFill>
                    </a:lnT>
                    <a:lnR w="14583">
                      <a:solidFill>
                        <a:srgbClr val="FFFFFF"/>
                      </a:solidFill>
                    </a:lnR>
                    <a:lnL w="14583">
                      <a:solidFill>
                        <a:srgbClr val="FFFFFF"/>
                      </a:solidFill>
                    </a:lnL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89603" y="1035419"/>
            <a:ext cx="3456258" cy="5031262"/>
          </a:xfrm>
          <a:prstGeom prst="roundRect">
            <a:avLst>
              <a:gd name="adj" fmla="val 1265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9603" y="1035419"/>
            <a:ext cx="3456258" cy="291667"/>
          </a:xfrm>
          <a:prstGeom prst="roundRect">
            <a:avLst>
              <a:gd name="adj" fmla="val 15000"/>
            </a:avLst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検索候補のJSON例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6270" y="1370837"/>
            <a:ext cx="3281258" cy="466667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"candidate_id":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"DOC-12345",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"data_source":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"共有文書",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"source_type":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"文書",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"title":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"WPS W-55 Rev.C",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"matched_conditions": {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"部品番号":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"A123",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"工程番号":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"10",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"検索語":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"WPS"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"similarity": </a:t>
            </a:r>
            <a:r>
              <a:rPr sz="650" b="0" i="0">
                <a:solidFill>
                  <a:srgbClr val="1E7B4E"/>
                </a:solidFill>
                <a:latin typeface="Consolas"/>
                <a:ea typeface="Consolas"/>
                <a:cs typeface="Consolas"/>
              </a:rPr>
              <a:t>0.87,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"version_status":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"latest",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"applicability":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"applicable",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"unverified_items": [],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"source_ref": {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"file_path":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"\\share\manual\WPS_W-55.pdf",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"page": </a:t>
            </a:r>
            <a:r>
              <a:rPr sz="650" b="0" i="0">
                <a:solidFill>
                  <a:srgbClr val="1E7B4E"/>
                </a:solidFill>
                <a:latin typeface="Consolas"/>
                <a:ea typeface="Consolas"/>
                <a:cs typeface="Consolas"/>
              </a:rPr>
              <a:t>12,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"doc_id":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"WPS_W-55",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"rev":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"C"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"evidence": [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"type":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"text",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"page": </a:t>
            </a:r>
            <a:r>
              <a:rPr sz="650" b="0" i="0">
                <a:solidFill>
                  <a:srgbClr val="1E7B4E"/>
                </a:solidFill>
                <a:latin typeface="Consolas"/>
                <a:ea typeface="Consolas"/>
                <a:cs typeface="Consolas"/>
              </a:rPr>
              <a:t>12,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"section":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"3.2",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"text":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"機械加工前に…"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},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"type":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"table",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"page": </a:t>
            </a:r>
            <a:r>
              <a:rPr sz="650" b="0" i="0">
                <a:solidFill>
                  <a:srgbClr val="1E7B4E"/>
                </a:solidFill>
                <a:latin typeface="Consolas"/>
                <a:ea typeface="Consolas"/>
                <a:cs typeface="Consolas"/>
              </a:rPr>
              <a:t>15,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"row": </a:t>
            </a:r>
            <a:r>
              <a:rPr sz="650" b="0" i="0">
                <a:solidFill>
                  <a:srgbClr val="1E7B4E"/>
                </a:solidFill>
                <a:latin typeface="Consolas"/>
                <a:ea typeface="Consolas"/>
                <a:cs typeface="Consolas"/>
              </a:rPr>
              <a:t>3,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"col": </a:t>
            </a:r>
            <a:r>
              <a:rPr sz="650" b="0" i="0">
                <a:solidFill>
                  <a:srgbClr val="1E7B4E"/>
                </a:solidFill>
                <a:latin typeface="Consolas"/>
                <a:ea typeface="Consolas"/>
                <a:cs typeface="Consolas"/>
              </a:rPr>
              <a:t>2,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  "text":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"…"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],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"excerpt":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"機械加工前に治具を確認する…",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"metadata": {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"rev":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"C",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"effective_date":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"2025-06-01",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"file_type":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"PDF",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  "更新日": </a:t>
            </a:r>
            <a:r>
              <a:rPr sz="650" b="0" i="0">
                <a:solidFill>
                  <a:srgbClr val="C8302C"/>
                </a:solidFill>
                <a:latin typeface="Consolas"/>
                <a:ea typeface="Consolas"/>
                <a:cs typeface="Consolas"/>
              </a:rPr>
              <a:t>"2025-06-10"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lnSpc>
                <a:spcPts val="850"/>
              </a:lnSpc>
            </a:pPr>
            <a:r>
              <a:rPr sz="650" b="0" i="0">
                <a:solidFill>
                  <a:srgbClr val="1F3A6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417" y="6125014"/>
            <a:ext cx="7131267" cy="670835"/>
          </a:xfrm>
          <a:prstGeom prst="roundRect">
            <a:avLst>
              <a:gd name="adj" fmla="val 6521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0417" y="6125014"/>
            <a:ext cx="1093753" cy="670835"/>
          </a:xfrm>
          <a:prstGeom prst="roundRect">
            <a:avLst>
              <a:gd name="adj" fmla="val 6521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azure:app-configurat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917" y="6285431"/>
            <a:ext cx="350001" cy="3500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668" y="6125014"/>
            <a:ext cx="612501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設計方針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670" y="6154181"/>
            <a:ext cx="5891680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構造化検索・全文検索・ベクトル検索 など、すべての検索方式の結果を同一フォーマットに変換する。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版・適用判定（VA）で付与する version_status / applicability を含める。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evidence により回答の根拠箇所（本文・表・項番・ページ等）を明示し、生成文はこの情報に基づいて作成する。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API 間（/search → /version-check → /evidence → /explain）で共通して利用する。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0017" y="6125014"/>
            <a:ext cx="4695844" cy="670835"/>
          </a:xfrm>
          <a:prstGeom prst="roundRect">
            <a:avLst>
              <a:gd name="adj" fmla="val 6521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50017" y="6125014"/>
            <a:ext cx="1093753" cy="670835"/>
          </a:xfrm>
          <a:prstGeom prst="roundRect">
            <a:avLst>
              <a:gd name="adj" fmla="val 6521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azure:fil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7517" y="6285431"/>
            <a:ext cx="350001" cy="3500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31268" y="6125014"/>
            <a:ext cx="612501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270" y="6154181"/>
            <a:ext cx="3456258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必須：全ケースで必要な項目、△：必要に応じて設定する項目。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unverified_items がある場合、生成時に「適用未確認」と明示する。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metadata は表示要件に応じて拡張可能（種別、更新日等）。</a:t>
            </a:r>
          </a:p>
          <a:p>
            <a:pPr algn="l" marL="94792" indent="-94792">
              <a:lnSpc>
                <a:spcPts val="1200"/>
              </a:lnSpc>
              <a:buFont typeface="Arial"/>
              <a:buChar char="•"/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実際の実装では、キー名や値は API 仕様書で詳細に定義する。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
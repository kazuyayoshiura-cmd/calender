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10.svg" ContentType="image/svg+xml"/>
  <Override PartName="/ppt/media/icon_svg11.svg" ContentType="image/svg+xml"/>
  <Override PartName="/ppt/media/icon_svg12.svg" ContentType="image/svg+xml"/>
  <Override PartName="/ppt/media/icon_svg13.svg" ContentType="image/svg+xml"/>
  <Override PartName="/ppt/media/icon_svg14.svg" ContentType="image/svg+xml"/>
  <Override PartName="/ppt/media/icon_svg15.svg" ContentType="image/svg+xml"/>
  <Override PartName="/ppt/media/icon_svg16.svg" ContentType="image/svg+xml"/>
  <Override PartName="/ppt/media/icon_svg17.svg" ContentType="image/svg+xml"/>
  <Override PartName="/ppt/media/icon_svg18.svg" ContentType="image/svg+xml"/>
  <Override PartName="/ppt/media/icon_svg19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Relationship Id="rId14" Type="http://schemas.openxmlformats.org/officeDocument/2006/relationships/image" Target="../media/image7.png"/><Relationship Id="rId15" Type="http://schemas.openxmlformats.org/officeDocument/2006/relationships/image" Target="../media/icon_svg7.svg"/><Relationship Id="rId16" Type="http://schemas.openxmlformats.org/officeDocument/2006/relationships/image" Target="../media/image8.png"/><Relationship Id="rId17" Type="http://schemas.openxmlformats.org/officeDocument/2006/relationships/image" Target="../media/icon_svg8.svg"/><Relationship Id="rId18" Type="http://schemas.openxmlformats.org/officeDocument/2006/relationships/image" Target="../media/image9.png"/><Relationship Id="rId19" Type="http://schemas.openxmlformats.org/officeDocument/2006/relationships/image" Target="../media/icon_svg9.svg"/><Relationship Id="rId20" Type="http://schemas.openxmlformats.org/officeDocument/2006/relationships/image" Target="../media/image10.png"/><Relationship Id="rId21" Type="http://schemas.openxmlformats.org/officeDocument/2006/relationships/image" Target="../media/icon_svg10.svg"/><Relationship Id="rId22" Type="http://schemas.openxmlformats.org/officeDocument/2006/relationships/image" Target="../media/image11.png"/><Relationship Id="rId23" Type="http://schemas.openxmlformats.org/officeDocument/2006/relationships/image" Target="../media/icon_svg11.svg"/><Relationship Id="rId24" Type="http://schemas.openxmlformats.org/officeDocument/2006/relationships/image" Target="../media/image12.png"/><Relationship Id="rId25" Type="http://schemas.openxmlformats.org/officeDocument/2006/relationships/image" Target="../media/icon_svg12.svg"/><Relationship Id="rId26" Type="http://schemas.openxmlformats.org/officeDocument/2006/relationships/image" Target="../media/image13.png"/><Relationship Id="rId27" Type="http://schemas.openxmlformats.org/officeDocument/2006/relationships/image" Target="../media/icon_svg13.svg"/><Relationship Id="rId28" Type="http://schemas.openxmlformats.org/officeDocument/2006/relationships/image" Target="../media/image14.png"/><Relationship Id="rId29" Type="http://schemas.openxmlformats.org/officeDocument/2006/relationships/image" Target="../media/icon_svg14.svg"/><Relationship Id="rId30" Type="http://schemas.openxmlformats.org/officeDocument/2006/relationships/image" Target="../media/image15.png"/><Relationship Id="rId31" Type="http://schemas.openxmlformats.org/officeDocument/2006/relationships/image" Target="../media/icon_svg15.svg"/><Relationship Id="rId32" Type="http://schemas.openxmlformats.org/officeDocument/2006/relationships/image" Target="../media/image16.png"/><Relationship Id="rId33" Type="http://schemas.openxmlformats.org/officeDocument/2006/relationships/image" Target="../media/icon_svg16.svg"/><Relationship Id="rId34" Type="http://schemas.openxmlformats.org/officeDocument/2006/relationships/image" Target="../media/image17.png"/><Relationship Id="rId35" Type="http://schemas.openxmlformats.org/officeDocument/2006/relationships/image" Target="../media/icon_svg17.svg"/><Relationship Id="rId36" Type="http://schemas.openxmlformats.org/officeDocument/2006/relationships/image" Target="../media/image18.png"/><Relationship Id="rId37" Type="http://schemas.openxmlformats.org/officeDocument/2006/relationships/image" Target="../media/icon_svg18.svg"/><Relationship Id="rId38" Type="http://schemas.openxmlformats.org/officeDocument/2006/relationships/image" Target="../media/image19.png"/><Relationship Id="rId39" Type="http://schemas.openxmlformats.org/officeDocument/2006/relationships/image" Target="../media/icon_svg19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000" y="58333"/>
            <a:ext cx="11958361" cy="481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図7-1　検索APIのエンドポイント構成とDifyからの呼出関係</a:t>
            </a:r>
          </a:p>
        </p:txBody>
      </p:sp>
      <p:pic>
        <p:nvPicPr>
          <p:cNvPr id="3" name="icon azure:users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250" y="2318755"/>
            <a:ext cx="437501" cy="4666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750" y="2814590"/>
            <a:ext cx="612501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利用者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7085" y="2537506"/>
            <a:ext cx="583334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3335" y="2012505"/>
            <a:ext cx="656252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</a:t>
            </a:r>
          </a:p>
          <a:p>
            <a:pPr algn="ctr">
              <a:lnSpc>
                <a:spcPts val="140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（自然言語）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554168" y="3237508"/>
            <a:ext cx="656251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5001" y="3368758"/>
            <a:ext cx="700002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回答</a:t>
            </a:r>
          </a:p>
          <a:p>
            <a:pPr algn="ctr">
              <a:lnSpc>
                <a:spcPts val="140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（根拠付き）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4170" y="685418"/>
            <a:ext cx="2172922" cy="4797928"/>
          </a:xfrm>
          <a:prstGeom prst="roundRect">
            <a:avLst>
              <a:gd name="adj" fmla="val 3355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9170" y="831252"/>
            <a:ext cx="1822921" cy="568751"/>
          </a:xfrm>
          <a:prstGeom prst="roundRect">
            <a:avLst>
              <a:gd name="adj" fmla="val 7692"/>
            </a:avLst>
          </a:prstGeom>
          <a:solidFill>
            <a:srgbClr val="135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85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Dify ワークフロー</a:t>
            </a:r>
          </a:p>
          <a:p>
            <a:pPr algn="ctr">
              <a:lnSpc>
                <a:spcPts val="1850"/>
              </a:lnSpc>
            </a:pPr>
            <a:r>
              <a:rPr sz="105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（表示・分岐のみ）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9170" y="1618754"/>
            <a:ext cx="1852088" cy="670835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 azure:language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1254" y="1764587"/>
            <a:ext cx="379168" cy="379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12505" y="1691671"/>
            <a:ext cx="1254170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1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入力</a:t>
            </a:r>
          </a:p>
          <a:p>
            <a:pPr algn="l">
              <a:lnSpc>
                <a:spcPts val="16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（質問）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9170" y="2552089"/>
            <a:ext cx="1852088" cy="670835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 azure:workflow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31254" y="2697923"/>
            <a:ext cx="379168" cy="379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12505" y="2625006"/>
            <a:ext cx="1254170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1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ワークフロー</a:t>
            </a:r>
          </a:p>
          <a:p>
            <a:pPr algn="l">
              <a:lnSpc>
                <a:spcPts val="16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（条件分岐・制御）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9170" y="3616675"/>
            <a:ext cx="1852088" cy="670835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azure:file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31254" y="3762509"/>
            <a:ext cx="379168" cy="3791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012505" y="3689592"/>
            <a:ext cx="1254170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1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結果の表示</a:t>
            </a:r>
          </a:p>
          <a:p>
            <a:pPr algn="l">
              <a:lnSpc>
                <a:spcPts val="16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（回答・根拠・候補）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55214" y="2304172"/>
            <a:ext cx="0" cy="233334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55214" y="3237508"/>
            <a:ext cx="0" cy="364584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341670" y="4550011"/>
            <a:ext cx="1997921" cy="860419"/>
          </a:xfrm>
          <a:prstGeom prst="roundRect">
            <a:avLst>
              <a:gd name="adj" fmla="val 5084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29170" y="4608344"/>
            <a:ext cx="1866671" cy="7583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7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Difyは表示・分岐のみを担当し、</a:t>
            </a:r>
          </a:p>
          <a:p>
            <a:pPr algn="l">
              <a:lnSpc>
                <a:spcPts val="17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検索・判定・生成・記録等の</a:t>
            </a:r>
          </a:p>
          <a:p>
            <a:pPr algn="l">
              <a:lnSpc>
                <a:spcPts val="17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確定処理はすべてAPI側で実施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0841" y="1954171"/>
            <a:ext cx="714585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0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API呼出</a:t>
            </a:r>
          </a:p>
          <a:p>
            <a:pPr algn="ctr">
              <a:lnSpc>
                <a:spcPts val="1500"/>
              </a:lnSpc>
            </a:pPr>
            <a:r>
              <a:rPr sz="10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（HTTP）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56258" y="2464589"/>
            <a:ext cx="714585" cy="0"/>
          </a:xfrm>
          <a:prstGeom prst="line">
            <a:avLst/>
          </a:prstGeom>
          <a:ln w="25521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456258" y="3237508"/>
            <a:ext cx="714585" cy="0"/>
          </a:xfrm>
          <a:prstGeom prst="line">
            <a:avLst/>
          </a:prstGeom>
          <a:ln w="18229">
            <a:solidFill>
              <a:srgbClr val="1F3A6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427091" y="3325008"/>
            <a:ext cx="758335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8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検索結果</a:t>
            </a:r>
          </a:p>
          <a:p>
            <a:pPr algn="ctr">
              <a:lnSpc>
                <a:spcPts val="1400"/>
              </a:lnSpc>
            </a:pPr>
            <a:r>
              <a:rPr sz="8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（構造化JSON）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14593" y="656252"/>
            <a:ext cx="4418760" cy="5133345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21875">
            <a:solidFill>
              <a:srgbClr val="0E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14593" y="656252"/>
            <a:ext cx="4418760" cy="627085"/>
          </a:xfrm>
          <a:prstGeom prst="roundRect">
            <a:avLst>
              <a:gd name="adj" fmla="val 6976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con azure:app-services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91679" y="729168"/>
            <a:ext cx="291667" cy="29166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41680" y="714585"/>
            <a:ext cx="2625006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検索API（FastAPI）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4593" y="1020836"/>
            <a:ext cx="4418760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（検索・判定・生成・記録の確定処理）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1260" y="1356253"/>
            <a:ext cx="4185426" cy="670835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31260" y="1356253"/>
            <a:ext cx="1166669" cy="670835"/>
          </a:xfrm>
          <a:prstGeom prst="roundRect">
            <a:avLst>
              <a:gd name="adj" fmla="val 4347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5010" y="1356253"/>
            <a:ext cx="1093753" cy="670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/interpret</a:t>
            </a:r>
          </a:p>
        </p:txBody>
      </p:sp>
      <p:pic>
        <p:nvPicPr>
          <p:cNvPr id="36" name="icon azure:form-recognizers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85430" y="1516670"/>
            <a:ext cx="350001" cy="3500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95848" y="1385420"/>
            <a:ext cx="2406256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LLM抽出 ＋ コード検証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5848" y="1575004"/>
            <a:ext cx="2406256" cy="4375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質問の意図解釈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検索条件の抽出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コード／用語の正規化・検証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31260" y="2100005"/>
            <a:ext cx="4185426" cy="670835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31260" y="2100005"/>
            <a:ext cx="1166669" cy="670835"/>
          </a:xfrm>
          <a:prstGeom prst="roundRect">
            <a:avLst>
              <a:gd name="adj" fmla="val 4347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5010" y="2100005"/>
            <a:ext cx="1093753" cy="670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/search</a:t>
            </a:r>
          </a:p>
        </p:txBody>
      </p:sp>
      <p:pic>
        <p:nvPicPr>
          <p:cNvPr id="42" name="icon azure:search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85430" y="2260422"/>
            <a:ext cx="350001" cy="35000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95848" y="2129172"/>
            <a:ext cx="2406256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SQL・全文・ベクトル検索 ＋ RRF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848" y="2318755"/>
            <a:ext cx="2406256" cy="4375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RDB（SQL検索）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ファイル（全文検索・ベクトル検索）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RRFによる統合ランキング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31260" y="2843757"/>
            <a:ext cx="4185426" cy="670835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31260" y="2843757"/>
            <a:ext cx="1166669" cy="670835"/>
          </a:xfrm>
          <a:prstGeom prst="roundRect">
            <a:avLst>
              <a:gd name="adj" fmla="val 4347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5010" y="2843757"/>
            <a:ext cx="1093753" cy="670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/version-check</a:t>
            </a:r>
          </a:p>
        </p:txBody>
      </p:sp>
      <p:pic>
        <p:nvPicPr>
          <p:cNvPr id="48" name="icon azure:versions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85430" y="3004174"/>
            <a:ext cx="350001" cy="35000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095848" y="2872923"/>
            <a:ext cx="2406256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版・適用判定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5848" y="3062507"/>
            <a:ext cx="2406256" cy="4375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版の新旧判定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適用範囲の確認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旧版・適用外の警告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31260" y="3587508"/>
            <a:ext cx="4185426" cy="670835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31260" y="3587508"/>
            <a:ext cx="1166669" cy="670835"/>
          </a:xfrm>
          <a:prstGeom prst="roundRect">
            <a:avLst>
              <a:gd name="adj" fmla="val 4347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5010" y="3587508"/>
            <a:ext cx="1093753" cy="670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/evidence</a:t>
            </a:r>
          </a:p>
        </p:txBody>
      </p:sp>
      <p:pic>
        <p:nvPicPr>
          <p:cNvPr id="54" name="icon azure:private-link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85430" y="3747925"/>
            <a:ext cx="350001" cy="35000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95848" y="3616675"/>
            <a:ext cx="2406256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source_ref 組立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5848" y="3806259"/>
            <a:ext cx="2406256" cy="4375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根拠情報の整理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根拠IDの採番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出典メタデータの付与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31260" y="4331260"/>
            <a:ext cx="4185426" cy="670835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31260" y="4331260"/>
            <a:ext cx="1166669" cy="670835"/>
          </a:xfrm>
          <a:prstGeom prst="roundRect">
            <a:avLst>
              <a:gd name="adj" fmla="val 4347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75010" y="4331260"/>
            <a:ext cx="1093753" cy="670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/explain</a:t>
            </a:r>
          </a:p>
        </p:txBody>
      </p:sp>
      <p:pic>
        <p:nvPicPr>
          <p:cNvPr id="60" name="icon azure:azure-openai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85430" y="4491677"/>
            <a:ext cx="350001" cy="350001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095848" y="4360427"/>
            <a:ext cx="2406256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根拠付き説明生成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5848" y="4550011"/>
            <a:ext cx="2406256" cy="4375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検索結果に基づく回答生成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根拠IDの引用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必要に応じた追質問の生成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31260" y="5075012"/>
            <a:ext cx="4185426" cy="670835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331260" y="5075012"/>
            <a:ext cx="1166669" cy="670835"/>
          </a:xfrm>
          <a:prstGeom prst="roundRect">
            <a:avLst>
              <a:gd name="adj" fmla="val 4347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75010" y="5075012"/>
            <a:ext cx="1093753" cy="670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/log</a:t>
            </a:r>
          </a:p>
        </p:txBody>
      </p:sp>
      <p:pic>
        <p:nvPicPr>
          <p:cNvPr id="66" name="icon azure:activity-log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85430" y="5235429"/>
            <a:ext cx="350001" cy="35000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95848" y="5104179"/>
            <a:ext cx="2406256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F-07 記録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5848" y="5293762"/>
            <a:ext cx="2406256" cy="4375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質問・検索条件・結果の記録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利用者・時刻・処理内容の保存</a:t>
            </a:r>
          </a:p>
          <a:p>
            <a:pPr algn="l" marL="102084" indent="-102084">
              <a:lnSpc>
                <a:spcPts val="11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監査・再現に必要な情報の保持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68771" y="685418"/>
            <a:ext cx="3120841" cy="5045845"/>
          </a:xfrm>
          <a:prstGeom prst="roundRect">
            <a:avLst>
              <a:gd name="adj" fmla="val 2336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68771" y="729168"/>
            <a:ext cx="3120841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データソース・AIリソース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85438" y="1152086"/>
            <a:ext cx="2902090" cy="74375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icon azure:azure-database-postgresql-server" descr="image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72938" y="1327086"/>
            <a:ext cx="393751" cy="393751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639606" y="1239586"/>
            <a:ext cx="1020836" cy="56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PostgreSQL</a:t>
            </a:r>
          </a:p>
          <a:p>
            <a:pPr algn="l">
              <a:lnSpc>
                <a:spcPts val="1600"/>
              </a:lnSpc>
            </a:pPr>
            <a:r>
              <a:rPr sz="8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（構造化データ）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89608" y="1210419"/>
            <a:ext cx="1283336" cy="62708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工程設計データ</a:t>
            </a:r>
            <a:br/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（N-PLUS／TOS 等）</a:t>
            </a:r>
          </a:p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マスタ・コード情報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662520" y="1523962"/>
            <a:ext cx="393751" cy="0"/>
          </a:xfrm>
          <a:prstGeom prst="line">
            <a:avLst/>
          </a:prstGeom>
          <a:ln w="18229">
            <a:solidFill>
              <a:srgbClr val="1F3A6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9085438" y="2056255"/>
            <a:ext cx="2902090" cy="74375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icon azure:cognitive-search" descr="image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72938" y="2231255"/>
            <a:ext cx="393751" cy="393751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639606" y="2143755"/>
            <a:ext cx="1020836" cy="56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OpenSearch</a:t>
            </a:r>
          </a:p>
          <a:p>
            <a:pPr algn="l">
              <a:lnSpc>
                <a:spcPts val="1600"/>
              </a:lnSpc>
            </a:pPr>
            <a:r>
              <a:rPr sz="8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（非構造化データ）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89608" y="2114588"/>
            <a:ext cx="1283336" cy="62708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社内ドキュメント</a:t>
            </a:r>
            <a:br/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（ファイルサーバー等）</a:t>
            </a:r>
          </a:p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全文検索・ベクトル検索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662520" y="2428131"/>
            <a:ext cx="393751" cy="0"/>
          </a:xfrm>
          <a:prstGeom prst="line">
            <a:avLst/>
          </a:prstGeom>
          <a:ln w="18229">
            <a:solidFill>
              <a:srgbClr val="1F3A6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085438" y="2989590"/>
            <a:ext cx="2902090" cy="74375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icon azure:azure-openai" descr="image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72938" y="3164591"/>
            <a:ext cx="393751" cy="393751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639606" y="3077090"/>
            <a:ext cx="1020836" cy="56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</a:t>
            </a:r>
          </a:p>
          <a:p>
            <a:pPr algn="l">
              <a:lnSpc>
                <a:spcPts val="1600"/>
              </a:lnSpc>
            </a:pPr>
            <a:r>
              <a:rPr sz="8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（推論・生成）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89608" y="3047924"/>
            <a:ext cx="1283336" cy="62708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質問解釈</a:t>
            </a:r>
          </a:p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回答生成</a:t>
            </a:r>
          </a:p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コード検証支援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8662520" y="3361466"/>
            <a:ext cx="393751" cy="0"/>
          </a:xfrm>
          <a:prstGeom prst="line">
            <a:avLst/>
          </a:prstGeom>
          <a:ln w="18229">
            <a:solidFill>
              <a:srgbClr val="1F3A6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085438" y="3937509"/>
            <a:ext cx="2902090" cy="70000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icon azure:cognitive-services" descr="image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172938" y="4090635"/>
            <a:ext cx="393751" cy="393751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9639606" y="4025009"/>
            <a:ext cx="1020836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Embedding</a:t>
            </a:r>
          </a:p>
          <a:p>
            <a:pPr algn="l">
              <a:lnSpc>
                <a:spcPts val="1600"/>
              </a:lnSpc>
            </a:pPr>
            <a:r>
              <a:rPr sz="8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（ベクトル化）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89608" y="3995843"/>
            <a:ext cx="1283336" cy="5833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文書のベクトル化</a:t>
            </a:r>
          </a:p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類似検索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8662520" y="4287510"/>
            <a:ext cx="393751" cy="0"/>
          </a:xfrm>
          <a:prstGeom prst="line">
            <a:avLst/>
          </a:prstGeom>
          <a:ln w="18229">
            <a:solidFill>
              <a:srgbClr val="1F3A6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9085438" y="4856261"/>
            <a:ext cx="2902090" cy="74375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icon azure:metrics" descr="image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172938" y="5031262"/>
            <a:ext cx="393751" cy="393751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9639606" y="4943761"/>
            <a:ext cx="1020836" cy="56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Reranker</a:t>
            </a:r>
          </a:p>
          <a:p>
            <a:pPr algn="l">
              <a:lnSpc>
                <a:spcPts val="1600"/>
              </a:lnSpc>
            </a:pPr>
            <a:r>
              <a:rPr sz="8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（再ランキング）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89608" y="4914595"/>
            <a:ext cx="1283336" cy="62708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検索結果の再順位付け</a:t>
            </a:r>
          </a:p>
          <a:p>
            <a:pPr algn="l" marL="102084" indent="-102084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関連度スコアの最適化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8662520" y="5228137"/>
            <a:ext cx="393751" cy="0"/>
          </a:xfrm>
          <a:prstGeom prst="line">
            <a:avLst/>
          </a:prstGeom>
          <a:ln w="18229">
            <a:solidFill>
              <a:srgbClr val="1F3A6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175000" y="5920847"/>
            <a:ext cx="11841694" cy="860419"/>
          </a:xfrm>
          <a:prstGeom prst="roundRect">
            <a:avLst>
              <a:gd name="adj" fmla="val 6779"/>
            </a:avLst>
          </a:prstGeom>
          <a:solidFill>
            <a:srgbClr val="E6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306251" y="6022931"/>
            <a:ext cx="2202088" cy="656252"/>
          </a:xfrm>
          <a:prstGeom prst="roundRect">
            <a:avLst>
              <a:gd name="adj" fmla="val 6666"/>
            </a:avLst>
          </a:prstGeom>
          <a:solidFill>
            <a:srgbClr val="0E3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950"/>
              </a:lnSpc>
            </a:pPr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根拠IDとログの横串管理</a:t>
            </a:r>
          </a:p>
          <a:p>
            <a:pPr algn="ctr">
              <a:lnSpc>
                <a:spcPts val="1950"/>
              </a:lnSpc>
            </a:pPr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（トレーサビリティ）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800007" y="6037514"/>
            <a:ext cx="2843757" cy="64166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icon azure:file" descr="image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916673" y="6168764"/>
            <a:ext cx="364584" cy="364584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3325008" y="6095848"/>
            <a:ext cx="962502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検索結果</a:t>
            </a:r>
          </a:p>
          <a:p>
            <a:pPr algn="l">
              <a:lnSpc>
                <a:spcPts val="1600"/>
              </a:lnSpc>
            </a:pPr>
            <a:r>
              <a:rPr sz="7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（候補リスト）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02093" y="6081264"/>
            <a:ext cx="1327086" cy="56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根拠ID（source_ref_id）</a:t>
            </a:r>
          </a:p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出典情報・スコア・版・適用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095848" y="6037514"/>
            <a:ext cx="3047924" cy="64166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icon azure:private-link" descr="image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212514" y="6168764"/>
            <a:ext cx="364584" cy="364584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6620849" y="6095848"/>
            <a:ext cx="962502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根拠ID</a:t>
            </a:r>
          </a:p>
          <a:p>
            <a:pPr algn="l">
              <a:lnSpc>
                <a:spcPts val="1600"/>
              </a:lnSpc>
            </a:pPr>
            <a:r>
              <a:rPr sz="7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（source_ref_id）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97934" y="6081264"/>
            <a:ext cx="1531254" cy="56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/evidence で採番</a:t>
            </a:r>
          </a:p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各エンドポイントで共通利用</a:t>
            </a:r>
          </a:p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回答・ログに引用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552106" y="6037514"/>
            <a:ext cx="2333339" cy="64166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icon azure:log-analytics-workspaces" descr="image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668772" y="6168764"/>
            <a:ext cx="364584" cy="364584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10106273" y="6066681"/>
            <a:ext cx="1750004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利用ログ（F-07）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35440" y="6241681"/>
            <a:ext cx="1720837" cy="4375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94792" indent="-94792">
              <a:lnSpc>
                <a:spcPts val="1100"/>
              </a:lnSpc>
              <a:buFont typeface="Arial"/>
              <a:buChar char="•"/>
            </a:pP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/log で記録</a:t>
            </a:r>
          </a:p>
          <a:p>
            <a:pPr algn="l" marL="94792" indent="-94792">
              <a:lnSpc>
                <a:spcPts val="1100"/>
              </a:lnSpc>
              <a:buFont typeface="Arial"/>
              <a:buChar char="•"/>
            </a:pP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質問・検索条件・結果</a:t>
            </a:r>
          </a:p>
          <a:p>
            <a:pPr algn="l" marL="94792" indent="-94792">
              <a:lnSpc>
                <a:spcPts val="1100"/>
              </a:lnSpc>
              <a:buFont typeface="Arial"/>
              <a:buChar char="•"/>
            </a:pP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根拠ID・時刻・利用者 等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5643763" y="6358348"/>
            <a:ext cx="452085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143771" y="6358348"/>
            <a:ext cx="408335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4827095" y="5804180"/>
            <a:ext cx="0" cy="233334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839599" y="5804180"/>
            <a:ext cx="0" cy="233334"/>
          </a:xfrm>
          <a:prstGeom prst="line">
            <a:avLst/>
          </a:prstGeom>
          <a:ln w="18229">
            <a:solidFill>
              <a:srgbClr val="1F3A6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reeform 113"/>
          <p:cNvSpPr/>
          <p:nvPr/>
        </p:nvSpPr>
        <p:spPr>
          <a:xfrm>
            <a:off x="8210436" y="5804180"/>
            <a:ext cx="2318755" cy="233334"/>
          </a:xfrm>
          <a:custGeom>
            <a:avLst/>
            <a:gdLst/>
            <a:ahLst/>
            <a:cxnLst/>
            <a:rect l="l" t="t" r="r" b="b"/>
            <a:pathLst>
              <a:path w="2318755" h="233334">
                <a:moveTo>
                  <a:pt x="0" y="0"/>
                </a:moveTo>
                <a:lnTo>
                  <a:pt x="0" y="72917"/>
                </a:lnTo>
                <a:lnTo>
                  <a:pt x="2318755" y="72917"/>
                </a:lnTo>
                <a:lnTo>
                  <a:pt x="2318755" y="233334"/>
                </a:lnTo>
              </a:path>
            </a:pathLst>
          </a:custGeom>
          <a:noFill/>
          <a:ln w="18229">
            <a:solidFill>
              <a:srgbClr val="1F3A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
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con_svg1.svg" ContentType="image/svg+xml"/>
  <Override PartName="/ppt/media/icon_svg2.svg" ContentType="image/svg+xml"/>
  <Override PartName="/ppt/media/icon_svg3.svg" ContentType="image/svg+xml"/>
  <Override PartName="/ppt/media/icon_svg4.svg" ContentType="image/svg+xml"/>
  <Override PartName="/ppt/media/icon_svg5.svg" ContentType="image/svg+xml"/>
  <Override PartName="/ppt/media/icon_svg6.svg" ContentType="image/svg+xml"/>
  <Override PartName="/ppt/media/icon_svg7.svg" ContentType="image/svg+xml"/>
  <Override PartName="/ppt/media/icon_svg8.svg" ContentType="image/svg+xml"/>
  <Override PartName="/ppt/media/icon_svg9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61474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con_svg1.svg"/><Relationship Id="rId4" Type="http://schemas.openxmlformats.org/officeDocument/2006/relationships/image" Target="../media/image2.png"/><Relationship Id="rId5" Type="http://schemas.openxmlformats.org/officeDocument/2006/relationships/image" Target="../media/icon_svg2.svg"/><Relationship Id="rId6" Type="http://schemas.openxmlformats.org/officeDocument/2006/relationships/image" Target="../media/image3.png"/><Relationship Id="rId7" Type="http://schemas.openxmlformats.org/officeDocument/2006/relationships/image" Target="../media/icon_svg3.svg"/><Relationship Id="rId8" Type="http://schemas.openxmlformats.org/officeDocument/2006/relationships/image" Target="../media/image4.png"/><Relationship Id="rId9" Type="http://schemas.openxmlformats.org/officeDocument/2006/relationships/image" Target="../media/icon_svg4.svg"/><Relationship Id="rId10" Type="http://schemas.openxmlformats.org/officeDocument/2006/relationships/image" Target="../media/image5.png"/><Relationship Id="rId11" Type="http://schemas.openxmlformats.org/officeDocument/2006/relationships/image" Target="../media/icon_svg5.svg"/><Relationship Id="rId12" Type="http://schemas.openxmlformats.org/officeDocument/2006/relationships/image" Target="../media/image6.png"/><Relationship Id="rId13" Type="http://schemas.openxmlformats.org/officeDocument/2006/relationships/image" Target="../media/icon_svg6.svg"/><Relationship Id="rId14" Type="http://schemas.openxmlformats.org/officeDocument/2006/relationships/image" Target="../media/image7.png"/><Relationship Id="rId15" Type="http://schemas.openxmlformats.org/officeDocument/2006/relationships/image" Target="../media/icon_svg7.svg"/><Relationship Id="rId16" Type="http://schemas.openxmlformats.org/officeDocument/2006/relationships/image" Target="../media/image8.png"/><Relationship Id="rId17" Type="http://schemas.openxmlformats.org/officeDocument/2006/relationships/image" Target="../media/icon_svg8.svg"/><Relationship Id="rId18" Type="http://schemas.openxmlformats.org/officeDocument/2006/relationships/image" Target="../media/image9.png"/><Relationship Id="rId19" Type="http://schemas.openxmlformats.org/officeDocument/2006/relationships/image" Target="../media/icon_svg9.sv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75000" y="29167"/>
            <a:ext cx="11958361" cy="45208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2200" b="1" i="0">
                <a:solidFill>
                  <a:srgbClr val="1F3A6E"/>
                </a:solidFill>
                <a:latin typeface="Meiryo"/>
                <a:ea typeface="Meiryo"/>
                <a:cs typeface="Meiryo"/>
              </a:rPr>
              <a:t>表7-3　推奨製品・モデルと代替案（PoC評価で最終採否を決定）</a:t>
            </a:r>
          </a:p>
        </p:txBody>
      </p:sp>
      <p:graphicFrame>
        <p:nvGraphicFramePr>
          <p:cNvPr id="3" name="table"/>
          <p:cNvGraphicFramePr>
            <a:graphicFrameLocks noGrp="1"/>
          </p:cNvGraphicFramePr>
          <p:nvPr/>
        </p:nvGraphicFramePr>
        <p:xfrm>
          <a:off x="116667" y="510418"/>
          <a:ext cx="11987528" cy="6343766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595839"/>
                <a:gridCol w="3004174"/>
                <a:gridCol w="2902090"/>
                <a:gridCol w="3485425"/>
              </a:tblGrid>
              <a:tr h="306251"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ctr"/>
                      <a:r>
                        <a:rPr sz="1150" b="1" i="0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対象</a:t>
                      </a:r>
                    </a:p>
                  </a:txBody>
                  <a:tcPr marL="29167" marT="14583" marR="29167" marB="14583" anchor="ctr">
                    <a:lnB w="10938">
                      <a:solidFill>
                        <a:srgbClr val="D6E1EE"/>
                      </a:solidFill>
                    </a:lnB>
                    <a:lnT w="10938">
                      <a:solidFill>
                        <a:srgbClr val="D6E1EE"/>
                      </a:solidFill>
                    </a:lnT>
                    <a:lnR w="10938">
                      <a:solidFill>
                        <a:srgbClr val="D6E1EE"/>
                      </a:solidFill>
                    </a:lnR>
                    <a:lnL w="10938">
                      <a:solidFill>
                        <a:srgbClr val="D6E1EE"/>
                      </a:solidFill>
                    </a:lnL>
                    <a:solidFill>
                      <a:srgbClr val="0E3F82"/>
                    </a:solidFill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ctr"/>
                      <a:r>
                        <a:rPr sz="1150" b="1" i="0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推奨案</a:t>
                      </a:r>
                    </a:p>
                  </a:txBody>
                  <a:tcPr marL="29167" marT="14583" marR="29167" marB="14583" anchor="ctr">
                    <a:lnB w="10938">
                      <a:solidFill>
                        <a:srgbClr val="D6E1EE"/>
                      </a:solidFill>
                    </a:lnB>
                    <a:lnT w="10938">
                      <a:solidFill>
                        <a:srgbClr val="D6E1EE"/>
                      </a:solidFill>
                    </a:lnT>
                    <a:lnR w="10938">
                      <a:solidFill>
                        <a:srgbClr val="D6E1EE"/>
                      </a:solidFill>
                    </a:lnR>
                    <a:lnL w="10938">
                      <a:solidFill>
                        <a:srgbClr val="D6E1EE"/>
                      </a:solidFill>
                    </a:lnL>
                    <a:solidFill>
                      <a:srgbClr val="0E3F82"/>
                    </a:solidFill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ctr"/>
                      <a:r>
                        <a:rPr sz="1150" b="1" i="0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代替案</a:t>
                      </a:r>
                    </a:p>
                  </a:txBody>
                  <a:tcPr marL="29167" marT="14583" marR="29167" marB="14583" anchor="ctr">
                    <a:lnB w="10938">
                      <a:solidFill>
                        <a:srgbClr val="D6E1EE"/>
                      </a:solidFill>
                    </a:lnB>
                    <a:lnT w="10938">
                      <a:solidFill>
                        <a:srgbClr val="D6E1EE"/>
                      </a:solidFill>
                    </a:lnT>
                    <a:lnR w="10938">
                      <a:solidFill>
                        <a:srgbClr val="D6E1EE"/>
                      </a:solidFill>
                    </a:lnR>
                    <a:lnL w="10938">
                      <a:solidFill>
                        <a:srgbClr val="D6E1EE"/>
                      </a:solidFill>
                    </a:lnL>
                    <a:solidFill>
                      <a:srgbClr val="0E3F82"/>
                    </a:solidFill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ctr"/>
                      <a:r>
                        <a:rPr sz="1150" b="1" i="0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選定・切替の基準</a:t>
                      </a:r>
                      <a:r>
                        <a:rPr sz="850" b="1" i="0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（PoCでの評価ポイント）</a:t>
                      </a:r>
                    </a:p>
                  </a:txBody>
                  <a:tcPr marL="29167" marT="14583" marR="29167" marB="14583" anchor="ctr">
                    <a:lnB w="10938">
                      <a:solidFill>
                        <a:srgbClr val="D6E1EE"/>
                      </a:solidFill>
                    </a:lnB>
                    <a:lnT w="10938">
                      <a:solidFill>
                        <a:srgbClr val="D6E1EE"/>
                      </a:solidFill>
                    </a:lnT>
                    <a:lnR w="10938">
                      <a:solidFill>
                        <a:srgbClr val="D6E1EE"/>
                      </a:solidFill>
                    </a:lnR>
                    <a:lnL w="10938">
                      <a:solidFill>
                        <a:srgbClr val="D6E1EE"/>
                      </a:solidFill>
                    </a:lnL>
                    <a:solidFill>
                      <a:srgbClr val="0E3F82"/>
                    </a:solidFill>
                  </a:tcPr>
                </a:tc>
              </a:tr>
              <a:tr h="670835">
                <a:tc>
                  <a:txBody>
                    <a:bodyPr wrap="square" lIns="700002" tIns="14583" rIns="29167" bIns="14583" anchor="ctr">
                      <a:noAutofit/>
                    </a:bodyPr>
                    <a:lstStyle/>
                    <a:p>
                      <a:pPr algn="l">
                        <a:lnSpc>
                          <a:spcPts val="1700"/>
                        </a:lnSpc>
                      </a:pPr>
                      <a:r>
                        <a:rPr sz="1100" b="1" i="0">
                          <a:solidFill>
                            <a:srgbClr val="1F3A6E"/>
                          </a:solidFill>
                          <a:latin typeface="Meiryo"/>
                          <a:ea typeface="Meiryo"/>
                          <a:cs typeface="Meiryo"/>
                        </a:rPr>
                        <a:t>Dify</a:t>
                      </a:r>
                    </a:p>
                    <a:p>
                      <a:pPr algn="l">
                        <a:lnSpc>
                          <a:spcPts val="1700"/>
                        </a:lnSpc>
                      </a:pPr>
                      <a:r>
                        <a:rPr sz="850" b="0" i="0">
                          <a:solidFill>
                            <a:srgbClr val="1F3A6E"/>
                          </a:solidFill>
                          <a:latin typeface="Meiryo"/>
                          <a:ea typeface="Meiryo"/>
                          <a:cs typeface="Meiryo"/>
                        </a:rPr>
                        <a:t>（ワークフロー作成・実行基盤）</a:t>
                      </a:r>
                    </a:p>
                  </a:txBody>
                  <a:tcPr marL="700002" marT="14583" marR="29167" marB="14583" anchor="ctr">
                    <a:lnB w="10938">
                      <a:solidFill>
                        <a:srgbClr val="D6E1EE"/>
                      </a:solidFill>
                    </a:lnB>
                    <a:lnT w="10938">
                      <a:solidFill>
                        <a:srgbClr val="D6E1EE"/>
                      </a:solidFill>
                    </a:lnT>
                    <a:lnR w="10938">
                      <a:solidFill>
                        <a:srgbClr val="D6E1EE"/>
                      </a:solidFill>
                    </a:lnR>
                    <a:lnL w="10938">
                      <a:solidFill>
                        <a:srgbClr val="D6E1EE"/>
                      </a:solidFill>
                    </a:lnL>
                    <a:solidFill>
                      <a:srgbClr val="EAF3FC"/>
                    </a:solidFill>
                  </a:tcPr>
                </a:tc>
                <a:tc>
                  <a:txBody>
                    <a:bodyPr wrap="square" lIns="116667" tIns="14583" rIns="43750" bIns="14583" anchor="ctr">
                      <a:noAutofit/>
                    </a:bodyPr>
                    <a:lstStyle/>
                    <a:p>
                      <a:pPr algn="l">
                        <a:lnSpc>
                          <a:spcPts val="1400"/>
                        </a:lnSpc>
                      </a:pPr>
                      <a:r>
                        <a:rPr sz="1100" b="1" i="0">
                          <a:solidFill>
                            <a:srgbClr val="1356B0"/>
                          </a:solidFill>
                          <a:latin typeface="Meiryo"/>
                          <a:ea typeface="Meiryo"/>
                          <a:cs typeface="Meiryo"/>
                        </a:rPr>
                        <a:t>Dify</a:t>
                      </a:r>
                    </a:p>
                    <a:p>
                      <a:pPr algn="l">
                        <a:lnSpc>
                          <a:spcPts val="1400"/>
                        </a:lnSpc>
                      </a:pPr>
                      <a:r>
                        <a:rPr sz="85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・生産技術部員のワークフロー変更・作成</a:t>
                      </a:r>
                    </a:p>
                    <a:p>
                      <a:pPr algn="l">
                        <a:lnSpc>
                          <a:spcPts val="1400"/>
                        </a:lnSpc>
                      </a:pPr>
                      <a:r>
                        <a:rPr sz="85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・RAG／エージェントのオーケストレーション</a:t>
                      </a:r>
                    </a:p>
                  </a:txBody>
                  <a:tcPr marL="116667" marT="14583" marR="43750" marB="14583" anchor="ctr">
                    <a:lnB w="10938">
                      <a:solidFill>
                        <a:srgbClr val="D6E1EE"/>
                      </a:solidFill>
                    </a:lnB>
                    <a:lnT w="10938">
                      <a:solidFill>
                        <a:srgbClr val="D6E1EE"/>
                      </a:solidFill>
                    </a:lnT>
                    <a:lnR w="10938">
                      <a:solidFill>
                        <a:srgbClr val="D6E1EE"/>
                      </a:solidFill>
                    </a:lnR>
                    <a:lnL w="10938">
                      <a:solidFill>
                        <a:srgbClr val="D6E1EE"/>
                      </a:solidFill>
                    </a:lnL>
                    <a:solidFill>
                      <a:srgbClr val="F1F7FD"/>
                    </a:solidFill>
                  </a:tcPr>
                </a:tc>
                <a:tc>
                  <a:txBody>
                    <a:bodyPr wrap="square" lIns="116667" tIns="14583" rIns="43750" bIns="14583" anchor="ctr">
                      <a:noAutofit/>
                    </a:bodyPr>
                    <a:lstStyle/>
                    <a:p>
                      <a:pPr algn="l">
                        <a:lnSpc>
                          <a:spcPts val="1400"/>
                        </a:lnSpc>
                      </a:pPr>
                      <a:r>
                        <a:rPr sz="1100" b="1" i="0">
                          <a:solidFill>
                            <a:srgbClr val="1356B0"/>
                          </a:solidFill>
                          <a:latin typeface="Meiryo"/>
                          <a:ea typeface="Meiryo"/>
                          <a:cs typeface="Meiryo"/>
                        </a:rPr>
                        <a:t>n8n</a:t>
                      </a:r>
                    </a:p>
                    <a:p>
                      <a:pPr algn="l">
                        <a:lnSpc>
                          <a:spcPts val="1400"/>
                        </a:lnSpc>
                      </a:pPr>
                      <a:r>
                        <a:rPr sz="85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・柔軟なワークフロー設計</a:t>
                      </a:r>
                    </a:p>
                    <a:p>
                      <a:pPr algn="l">
                        <a:lnSpc>
                          <a:spcPts val="1400"/>
                        </a:lnSpc>
                      </a:pPr>
                      <a:r>
                        <a:rPr sz="85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・既存システム連携に強い</a:t>
                      </a:r>
                    </a:p>
                  </a:txBody>
                  <a:tcPr marL="116667" marT="14583" marR="43750" marB="14583" anchor="ctr">
                    <a:lnB w="10938">
                      <a:solidFill>
                        <a:srgbClr val="D6E1EE"/>
                      </a:solidFill>
                    </a:lnB>
                    <a:lnT w="10938">
                      <a:solidFill>
                        <a:srgbClr val="D6E1EE"/>
                      </a:solidFill>
                    </a:lnT>
                    <a:lnR w="10938">
                      <a:solidFill>
                        <a:srgbClr val="D6E1EE"/>
                      </a:solidFill>
                    </a:lnR>
                    <a:lnL w="10938">
                      <a:solidFill>
                        <a:srgbClr val="D6E1EE"/>
                      </a:solidFill>
                    </a:lnL>
                    <a:solidFill>
                      <a:srgbClr val="F1F7FD"/>
                    </a:solidFill>
                  </a:tcPr>
                </a:tc>
                <a:tc>
                  <a:txBody>
                    <a:bodyPr wrap="square" lIns="175000" tIns="14583" rIns="43750" bIns="14583" anchor="ctr">
                      <a:noAutofit/>
                    </a:bodyPr>
                    <a:lstStyle/>
                    <a:p>
                      <a:pPr algn="l" marL="131250" indent="-131250">
                        <a:lnSpc>
                          <a:spcPts val="1450"/>
                        </a:lnSpc>
                        <a:buFont typeface="Arial"/>
                        <a:buChar char="•"/>
                      </a:pPr>
                      <a:r>
                        <a:rPr sz="90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現場ユーザーによるフロー作成・変更のしやすさ</a:t>
                      </a:r>
                    </a:p>
                    <a:p>
                      <a:pPr algn="l" marL="131250" indent="-131250">
                        <a:lnSpc>
                          <a:spcPts val="1450"/>
                        </a:lnSpc>
                        <a:buFont typeface="Arial"/>
                        <a:buChar char="•"/>
                      </a:pPr>
                      <a:r>
                        <a:rPr sz="90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必要機能（RAG、権限、運用管理）の充足度</a:t>
                      </a:r>
                    </a:p>
                    <a:p>
                      <a:pPr algn="l" marL="131250" indent="-131250">
                        <a:lnSpc>
                          <a:spcPts val="1450"/>
                        </a:lnSpc>
                        <a:buFont typeface="Arial"/>
                        <a:buChar char="•"/>
                      </a:pPr>
                      <a:r>
                        <a:rPr sz="90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運用コスト・保守性・社内スキルの適合性</a:t>
                      </a:r>
                    </a:p>
                  </a:txBody>
                  <a:tcPr marL="175000" marT="14583" marR="43750" marB="14583" anchor="ctr">
                    <a:lnB w="10938">
                      <a:solidFill>
                        <a:srgbClr val="D6E1EE"/>
                      </a:solidFill>
                    </a:lnB>
                    <a:lnT w="10938">
                      <a:solidFill>
                        <a:srgbClr val="D6E1EE"/>
                      </a:solidFill>
                    </a:lnT>
                    <a:lnR w="10938">
                      <a:solidFill>
                        <a:srgbClr val="D6E1EE"/>
                      </a:solidFill>
                    </a:lnR>
                    <a:lnL w="10938">
                      <a:solidFill>
                        <a:srgbClr val="D6E1EE"/>
                      </a:solidFill>
                    </a:lnL>
                    <a:solidFill>
                      <a:srgbClr val="EAF3FC"/>
                    </a:solidFill>
                  </a:tcPr>
                </a:tc>
              </a:tr>
              <a:tr h="670835">
                <a:tc>
                  <a:txBody>
                    <a:bodyPr wrap="square" lIns="700002" tIns="14583" rIns="29167" bIns="14583" anchor="ctr">
                      <a:noAutofit/>
                    </a:bodyPr>
                    <a:lstStyle/>
                    <a:p>
                      <a:pPr algn="l">
                        <a:lnSpc>
                          <a:spcPts val="1700"/>
                        </a:lnSpc>
                      </a:pPr>
                      <a:r>
                        <a:rPr sz="1100" b="1" i="0">
                          <a:solidFill>
                            <a:srgbClr val="1F3A6E"/>
                          </a:solidFill>
                          <a:latin typeface="Meiryo"/>
                          <a:ea typeface="Meiryo"/>
                          <a:cs typeface="Meiryo"/>
                        </a:rPr>
                        <a:t>FastAPI</a:t>
                      </a:r>
                    </a:p>
                    <a:p>
                      <a:pPr algn="l">
                        <a:lnSpc>
                          <a:spcPts val="1700"/>
                        </a:lnSpc>
                      </a:pPr>
                      <a:r>
                        <a:rPr sz="850" b="0" i="0">
                          <a:solidFill>
                            <a:srgbClr val="1F3A6E"/>
                          </a:solidFill>
                          <a:latin typeface="Meiryo"/>
                          <a:ea typeface="Meiryo"/>
                          <a:cs typeface="Meiryo"/>
                        </a:rPr>
                        <a:t>（検索・判定・生成の決定的処理）</a:t>
                      </a:r>
                    </a:p>
                  </a:txBody>
                  <a:tcPr marL="700002" marT="14583" marR="29167" marB="14583" anchor="ctr">
                    <a:lnB w="10938">
                      <a:solidFill>
                        <a:srgbClr val="D6E1EE"/>
                      </a:solidFill>
                    </a:lnB>
                    <a:lnT w="10938">
                      <a:solidFill>
                        <a:srgbClr val="D6E1EE"/>
                      </a:solidFill>
                    </a:lnT>
                    <a:lnR w="10938">
                      <a:solidFill>
                        <a:srgbClr val="D6E1EE"/>
                      </a:solidFill>
                    </a:lnR>
                    <a:lnL w="10938">
                      <a:solidFill>
                        <a:srgbClr val="D6E1EE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 lIns="116667" tIns="14583" rIns="43750" bIns="14583" anchor="ctr">
                      <a:noAutofit/>
                    </a:bodyPr>
                    <a:lstStyle/>
                    <a:p>
                      <a:pPr algn="l">
                        <a:lnSpc>
                          <a:spcPts val="1400"/>
                        </a:lnSpc>
                      </a:pPr>
                      <a:r>
                        <a:rPr sz="1100" b="1" i="0">
                          <a:solidFill>
                            <a:srgbClr val="1356B0"/>
                          </a:solidFill>
                          <a:latin typeface="Meiryo"/>
                          <a:ea typeface="Meiryo"/>
                          <a:cs typeface="Meiryo"/>
                        </a:rPr>
                        <a:t>FastAPI（Python）</a:t>
                      </a:r>
                    </a:p>
                    <a:p>
                      <a:pPr algn="l">
                        <a:lnSpc>
                          <a:spcPts val="1400"/>
                        </a:lnSpc>
                      </a:pPr>
                      <a:r>
                        <a:rPr sz="85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・検索 APIのエンドポイント実装</a:t>
                      </a:r>
                    </a:p>
                    <a:p>
                      <a:pPr algn="l">
                        <a:lnSpc>
                          <a:spcPts val="1400"/>
                        </a:lnSpc>
                      </a:pPr>
                      <a:r>
                        <a:rPr sz="85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・コード検証・版判定などの決定処理</a:t>
                      </a:r>
                    </a:p>
                  </a:txBody>
                  <a:tcPr marL="116667" marT="14583" marR="43750" marB="14583" anchor="ctr">
                    <a:lnB w="10938">
                      <a:solidFill>
                        <a:srgbClr val="D6E1EE"/>
                      </a:solidFill>
                    </a:lnB>
                    <a:lnT w="10938">
                      <a:solidFill>
                        <a:srgbClr val="D6E1EE"/>
                      </a:solidFill>
                    </a:lnT>
                    <a:lnR w="10938">
                      <a:solidFill>
                        <a:srgbClr val="D6E1EE"/>
                      </a:solidFill>
                    </a:lnR>
                    <a:lnL w="10938">
                      <a:solidFill>
                        <a:srgbClr val="D6E1EE"/>
                      </a:solidFill>
                    </a:lnL>
                    <a:solidFill>
                      <a:srgbClr val="F1F7FD"/>
                    </a:solidFill>
                  </a:tcPr>
                </a:tc>
                <a:tc>
                  <a:txBody>
                    <a:bodyPr wrap="square" lIns="116667" tIns="14583" rIns="43750" bIns="14583" anchor="ctr">
                      <a:noAutofit/>
                    </a:bodyPr>
                    <a:lstStyle/>
                    <a:p>
                      <a:pPr algn="l">
                        <a:lnSpc>
                          <a:spcPts val="1400"/>
                        </a:lnSpc>
                      </a:pPr>
                      <a:r>
                        <a:rPr sz="1100" b="1" i="0">
                          <a:solidFill>
                            <a:srgbClr val="1356B0"/>
                          </a:solidFill>
                          <a:latin typeface="Meiryo"/>
                          <a:ea typeface="Meiryo"/>
                          <a:cs typeface="Meiryo"/>
                        </a:rPr>
                        <a:t>Flask / Spring Boot</a:t>
                      </a:r>
                    </a:p>
                    <a:p>
                      <a:pPr algn="l">
                        <a:lnSpc>
                          <a:spcPts val="1400"/>
                        </a:lnSpc>
                      </a:pPr>
                      <a:r>
                        <a:rPr sz="85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・シンプルな構成（Flask）</a:t>
                      </a:r>
                    </a:p>
                    <a:p>
                      <a:pPr algn="l">
                        <a:lnSpc>
                          <a:spcPts val="1400"/>
                        </a:lnSpc>
                      </a:pPr>
                      <a:r>
                        <a:rPr sz="85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・既存資産との親和性（Spring Boot）</a:t>
                      </a:r>
                    </a:p>
                  </a:txBody>
                  <a:tcPr marL="116667" marT="14583" marR="43750" marB="14583" anchor="ctr">
                    <a:lnB w="10938">
                      <a:solidFill>
                        <a:srgbClr val="D6E1EE"/>
                      </a:solidFill>
                    </a:lnB>
                    <a:lnT w="10938">
                      <a:solidFill>
                        <a:srgbClr val="D6E1EE"/>
                      </a:solidFill>
                    </a:lnT>
                    <a:lnR w="10938">
                      <a:solidFill>
                        <a:srgbClr val="D6E1EE"/>
                      </a:solidFill>
                    </a:lnR>
                    <a:lnL w="10938">
                      <a:solidFill>
                        <a:srgbClr val="D6E1EE"/>
                      </a:solidFill>
                    </a:lnL>
                    <a:solidFill>
                      <a:srgbClr val="F1F7FD"/>
                    </a:solidFill>
                  </a:tcPr>
                </a:tc>
                <a:tc>
                  <a:txBody>
                    <a:bodyPr wrap="square" lIns="175000" tIns="14583" rIns="43750" bIns="14583" anchor="ctr">
                      <a:noAutofit/>
                    </a:bodyPr>
                    <a:lstStyle/>
                    <a:p>
                      <a:pPr algn="l" marL="131250" indent="-131250">
                        <a:lnSpc>
                          <a:spcPts val="1450"/>
                        </a:lnSpc>
                        <a:buFont typeface="Arial"/>
                        <a:buChar char="•"/>
                      </a:pPr>
                      <a:r>
                        <a:rPr sz="90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開発・保守のしやすさ、拡張性</a:t>
                      </a:r>
                    </a:p>
                    <a:p>
                      <a:pPr algn="l" marL="131250" indent="-131250">
                        <a:lnSpc>
                          <a:spcPts val="1450"/>
                        </a:lnSpc>
                        <a:buFont typeface="Arial"/>
                        <a:buChar char="•"/>
                      </a:pPr>
                      <a:r>
                        <a:rPr sz="90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セキュリティ対応、認証・監査ログ連携</a:t>
                      </a:r>
                    </a:p>
                    <a:p>
                      <a:pPr algn="l" marL="131250" indent="-131250">
                        <a:lnSpc>
                          <a:spcPts val="1450"/>
                        </a:lnSpc>
                        <a:buFont typeface="Arial"/>
                        <a:buChar char="•"/>
                      </a:pPr>
                      <a:r>
                        <a:rPr sz="90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社内標準との整合性</a:t>
                      </a:r>
                    </a:p>
                  </a:txBody>
                  <a:tcPr marL="175000" marT="14583" marR="43750" marB="14583" anchor="ctr">
                    <a:lnB w="10938">
                      <a:solidFill>
                        <a:srgbClr val="D6E1EE"/>
                      </a:solidFill>
                    </a:lnB>
                    <a:lnT w="10938">
                      <a:solidFill>
                        <a:srgbClr val="D6E1EE"/>
                      </a:solidFill>
                    </a:lnT>
                    <a:lnR w="10938">
                      <a:solidFill>
                        <a:srgbClr val="D6E1EE"/>
                      </a:solidFill>
                    </a:lnR>
                    <a:lnL w="10938">
                      <a:solidFill>
                        <a:srgbClr val="D6E1EE"/>
                      </a:solidFill>
                    </a:lnL>
                    <a:solidFill>
                      <a:srgbClr val="FFFFFF"/>
                    </a:solidFill>
                  </a:tcPr>
                </a:tc>
              </a:tr>
              <a:tr h="670835">
                <a:tc>
                  <a:txBody>
                    <a:bodyPr wrap="square" lIns="700002" tIns="14583" rIns="29167" bIns="14583" anchor="ctr">
                      <a:noAutofit/>
                    </a:bodyPr>
                    <a:lstStyle/>
                    <a:p>
                      <a:pPr algn="l">
                        <a:lnSpc>
                          <a:spcPts val="1700"/>
                        </a:lnSpc>
                      </a:pPr>
                      <a:r>
                        <a:rPr sz="1100" b="1" i="0">
                          <a:solidFill>
                            <a:srgbClr val="1F3A6E"/>
                          </a:solidFill>
                          <a:latin typeface="Meiryo"/>
                          <a:ea typeface="Meiryo"/>
                          <a:cs typeface="Meiryo"/>
                        </a:rPr>
                        <a:t>vLLM</a:t>
                      </a:r>
                    </a:p>
                    <a:p>
                      <a:pPr algn="l">
                        <a:lnSpc>
                          <a:spcPts val="1700"/>
                        </a:lnSpc>
                      </a:pPr>
                      <a:r>
                        <a:rPr sz="850" b="0" i="0">
                          <a:solidFill>
                            <a:srgbClr val="1F3A6E"/>
                          </a:solidFill>
                          <a:latin typeface="Meiryo"/>
                          <a:ea typeface="Meiryo"/>
                          <a:cs typeface="Meiryo"/>
                        </a:rPr>
                        <a:t>（LLM 推論基盤）</a:t>
                      </a:r>
                    </a:p>
                  </a:txBody>
                  <a:tcPr marL="700002" marT="14583" marR="29167" marB="14583" anchor="ctr">
                    <a:lnB w="10938">
                      <a:solidFill>
                        <a:srgbClr val="D6E1EE"/>
                      </a:solidFill>
                    </a:lnB>
                    <a:lnT w="10938">
                      <a:solidFill>
                        <a:srgbClr val="D6E1EE"/>
                      </a:solidFill>
                    </a:lnT>
                    <a:lnR w="10938">
                      <a:solidFill>
                        <a:srgbClr val="D6E1EE"/>
                      </a:solidFill>
                    </a:lnR>
                    <a:lnL w="10938">
                      <a:solidFill>
                        <a:srgbClr val="D6E1EE"/>
                      </a:solidFill>
                    </a:lnL>
                    <a:solidFill>
                      <a:srgbClr val="EAF3FC"/>
                    </a:solidFill>
                  </a:tcPr>
                </a:tc>
                <a:tc>
                  <a:txBody>
                    <a:bodyPr wrap="square" lIns="116667" tIns="14583" rIns="43750" bIns="14583" anchor="ctr">
                      <a:noAutofit/>
                    </a:bodyPr>
                    <a:lstStyle/>
                    <a:p>
                      <a:pPr algn="l">
                        <a:lnSpc>
                          <a:spcPts val="1400"/>
                        </a:lnSpc>
                      </a:pPr>
                      <a:r>
                        <a:rPr sz="1100" b="1" i="0">
                          <a:solidFill>
                            <a:srgbClr val="1356B0"/>
                          </a:solidFill>
                          <a:latin typeface="Meiryo"/>
                          <a:ea typeface="Meiryo"/>
                          <a:cs typeface="Meiryo"/>
                        </a:rPr>
                        <a:t>vLLM</a:t>
                      </a:r>
                    </a:p>
                    <a:p>
                      <a:pPr algn="l">
                        <a:lnSpc>
                          <a:spcPts val="1400"/>
                        </a:lnSpc>
                      </a:pPr>
                      <a:r>
                        <a:rPr sz="85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・高スループットな LLM 推論</a:t>
                      </a:r>
                    </a:p>
                    <a:p>
                      <a:pPr algn="l">
                        <a:lnSpc>
                          <a:spcPts val="1400"/>
                        </a:lnSpc>
                      </a:pPr>
                      <a:r>
                        <a:rPr sz="85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・オンプレ（DGX Spark）での運用適合</a:t>
                      </a:r>
                    </a:p>
                  </a:txBody>
                  <a:tcPr marL="116667" marT="14583" marR="43750" marB="14583" anchor="ctr">
                    <a:lnB w="10938">
                      <a:solidFill>
                        <a:srgbClr val="D6E1EE"/>
                      </a:solidFill>
                    </a:lnB>
                    <a:lnT w="10938">
                      <a:solidFill>
                        <a:srgbClr val="D6E1EE"/>
                      </a:solidFill>
                    </a:lnT>
                    <a:lnR w="10938">
                      <a:solidFill>
                        <a:srgbClr val="D6E1EE"/>
                      </a:solidFill>
                    </a:lnR>
                    <a:lnL w="10938">
                      <a:solidFill>
                        <a:srgbClr val="D6E1EE"/>
                      </a:solidFill>
                    </a:lnL>
                    <a:solidFill>
                      <a:srgbClr val="F1F7FD"/>
                    </a:solidFill>
                  </a:tcPr>
                </a:tc>
                <a:tc>
                  <a:txBody>
                    <a:bodyPr wrap="square" lIns="116667" tIns="14583" rIns="43750" bIns="14583" anchor="ctr">
                      <a:noAutofit/>
                    </a:bodyPr>
                    <a:lstStyle/>
                    <a:p>
                      <a:pPr algn="l">
                        <a:lnSpc>
                          <a:spcPts val="1400"/>
                        </a:lnSpc>
                      </a:pPr>
                      <a:r>
                        <a:rPr sz="1000" b="1" i="0">
                          <a:solidFill>
                            <a:srgbClr val="1356B0"/>
                          </a:solidFill>
                          <a:latin typeface="Meiryo"/>
                          <a:ea typeface="Meiryo"/>
                          <a:cs typeface="Meiryo"/>
                        </a:rPr>
                        <a:t>Text Generation Inference（TGI）</a:t>
                      </a:r>
                    </a:p>
                    <a:p>
                      <a:pPr algn="l">
                        <a:lnSpc>
                          <a:spcPts val="1400"/>
                        </a:lnSpc>
                      </a:pPr>
                      <a:r>
                        <a:rPr sz="1000" b="1" i="0">
                          <a:solidFill>
                            <a:srgbClr val="1356B0"/>
                          </a:solidFill>
                          <a:latin typeface="Meiryo"/>
                          <a:ea typeface="Meiryo"/>
                          <a:cs typeface="Meiryo"/>
                        </a:rPr>
                        <a:t>llama.cpp（軽量構成）</a:t>
                      </a:r>
                    </a:p>
                    <a:p>
                      <a:pPr algn="l">
                        <a:lnSpc>
                          <a:spcPts val="1400"/>
                        </a:lnSpc>
                      </a:pPr>
                      <a:r>
                        <a:rPr sz="85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・環境や規模に応じた選択肢</a:t>
                      </a:r>
                    </a:p>
                  </a:txBody>
                  <a:tcPr marL="116667" marT="14583" marR="43750" marB="14583" anchor="ctr">
                    <a:lnB w="10938">
                      <a:solidFill>
                        <a:srgbClr val="D6E1EE"/>
                      </a:solidFill>
                    </a:lnB>
                    <a:lnT w="10938">
                      <a:solidFill>
                        <a:srgbClr val="D6E1EE"/>
                      </a:solidFill>
                    </a:lnT>
                    <a:lnR w="10938">
                      <a:solidFill>
                        <a:srgbClr val="D6E1EE"/>
                      </a:solidFill>
                    </a:lnR>
                    <a:lnL w="10938">
                      <a:solidFill>
                        <a:srgbClr val="D6E1EE"/>
                      </a:solidFill>
                    </a:lnL>
                    <a:solidFill>
                      <a:srgbClr val="F1F7FD"/>
                    </a:solidFill>
                  </a:tcPr>
                </a:tc>
                <a:tc>
                  <a:txBody>
                    <a:bodyPr wrap="square" lIns="175000" tIns="14583" rIns="43750" bIns="14583" anchor="ctr">
                      <a:noAutofit/>
                    </a:bodyPr>
                    <a:lstStyle/>
                    <a:p>
                      <a:pPr algn="l" marL="131250" indent="-131250">
                        <a:lnSpc>
                          <a:spcPts val="1450"/>
                        </a:lnSpc>
                        <a:buFont typeface="Arial"/>
                        <a:buChar char="•"/>
                      </a:pPr>
                      <a:r>
                        <a:rPr sz="90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応答速度・同時利用性能</a:t>
                      </a:r>
                    </a:p>
                    <a:p>
                      <a:pPr algn="l" marL="131250" indent="-131250">
                        <a:lnSpc>
                          <a:spcPts val="1450"/>
                        </a:lnSpc>
                        <a:buFont typeface="Arial"/>
                        <a:buChar char="•"/>
                      </a:pPr>
                      <a:r>
                        <a:rPr sz="90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対応モデルの豊富さ</a:t>
                      </a:r>
                    </a:p>
                    <a:p>
                      <a:pPr algn="l" marL="131250" indent="-131250">
                        <a:lnSpc>
                          <a:spcPts val="1450"/>
                        </a:lnSpc>
                        <a:buFont typeface="Arial"/>
                        <a:buChar char="•"/>
                      </a:pPr>
                      <a:r>
                        <a:rPr sz="90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DGX Spark での動作安定性・運用コスト</a:t>
                      </a:r>
                    </a:p>
                  </a:txBody>
                  <a:tcPr marL="175000" marT="14583" marR="43750" marB="14583" anchor="ctr">
                    <a:lnB w="10938">
                      <a:solidFill>
                        <a:srgbClr val="D6E1EE"/>
                      </a:solidFill>
                    </a:lnB>
                    <a:lnT w="10938">
                      <a:solidFill>
                        <a:srgbClr val="D6E1EE"/>
                      </a:solidFill>
                    </a:lnT>
                    <a:lnR w="10938">
                      <a:solidFill>
                        <a:srgbClr val="D6E1EE"/>
                      </a:solidFill>
                    </a:lnR>
                    <a:lnL w="10938">
                      <a:solidFill>
                        <a:srgbClr val="D6E1EE"/>
                      </a:solidFill>
                    </a:lnL>
                    <a:solidFill>
                      <a:srgbClr val="EAF3FC"/>
                    </a:solidFill>
                  </a:tcPr>
                </a:tc>
              </a:tr>
              <a:tr h="670835">
                <a:tc>
                  <a:txBody>
                    <a:bodyPr wrap="square" lIns="700002" tIns="14583" rIns="29167" bIns="14583" anchor="ctr">
                      <a:noAutofit/>
                    </a:bodyPr>
                    <a:lstStyle/>
                    <a:p>
                      <a:pPr algn="l">
                        <a:lnSpc>
                          <a:spcPts val="1700"/>
                        </a:lnSpc>
                      </a:pPr>
                      <a:r>
                        <a:rPr sz="1100" b="1" i="0">
                          <a:solidFill>
                            <a:srgbClr val="1F3A6E"/>
                          </a:solidFill>
                          <a:latin typeface="Meiryo"/>
                          <a:ea typeface="Meiryo"/>
                          <a:cs typeface="Meiryo"/>
                        </a:rPr>
                        <a:t>llama.cpp</a:t>
                      </a:r>
                    </a:p>
                    <a:p>
                      <a:pPr algn="l">
                        <a:lnSpc>
                          <a:spcPts val="1700"/>
                        </a:lnSpc>
                      </a:pPr>
                      <a:r>
                        <a:rPr sz="850" b="0" i="0">
                          <a:solidFill>
                            <a:srgbClr val="1F3A6E"/>
                          </a:solidFill>
                          <a:latin typeface="Meiryo"/>
                          <a:ea typeface="Meiryo"/>
                          <a:cs typeface="Meiryo"/>
                        </a:rPr>
                        <a:t>（軽量LLM 推論）</a:t>
                      </a:r>
                    </a:p>
                  </a:txBody>
                  <a:tcPr marL="700002" marT="14583" marR="29167" marB="14583" anchor="ctr">
                    <a:lnB w="10938">
                      <a:solidFill>
                        <a:srgbClr val="D6E1EE"/>
                      </a:solidFill>
                    </a:lnB>
                    <a:lnT w="10938">
                      <a:solidFill>
                        <a:srgbClr val="D6E1EE"/>
                      </a:solidFill>
                    </a:lnT>
                    <a:lnR w="10938">
                      <a:solidFill>
                        <a:srgbClr val="D6E1EE"/>
                      </a:solidFill>
                    </a:lnR>
                    <a:lnL w="10938">
                      <a:solidFill>
                        <a:srgbClr val="D6E1EE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 lIns="116667" tIns="14583" rIns="43750" bIns="14583" anchor="ctr">
                      <a:noAutofit/>
                    </a:bodyPr>
                    <a:lstStyle/>
                    <a:p>
                      <a:pPr algn="l">
                        <a:lnSpc>
                          <a:spcPts val="1400"/>
                        </a:lnSpc>
                      </a:pPr>
                      <a:r>
                        <a:rPr sz="1100" b="1" i="0">
                          <a:solidFill>
                            <a:srgbClr val="1356B0"/>
                          </a:solidFill>
                          <a:latin typeface="Meiryo"/>
                          <a:ea typeface="Meiryo"/>
                          <a:cs typeface="Meiryo"/>
                        </a:rPr>
                        <a:t>llama.cpp</a:t>
                      </a:r>
                    </a:p>
                    <a:p>
                      <a:pPr algn="l">
                        <a:lnSpc>
                          <a:spcPts val="1400"/>
                        </a:lnSpc>
                      </a:pPr>
                      <a:r>
                        <a:rPr sz="85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・小～中規模モデルの軽量・安定推論</a:t>
                      </a:r>
                    </a:p>
                    <a:p>
                      <a:pPr algn="l">
                        <a:lnSpc>
                          <a:spcPts val="1400"/>
                        </a:lnSpc>
                      </a:pPr>
                      <a:r>
                        <a:rPr sz="85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・検証用途・比較評価に利用</a:t>
                      </a:r>
                    </a:p>
                  </a:txBody>
                  <a:tcPr marL="116667" marT="14583" marR="43750" marB="14583" anchor="ctr">
                    <a:lnB w="10938">
                      <a:solidFill>
                        <a:srgbClr val="D6E1EE"/>
                      </a:solidFill>
                    </a:lnB>
                    <a:lnT w="10938">
                      <a:solidFill>
                        <a:srgbClr val="D6E1EE"/>
                      </a:solidFill>
                    </a:lnT>
                    <a:lnR w="10938">
                      <a:solidFill>
                        <a:srgbClr val="D6E1EE"/>
                      </a:solidFill>
                    </a:lnR>
                    <a:lnL w="10938">
                      <a:solidFill>
                        <a:srgbClr val="D6E1EE"/>
                      </a:solidFill>
                    </a:lnL>
                    <a:solidFill>
                      <a:srgbClr val="F1F7FD"/>
                    </a:solidFill>
                  </a:tcPr>
                </a:tc>
                <a:tc>
                  <a:txBody>
                    <a:bodyPr wrap="square" lIns="116667" tIns="14583" rIns="43750" bIns="14583" anchor="ctr">
                      <a:noAutofit/>
                    </a:bodyPr>
                    <a:lstStyle/>
                    <a:p>
                      <a:pPr algn="l">
                        <a:lnSpc>
                          <a:spcPts val="1400"/>
                        </a:lnSpc>
                      </a:pPr>
                      <a:r>
                        <a:rPr sz="1100" b="1" i="0">
                          <a:solidFill>
                            <a:srgbClr val="1356B0"/>
                          </a:solidFill>
                          <a:latin typeface="Meiryo"/>
                          <a:ea typeface="Meiryo"/>
                          <a:cs typeface="Meiryo"/>
                        </a:rPr>
                        <a:t>Ollama / LM Studio</a:t>
                      </a:r>
                    </a:p>
                    <a:p>
                      <a:pPr algn="l">
                        <a:lnSpc>
                          <a:spcPts val="1400"/>
                        </a:lnSpc>
                      </a:pPr>
                      <a:r>
                        <a:rPr sz="85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・簡易運用・検証環境</a:t>
                      </a:r>
                    </a:p>
                  </a:txBody>
                  <a:tcPr marL="116667" marT="14583" marR="43750" marB="14583" anchor="ctr">
                    <a:lnB w="10938">
                      <a:solidFill>
                        <a:srgbClr val="D6E1EE"/>
                      </a:solidFill>
                    </a:lnB>
                    <a:lnT w="10938">
                      <a:solidFill>
                        <a:srgbClr val="D6E1EE"/>
                      </a:solidFill>
                    </a:lnT>
                    <a:lnR w="10938">
                      <a:solidFill>
                        <a:srgbClr val="D6E1EE"/>
                      </a:solidFill>
                    </a:lnR>
                    <a:lnL w="10938">
                      <a:solidFill>
                        <a:srgbClr val="D6E1EE"/>
                      </a:solidFill>
                    </a:lnL>
                    <a:solidFill>
                      <a:srgbClr val="F1F7FD"/>
                    </a:solidFill>
                  </a:tcPr>
                </a:tc>
                <a:tc>
                  <a:txBody>
                    <a:bodyPr wrap="square" lIns="175000" tIns="14583" rIns="43750" bIns="14583" anchor="ctr">
                      <a:noAutofit/>
                    </a:bodyPr>
                    <a:lstStyle/>
                    <a:p>
                      <a:pPr algn="l" marL="131250" indent="-131250">
                        <a:lnSpc>
                          <a:spcPts val="1450"/>
                        </a:lnSpc>
                        <a:buFont typeface="Arial"/>
                        <a:buChar char="•"/>
                      </a:pPr>
                      <a:r>
                        <a:rPr sz="90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低リソース環境での動作安定性</a:t>
                      </a:r>
                    </a:p>
                    <a:p>
                      <a:pPr algn="l" marL="131250" indent="-131250">
                        <a:lnSpc>
                          <a:spcPts val="1450"/>
                        </a:lnSpc>
                        <a:buFont typeface="Arial"/>
                        <a:buChar char="•"/>
                      </a:pPr>
                      <a:r>
                        <a:rPr sz="90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必要精度・応答速度の達成可否</a:t>
                      </a:r>
                    </a:p>
                    <a:p>
                      <a:pPr algn="l" marL="131250" indent="-131250">
                        <a:lnSpc>
                          <a:spcPts val="1450"/>
                        </a:lnSpc>
                        <a:buFont typeface="Arial"/>
                        <a:buChar char="•"/>
                      </a:pPr>
                      <a:r>
                        <a:rPr sz="90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運用の簡易性（導入・更新・管理）</a:t>
                      </a:r>
                    </a:p>
                  </a:txBody>
                  <a:tcPr marL="175000" marT="14583" marR="43750" marB="14583" anchor="ctr">
                    <a:lnB w="10938">
                      <a:solidFill>
                        <a:srgbClr val="D6E1EE"/>
                      </a:solidFill>
                    </a:lnB>
                    <a:lnT w="10938">
                      <a:solidFill>
                        <a:srgbClr val="D6E1EE"/>
                      </a:solidFill>
                    </a:lnT>
                    <a:lnR w="10938">
                      <a:solidFill>
                        <a:srgbClr val="D6E1EE"/>
                      </a:solidFill>
                    </a:lnR>
                    <a:lnL w="10938">
                      <a:solidFill>
                        <a:srgbClr val="D6E1EE"/>
                      </a:solidFill>
                    </a:lnL>
                    <a:solidFill>
                      <a:srgbClr val="FFFFFF"/>
                    </a:solidFill>
                  </a:tcPr>
                </a:tc>
              </a:tr>
              <a:tr h="670835">
                <a:tc>
                  <a:txBody>
                    <a:bodyPr wrap="square" lIns="700002" tIns="14583" rIns="29167" bIns="14583" anchor="ctr">
                      <a:noAutofit/>
                    </a:bodyPr>
                    <a:lstStyle/>
                    <a:p>
                      <a:pPr algn="l">
                        <a:lnSpc>
                          <a:spcPts val="1700"/>
                        </a:lnSpc>
                      </a:pPr>
                      <a:r>
                        <a:rPr sz="1100" b="1" i="0">
                          <a:solidFill>
                            <a:srgbClr val="1F3A6E"/>
                          </a:solidFill>
                          <a:latin typeface="Meiryo"/>
                          <a:ea typeface="Meiryo"/>
                          <a:cs typeface="Meiryo"/>
                        </a:rPr>
                        <a:t>日本語Embedding</a:t>
                      </a:r>
                      <a:br/>
                      <a:r>
                        <a:rPr sz="1100" b="1" i="0">
                          <a:solidFill>
                            <a:srgbClr val="1F3A6E"/>
                          </a:solidFill>
                          <a:latin typeface="Meiryo"/>
                          <a:ea typeface="Meiryo"/>
                          <a:cs typeface="Meiryo"/>
                        </a:rPr>
                        <a:t>モデル</a:t>
                      </a:r>
                    </a:p>
                    <a:p>
                      <a:pPr algn="l">
                        <a:lnSpc>
                          <a:spcPts val="1700"/>
                        </a:lnSpc>
                      </a:pPr>
                      <a:r>
                        <a:rPr sz="850" b="0" i="0">
                          <a:solidFill>
                            <a:srgbClr val="1F3A6E"/>
                          </a:solidFill>
                          <a:latin typeface="Meiryo"/>
                          <a:ea typeface="Meiryo"/>
                          <a:cs typeface="Meiryo"/>
                        </a:rPr>
                        <a:t>（ベクトル化）</a:t>
                      </a:r>
                    </a:p>
                  </a:txBody>
                  <a:tcPr marL="700002" marT="14583" marR="29167" marB="14583" anchor="ctr">
                    <a:lnB w="10938">
                      <a:solidFill>
                        <a:srgbClr val="D6E1EE"/>
                      </a:solidFill>
                    </a:lnB>
                    <a:lnT w="10938">
                      <a:solidFill>
                        <a:srgbClr val="D6E1EE"/>
                      </a:solidFill>
                    </a:lnT>
                    <a:lnR w="10938">
                      <a:solidFill>
                        <a:srgbClr val="D6E1EE"/>
                      </a:solidFill>
                    </a:lnR>
                    <a:lnL w="10938">
                      <a:solidFill>
                        <a:srgbClr val="D6E1EE"/>
                      </a:solidFill>
                    </a:lnL>
                    <a:solidFill>
                      <a:srgbClr val="EAF3FC"/>
                    </a:solidFill>
                  </a:tcPr>
                </a:tc>
                <a:tc>
                  <a:txBody>
                    <a:bodyPr wrap="square" lIns="116667" tIns="14583" rIns="43750" bIns="14583" anchor="ctr">
                      <a:noAutofit/>
                    </a:bodyPr>
                    <a:lstStyle/>
                    <a:p>
                      <a:pPr algn="l">
                        <a:lnSpc>
                          <a:spcPts val="1400"/>
                        </a:lnSpc>
                      </a:pPr>
                      <a:r>
                        <a:rPr sz="1050" b="1" i="0">
                          <a:solidFill>
                            <a:srgbClr val="1356B0"/>
                          </a:solidFill>
                          <a:latin typeface="Meiryo"/>
                          <a:ea typeface="Meiryo"/>
                          <a:cs typeface="Meiryo"/>
                        </a:rPr>
                        <a:t>intfloat/multilingual-e5-large</a:t>
                      </a:r>
                    </a:p>
                    <a:p>
                      <a:pPr algn="l">
                        <a:lnSpc>
                          <a:spcPts val="1400"/>
                        </a:lnSpc>
                      </a:pPr>
                      <a:r>
                        <a:rPr sz="85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・日本語を含む多言語対応</a:t>
                      </a:r>
                    </a:p>
                    <a:p>
                      <a:pPr algn="l">
                        <a:lnSpc>
                          <a:spcPts val="1400"/>
                        </a:lnSpc>
                      </a:pPr>
                      <a:r>
                        <a:rPr sz="85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・高い検索性能・実績</a:t>
                      </a:r>
                    </a:p>
                  </a:txBody>
                  <a:tcPr marL="116667" marT="14583" marR="43750" marB="14583" anchor="ctr">
                    <a:lnB w="10938">
                      <a:solidFill>
                        <a:srgbClr val="D6E1EE"/>
                      </a:solidFill>
                    </a:lnB>
                    <a:lnT w="10938">
                      <a:solidFill>
                        <a:srgbClr val="D6E1EE"/>
                      </a:solidFill>
                    </a:lnT>
                    <a:lnR w="10938">
                      <a:solidFill>
                        <a:srgbClr val="D6E1EE"/>
                      </a:solidFill>
                    </a:lnR>
                    <a:lnL w="10938">
                      <a:solidFill>
                        <a:srgbClr val="D6E1EE"/>
                      </a:solidFill>
                    </a:lnL>
                    <a:solidFill>
                      <a:srgbClr val="F1F7FD"/>
                    </a:solidFill>
                  </a:tcPr>
                </a:tc>
                <a:tc>
                  <a:txBody>
                    <a:bodyPr wrap="square" lIns="116667" tIns="14583" rIns="43750" bIns="14583" anchor="ctr">
                      <a:noAutofit/>
                    </a:bodyPr>
                    <a:lstStyle/>
                    <a:p>
                      <a:pPr algn="l">
                        <a:lnSpc>
                          <a:spcPts val="1400"/>
                        </a:lnSpc>
                      </a:pPr>
                      <a:r>
                        <a:rPr sz="900" b="1" i="0">
                          <a:solidFill>
                            <a:srgbClr val="1356B0"/>
                          </a:solidFill>
                          <a:latin typeface="Meiryo"/>
                          <a:ea typeface="Meiryo"/>
                          <a:cs typeface="Meiryo"/>
                        </a:rPr>
                        <a:t>BAAI/bge-large-ja</a:t>
                      </a:r>
                    </a:p>
                    <a:p>
                      <a:pPr algn="l">
                        <a:lnSpc>
                          <a:spcPts val="1400"/>
                        </a:lnSpc>
                      </a:pPr>
                      <a:r>
                        <a:rPr sz="900" b="1" i="0">
                          <a:solidFill>
                            <a:srgbClr val="1356B0"/>
                          </a:solidFill>
                          <a:latin typeface="Meiryo"/>
                          <a:ea typeface="Meiryo"/>
                          <a:cs typeface="Meiryo"/>
                        </a:rPr>
                        <a:t>SBIntuitions/text-embedding-3-large</a:t>
                      </a:r>
                    </a:p>
                    <a:p>
                      <a:pPr algn="l">
                        <a:lnSpc>
                          <a:spcPts val="1400"/>
                        </a:lnSpc>
                      </a:pPr>
                      <a:r>
                        <a:rPr sz="85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・日本語特化／商用モデルの選択肢</a:t>
                      </a:r>
                    </a:p>
                  </a:txBody>
                  <a:tcPr marL="116667" marT="14583" marR="43750" marB="14583" anchor="ctr">
                    <a:lnB w="10938">
                      <a:solidFill>
                        <a:srgbClr val="D6E1EE"/>
                      </a:solidFill>
                    </a:lnB>
                    <a:lnT w="10938">
                      <a:solidFill>
                        <a:srgbClr val="D6E1EE"/>
                      </a:solidFill>
                    </a:lnT>
                    <a:lnR w="10938">
                      <a:solidFill>
                        <a:srgbClr val="D6E1EE"/>
                      </a:solidFill>
                    </a:lnR>
                    <a:lnL w="10938">
                      <a:solidFill>
                        <a:srgbClr val="D6E1EE"/>
                      </a:solidFill>
                    </a:lnL>
                    <a:solidFill>
                      <a:srgbClr val="F1F7FD"/>
                    </a:solidFill>
                  </a:tcPr>
                </a:tc>
                <a:tc>
                  <a:txBody>
                    <a:bodyPr wrap="square" lIns="175000" tIns="14583" rIns="43750" bIns="14583" anchor="ctr">
                      <a:noAutofit/>
                    </a:bodyPr>
                    <a:lstStyle/>
                    <a:p>
                      <a:pPr algn="l" marL="131250" indent="-131250">
                        <a:lnSpc>
                          <a:spcPts val="1450"/>
                        </a:lnSpc>
                        <a:buFont typeface="Arial"/>
                        <a:buChar char="•"/>
                      </a:pPr>
                      <a:r>
                        <a:rPr sz="90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検索精度（再現率・適合率）</a:t>
                      </a:r>
                    </a:p>
                    <a:p>
                      <a:pPr algn="l" marL="131250" indent="-131250">
                        <a:lnSpc>
                          <a:spcPts val="1450"/>
                        </a:lnSpc>
                        <a:buFont typeface="Arial"/>
                        <a:buChar char="•"/>
                      </a:pPr>
                      <a:r>
                        <a:rPr sz="90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日本語ドメインでの性能</a:t>
                      </a:r>
                    </a:p>
                    <a:p>
                      <a:pPr algn="l" marL="131250" indent="-131250">
                        <a:lnSpc>
                          <a:spcPts val="1450"/>
                        </a:lnSpc>
                        <a:buFont typeface="Arial"/>
                        <a:buChar char="•"/>
                      </a:pPr>
                      <a:r>
                        <a:rPr sz="90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モデルサイズ・推論速度・運用コスト</a:t>
                      </a:r>
                    </a:p>
                  </a:txBody>
                  <a:tcPr marL="175000" marT="14583" marR="43750" marB="14583" anchor="ctr">
                    <a:lnB w="10938">
                      <a:solidFill>
                        <a:srgbClr val="D6E1EE"/>
                      </a:solidFill>
                    </a:lnB>
                    <a:lnT w="10938">
                      <a:solidFill>
                        <a:srgbClr val="D6E1EE"/>
                      </a:solidFill>
                    </a:lnT>
                    <a:lnR w="10938">
                      <a:solidFill>
                        <a:srgbClr val="D6E1EE"/>
                      </a:solidFill>
                    </a:lnR>
                    <a:lnL w="10938">
                      <a:solidFill>
                        <a:srgbClr val="D6E1EE"/>
                      </a:solidFill>
                    </a:lnL>
                    <a:solidFill>
                      <a:srgbClr val="EAF3FC"/>
                    </a:solidFill>
                  </a:tcPr>
                </a:tc>
              </a:tr>
              <a:tr h="670835">
                <a:tc>
                  <a:txBody>
                    <a:bodyPr wrap="square" lIns="700002" tIns="14583" rIns="29167" bIns="14583" anchor="ctr">
                      <a:noAutofit/>
                    </a:bodyPr>
                    <a:lstStyle/>
                    <a:p>
                      <a:pPr algn="l">
                        <a:lnSpc>
                          <a:spcPts val="1700"/>
                        </a:lnSpc>
                      </a:pPr>
                      <a:r>
                        <a:rPr sz="1100" b="1" i="0">
                          <a:solidFill>
                            <a:srgbClr val="1F3A6E"/>
                          </a:solidFill>
                          <a:latin typeface="Meiryo"/>
                          <a:ea typeface="Meiryo"/>
                          <a:cs typeface="Meiryo"/>
                        </a:rPr>
                        <a:t>Ruri系リランカー</a:t>
                      </a:r>
                    </a:p>
                    <a:p>
                      <a:pPr algn="l">
                        <a:lnSpc>
                          <a:spcPts val="1700"/>
                        </a:lnSpc>
                      </a:pPr>
                      <a:r>
                        <a:rPr sz="850" b="0" i="0">
                          <a:solidFill>
                            <a:srgbClr val="1F3A6E"/>
                          </a:solidFill>
                          <a:latin typeface="Meiryo"/>
                          <a:ea typeface="Meiryo"/>
                          <a:cs typeface="Meiryo"/>
                        </a:rPr>
                        <a:t>（再ランキング）</a:t>
                      </a:r>
                    </a:p>
                  </a:txBody>
                  <a:tcPr marL="700002" marT="14583" marR="29167" marB="14583" anchor="ctr">
                    <a:lnB w="10938">
                      <a:solidFill>
                        <a:srgbClr val="D6E1EE"/>
                      </a:solidFill>
                    </a:lnB>
                    <a:lnT w="10938">
                      <a:solidFill>
                        <a:srgbClr val="D6E1EE"/>
                      </a:solidFill>
                    </a:lnT>
                    <a:lnR w="10938">
                      <a:solidFill>
                        <a:srgbClr val="D6E1EE"/>
                      </a:solidFill>
                    </a:lnR>
                    <a:lnL w="10938">
                      <a:solidFill>
                        <a:srgbClr val="D6E1EE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 lIns="116667" tIns="14583" rIns="43750" bIns="14583" anchor="ctr">
                      <a:noAutofit/>
                    </a:bodyPr>
                    <a:lstStyle/>
                    <a:p>
                      <a:pPr algn="l">
                        <a:lnSpc>
                          <a:spcPts val="1400"/>
                        </a:lnSpc>
                      </a:pPr>
                      <a:r>
                        <a:rPr sz="1100" b="1" i="0">
                          <a:solidFill>
                            <a:srgbClr val="1356B0"/>
                          </a:solidFill>
                          <a:latin typeface="Meiryo"/>
                          <a:ea typeface="Meiryo"/>
                          <a:cs typeface="Meiryo"/>
                        </a:rPr>
                        <a:t>ruri-large（Ruri系）</a:t>
                      </a:r>
                    </a:p>
                    <a:p>
                      <a:pPr algn="l">
                        <a:lnSpc>
                          <a:spcPts val="1400"/>
                        </a:lnSpc>
                      </a:pPr>
                      <a:r>
                        <a:rPr sz="85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・日本語特化の高精度リランク</a:t>
                      </a:r>
                    </a:p>
                    <a:p>
                      <a:pPr algn="l">
                        <a:lnSpc>
                          <a:spcPts val="1400"/>
                        </a:lnSpc>
                      </a:pPr>
                      <a:r>
                        <a:rPr sz="85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・社内文書に適した関連度向上</a:t>
                      </a:r>
                    </a:p>
                  </a:txBody>
                  <a:tcPr marL="116667" marT="14583" marR="43750" marB="14583" anchor="ctr">
                    <a:lnB w="10938">
                      <a:solidFill>
                        <a:srgbClr val="D6E1EE"/>
                      </a:solidFill>
                    </a:lnB>
                    <a:lnT w="10938">
                      <a:solidFill>
                        <a:srgbClr val="D6E1EE"/>
                      </a:solidFill>
                    </a:lnT>
                    <a:lnR w="10938">
                      <a:solidFill>
                        <a:srgbClr val="D6E1EE"/>
                      </a:solidFill>
                    </a:lnR>
                    <a:lnL w="10938">
                      <a:solidFill>
                        <a:srgbClr val="D6E1EE"/>
                      </a:solidFill>
                    </a:lnL>
                    <a:solidFill>
                      <a:srgbClr val="F1F7FD"/>
                    </a:solidFill>
                  </a:tcPr>
                </a:tc>
                <a:tc>
                  <a:txBody>
                    <a:bodyPr wrap="square" lIns="116667" tIns="14583" rIns="43750" bIns="14583" anchor="ctr">
                      <a:noAutofit/>
                    </a:bodyPr>
                    <a:lstStyle/>
                    <a:p>
                      <a:pPr algn="l">
                        <a:lnSpc>
                          <a:spcPts val="1400"/>
                        </a:lnSpc>
                      </a:pPr>
                      <a:r>
                        <a:rPr sz="1000" b="1" i="0">
                          <a:solidFill>
                            <a:srgbClr val="1356B0"/>
                          </a:solidFill>
                          <a:latin typeface="Meiryo"/>
                          <a:ea typeface="Meiryo"/>
                          <a:cs typeface="Meiryo"/>
                        </a:rPr>
                        <a:t>bge-reranker-large-ja</a:t>
                      </a:r>
                    </a:p>
                    <a:p>
                      <a:pPr algn="l">
                        <a:lnSpc>
                          <a:spcPts val="1400"/>
                        </a:lnSpc>
                      </a:pPr>
                      <a:r>
                        <a:rPr sz="1000" b="1" i="0">
                          <a:solidFill>
                            <a:srgbClr val="1356B0"/>
                          </a:solidFill>
                          <a:latin typeface="Meiryo"/>
                          <a:ea typeface="Meiryo"/>
                          <a:cs typeface="Meiryo"/>
                        </a:rPr>
                        <a:t>cohere-rerank（商用）</a:t>
                      </a:r>
                    </a:p>
                    <a:p>
                      <a:pPr algn="l">
                        <a:lnSpc>
                          <a:spcPts val="1400"/>
                        </a:lnSpc>
                      </a:pPr>
                      <a:r>
                        <a:rPr sz="85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・精度・コストに応じた選択肢</a:t>
                      </a:r>
                    </a:p>
                  </a:txBody>
                  <a:tcPr marL="116667" marT="14583" marR="43750" marB="14583" anchor="ctr">
                    <a:lnB w="10938">
                      <a:solidFill>
                        <a:srgbClr val="D6E1EE"/>
                      </a:solidFill>
                    </a:lnB>
                    <a:lnT w="10938">
                      <a:solidFill>
                        <a:srgbClr val="D6E1EE"/>
                      </a:solidFill>
                    </a:lnT>
                    <a:lnR w="10938">
                      <a:solidFill>
                        <a:srgbClr val="D6E1EE"/>
                      </a:solidFill>
                    </a:lnR>
                    <a:lnL w="10938">
                      <a:solidFill>
                        <a:srgbClr val="D6E1EE"/>
                      </a:solidFill>
                    </a:lnL>
                    <a:solidFill>
                      <a:srgbClr val="F1F7FD"/>
                    </a:solidFill>
                  </a:tcPr>
                </a:tc>
                <a:tc>
                  <a:txBody>
                    <a:bodyPr wrap="square" lIns="175000" tIns="14583" rIns="43750" bIns="14583" anchor="ctr">
                      <a:noAutofit/>
                    </a:bodyPr>
                    <a:lstStyle/>
                    <a:p>
                      <a:pPr algn="l" marL="131250" indent="-131250">
                        <a:lnSpc>
                          <a:spcPts val="1450"/>
                        </a:lnSpc>
                        <a:buFont typeface="Arial"/>
                        <a:buChar char="•"/>
                      </a:pPr>
                      <a:r>
                        <a:rPr sz="90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再ランキング後の精度向上効果</a:t>
                      </a:r>
                    </a:p>
                    <a:p>
                      <a:pPr algn="l" marL="131250" indent="-131250">
                        <a:lnSpc>
                          <a:spcPts val="1450"/>
                        </a:lnSpc>
                        <a:buFont typeface="Arial"/>
                        <a:buChar char="•"/>
                      </a:pPr>
                      <a:r>
                        <a:rPr sz="90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日本語での性能・安定性</a:t>
                      </a:r>
                    </a:p>
                    <a:p>
                      <a:pPr algn="l" marL="131250" indent="-131250">
                        <a:lnSpc>
                          <a:spcPts val="1450"/>
                        </a:lnSpc>
                        <a:buFont typeface="Arial"/>
                        <a:buChar char="•"/>
                      </a:pPr>
                      <a:r>
                        <a:rPr sz="90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推論速度・運用コスト</a:t>
                      </a:r>
                    </a:p>
                  </a:txBody>
                  <a:tcPr marL="175000" marT="14583" marR="43750" marB="14583" anchor="ctr">
                    <a:lnB w="10938">
                      <a:solidFill>
                        <a:srgbClr val="D6E1EE"/>
                      </a:solidFill>
                    </a:lnB>
                    <a:lnT w="10938">
                      <a:solidFill>
                        <a:srgbClr val="D6E1EE"/>
                      </a:solidFill>
                    </a:lnT>
                    <a:lnR w="10938">
                      <a:solidFill>
                        <a:srgbClr val="D6E1EE"/>
                      </a:solidFill>
                    </a:lnR>
                    <a:lnL w="10938">
                      <a:solidFill>
                        <a:srgbClr val="D6E1EE"/>
                      </a:solidFill>
                    </a:lnL>
                    <a:solidFill>
                      <a:srgbClr val="FFFFFF"/>
                    </a:solidFill>
                  </a:tcPr>
                </a:tc>
              </a:tr>
              <a:tr h="670835">
                <a:tc>
                  <a:txBody>
                    <a:bodyPr wrap="square" lIns="700002" tIns="14583" rIns="29167" bIns="14583" anchor="ctr">
                      <a:noAutofit/>
                    </a:bodyPr>
                    <a:lstStyle/>
                    <a:p>
                      <a:pPr algn="l">
                        <a:lnSpc>
                          <a:spcPts val="1700"/>
                        </a:lnSpc>
                      </a:pPr>
                      <a:r>
                        <a:rPr sz="1100" b="1" i="0">
                          <a:solidFill>
                            <a:srgbClr val="1F3A6E"/>
                          </a:solidFill>
                          <a:latin typeface="Meiryo"/>
                          <a:ea typeface="Meiryo"/>
                          <a:cs typeface="Meiryo"/>
                        </a:rPr>
                        <a:t>OpenSearch</a:t>
                      </a:r>
                    </a:p>
                    <a:p>
                      <a:pPr algn="l">
                        <a:lnSpc>
                          <a:spcPts val="1700"/>
                        </a:lnSpc>
                      </a:pPr>
                      <a:r>
                        <a:rPr sz="850" b="0" i="0">
                          <a:solidFill>
                            <a:srgbClr val="1F3A6E"/>
                          </a:solidFill>
                          <a:latin typeface="Meiryo"/>
                          <a:ea typeface="Meiryo"/>
                          <a:cs typeface="Meiryo"/>
                        </a:rPr>
                        <a:t>（全文検索・ベクトル検索）</a:t>
                      </a:r>
                    </a:p>
                  </a:txBody>
                  <a:tcPr marL="700002" marT="14583" marR="29167" marB="14583" anchor="ctr">
                    <a:lnB w="10938">
                      <a:solidFill>
                        <a:srgbClr val="D6E1EE"/>
                      </a:solidFill>
                    </a:lnB>
                    <a:lnT w="10938">
                      <a:solidFill>
                        <a:srgbClr val="D6E1EE"/>
                      </a:solidFill>
                    </a:lnT>
                    <a:lnR w="10938">
                      <a:solidFill>
                        <a:srgbClr val="D6E1EE"/>
                      </a:solidFill>
                    </a:lnR>
                    <a:lnL w="10938">
                      <a:solidFill>
                        <a:srgbClr val="D6E1EE"/>
                      </a:solidFill>
                    </a:lnL>
                    <a:solidFill>
                      <a:srgbClr val="EAF3FC"/>
                    </a:solidFill>
                  </a:tcPr>
                </a:tc>
                <a:tc>
                  <a:txBody>
                    <a:bodyPr wrap="square" lIns="116667" tIns="14583" rIns="43750" bIns="14583" anchor="ctr">
                      <a:noAutofit/>
                    </a:bodyPr>
                    <a:lstStyle/>
                    <a:p>
                      <a:pPr algn="l">
                        <a:lnSpc>
                          <a:spcPts val="1400"/>
                        </a:lnSpc>
                      </a:pPr>
                      <a:r>
                        <a:rPr sz="1100" b="1" i="0">
                          <a:solidFill>
                            <a:srgbClr val="1356B0"/>
                          </a:solidFill>
                          <a:latin typeface="Meiryo"/>
                          <a:ea typeface="Meiryo"/>
                          <a:cs typeface="Meiryo"/>
                        </a:rPr>
                        <a:t>OpenSearch（2.11 以降）</a:t>
                      </a:r>
                    </a:p>
                    <a:p>
                      <a:pPr algn="l">
                        <a:lnSpc>
                          <a:spcPts val="1400"/>
                        </a:lnSpc>
                      </a:pPr>
                      <a:r>
                        <a:rPr sz="85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・全文検索＋ベクトル検索の統合</a:t>
                      </a:r>
                    </a:p>
                    <a:p>
                      <a:pPr algn="l">
                        <a:lnSpc>
                          <a:spcPts val="1400"/>
                        </a:lnSpc>
                      </a:pPr>
                      <a:r>
                        <a:rPr sz="85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・ハイブリッド検索・RRF 対応</a:t>
                      </a:r>
                    </a:p>
                  </a:txBody>
                  <a:tcPr marL="116667" marT="14583" marR="43750" marB="14583" anchor="ctr">
                    <a:lnB w="10938">
                      <a:solidFill>
                        <a:srgbClr val="D6E1EE"/>
                      </a:solidFill>
                    </a:lnB>
                    <a:lnT w="10938">
                      <a:solidFill>
                        <a:srgbClr val="D6E1EE"/>
                      </a:solidFill>
                    </a:lnT>
                    <a:lnR w="10938">
                      <a:solidFill>
                        <a:srgbClr val="D6E1EE"/>
                      </a:solidFill>
                    </a:lnR>
                    <a:lnL w="10938">
                      <a:solidFill>
                        <a:srgbClr val="D6E1EE"/>
                      </a:solidFill>
                    </a:lnL>
                    <a:solidFill>
                      <a:srgbClr val="F1F7FD"/>
                    </a:solidFill>
                  </a:tcPr>
                </a:tc>
                <a:tc>
                  <a:txBody>
                    <a:bodyPr wrap="square" lIns="116667" tIns="14583" rIns="43750" bIns="14583" anchor="ctr">
                      <a:noAutofit/>
                    </a:bodyPr>
                    <a:lstStyle/>
                    <a:p>
                      <a:pPr algn="l">
                        <a:lnSpc>
                          <a:spcPts val="1400"/>
                        </a:lnSpc>
                      </a:pPr>
                      <a:r>
                        <a:rPr sz="1100" b="1" i="0">
                          <a:solidFill>
                            <a:srgbClr val="1356B0"/>
                          </a:solidFill>
                          <a:latin typeface="Meiryo"/>
                          <a:ea typeface="Meiryo"/>
                          <a:cs typeface="Meiryo"/>
                        </a:rPr>
                        <a:t>Elasticsearch</a:t>
                      </a:r>
                    </a:p>
                    <a:p>
                      <a:pPr algn="l">
                        <a:lnSpc>
                          <a:spcPts val="1400"/>
                        </a:lnSpc>
                      </a:pPr>
                      <a:r>
                        <a:rPr sz="85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・既存環境・運用要件に応じて選択</a:t>
                      </a:r>
                    </a:p>
                  </a:txBody>
                  <a:tcPr marL="116667" marT="14583" marR="43750" marB="14583" anchor="ctr">
                    <a:lnB w="10938">
                      <a:solidFill>
                        <a:srgbClr val="D6E1EE"/>
                      </a:solidFill>
                    </a:lnB>
                    <a:lnT w="10938">
                      <a:solidFill>
                        <a:srgbClr val="D6E1EE"/>
                      </a:solidFill>
                    </a:lnT>
                    <a:lnR w="10938">
                      <a:solidFill>
                        <a:srgbClr val="D6E1EE"/>
                      </a:solidFill>
                    </a:lnR>
                    <a:lnL w="10938">
                      <a:solidFill>
                        <a:srgbClr val="D6E1EE"/>
                      </a:solidFill>
                    </a:lnL>
                    <a:solidFill>
                      <a:srgbClr val="F1F7FD"/>
                    </a:solidFill>
                  </a:tcPr>
                </a:tc>
                <a:tc>
                  <a:txBody>
                    <a:bodyPr wrap="square" lIns="175000" tIns="14583" rIns="43750" bIns="14583" anchor="ctr">
                      <a:noAutofit/>
                    </a:bodyPr>
                    <a:lstStyle/>
                    <a:p>
                      <a:pPr algn="l" marL="131250" indent="-131250">
                        <a:lnSpc>
                          <a:spcPts val="1450"/>
                        </a:lnSpc>
                        <a:buFont typeface="Arial"/>
                        <a:buChar char="•"/>
                      </a:pPr>
                      <a:r>
                        <a:rPr sz="90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検索性能（全文・ベクトル・ハイブリッド）</a:t>
                      </a:r>
                    </a:p>
                    <a:p>
                      <a:pPr algn="l" marL="131250" indent="-131250">
                        <a:lnSpc>
                          <a:spcPts val="1450"/>
                        </a:lnSpc>
                        <a:buFont typeface="Arial"/>
                        <a:buChar char="•"/>
                      </a:pPr>
                      <a:r>
                        <a:rPr sz="90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運用性・スケーラビリティ</a:t>
                      </a:r>
                    </a:p>
                    <a:p>
                      <a:pPr algn="l" marL="131250" indent="-131250">
                        <a:lnSpc>
                          <a:spcPts val="1450"/>
                        </a:lnSpc>
                        <a:buFont typeface="Arial"/>
                        <a:buChar char="•"/>
                      </a:pPr>
                      <a:r>
                        <a:rPr sz="90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社内標準・既存資産との整合性</a:t>
                      </a:r>
                    </a:p>
                  </a:txBody>
                  <a:tcPr marL="175000" marT="14583" marR="43750" marB="14583" anchor="ctr">
                    <a:lnB w="10938">
                      <a:solidFill>
                        <a:srgbClr val="D6E1EE"/>
                      </a:solidFill>
                    </a:lnB>
                    <a:lnT w="10938">
                      <a:solidFill>
                        <a:srgbClr val="D6E1EE"/>
                      </a:solidFill>
                    </a:lnT>
                    <a:lnR w="10938">
                      <a:solidFill>
                        <a:srgbClr val="D6E1EE"/>
                      </a:solidFill>
                    </a:lnR>
                    <a:lnL w="10938">
                      <a:solidFill>
                        <a:srgbClr val="D6E1EE"/>
                      </a:solidFill>
                    </a:lnL>
                    <a:solidFill>
                      <a:srgbClr val="EAF3FC"/>
                    </a:solidFill>
                  </a:tcPr>
                </a:tc>
              </a:tr>
              <a:tr h="670835">
                <a:tc>
                  <a:txBody>
                    <a:bodyPr wrap="square" lIns="700002" tIns="14583" rIns="29167" bIns="14583" anchor="ctr">
                      <a:noAutofit/>
                    </a:bodyPr>
                    <a:lstStyle/>
                    <a:p>
                      <a:pPr algn="l">
                        <a:lnSpc>
                          <a:spcPts val="1700"/>
                        </a:lnSpc>
                      </a:pPr>
                      <a:r>
                        <a:rPr sz="1100" b="1" i="0">
                          <a:solidFill>
                            <a:srgbClr val="1F3A6E"/>
                          </a:solidFill>
                          <a:latin typeface="Meiryo"/>
                          <a:ea typeface="Meiryo"/>
                          <a:cs typeface="Meiryo"/>
                        </a:rPr>
                        <a:t>pgvector</a:t>
                      </a:r>
                    </a:p>
                    <a:p>
                      <a:pPr algn="l">
                        <a:lnSpc>
                          <a:spcPts val="1700"/>
                        </a:lnSpc>
                      </a:pPr>
                      <a:r>
                        <a:rPr sz="850" b="0" i="0">
                          <a:solidFill>
                            <a:srgbClr val="1F3A6E"/>
                          </a:solidFill>
                          <a:latin typeface="Meiryo"/>
                          <a:ea typeface="Meiryo"/>
                          <a:cs typeface="Meiryo"/>
                        </a:rPr>
                        <a:t>（構造化データのベクトル検索）</a:t>
                      </a:r>
                    </a:p>
                  </a:txBody>
                  <a:tcPr marL="700002" marT="14583" marR="29167" marB="14583" anchor="ctr">
                    <a:lnB w="10938">
                      <a:solidFill>
                        <a:srgbClr val="D6E1EE"/>
                      </a:solidFill>
                    </a:lnB>
                    <a:lnT w="10938">
                      <a:solidFill>
                        <a:srgbClr val="D6E1EE"/>
                      </a:solidFill>
                    </a:lnT>
                    <a:lnR w="10938">
                      <a:solidFill>
                        <a:srgbClr val="D6E1EE"/>
                      </a:solidFill>
                    </a:lnR>
                    <a:lnL w="10938">
                      <a:solidFill>
                        <a:srgbClr val="D6E1EE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 lIns="116667" tIns="14583" rIns="43750" bIns="14583" anchor="ctr">
                      <a:noAutofit/>
                    </a:bodyPr>
                    <a:lstStyle/>
                    <a:p>
                      <a:pPr algn="l">
                        <a:lnSpc>
                          <a:spcPts val="1400"/>
                        </a:lnSpc>
                      </a:pPr>
                      <a:r>
                        <a:rPr sz="1100" b="1" i="0">
                          <a:solidFill>
                            <a:srgbClr val="1356B0"/>
                          </a:solidFill>
                          <a:latin typeface="Meiryo"/>
                          <a:ea typeface="Meiryo"/>
                          <a:cs typeface="Meiryo"/>
                        </a:rPr>
                        <a:t>PostgreSQL + pgvector</a:t>
                      </a:r>
                    </a:p>
                    <a:p>
                      <a:pPr algn="l">
                        <a:lnSpc>
                          <a:spcPts val="1400"/>
                        </a:lnSpc>
                      </a:pPr>
                      <a:r>
                        <a:rPr sz="85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・構造化データとベクトルの統合検索</a:t>
                      </a:r>
                    </a:p>
                    <a:p>
                      <a:pPr algn="l">
                        <a:lnSpc>
                          <a:spcPts val="1400"/>
                        </a:lnSpc>
                      </a:pPr>
                      <a:r>
                        <a:rPr sz="85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・版管理・トランザクションとの親和性</a:t>
                      </a:r>
                    </a:p>
                  </a:txBody>
                  <a:tcPr marL="116667" marT="14583" marR="43750" marB="14583" anchor="ctr">
                    <a:lnB w="10938">
                      <a:solidFill>
                        <a:srgbClr val="D6E1EE"/>
                      </a:solidFill>
                    </a:lnB>
                    <a:lnT w="10938">
                      <a:solidFill>
                        <a:srgbClr val="D6E1EE"/>
                      </a:solidFill>
                    </a:lnT>
                    <a:lnR w="10938">
                      <a:solidFill>
                        <a:srgbClr val="D6E1EE"/>
                      </a:solidFill>
                    </a:lnR>
                    <a:lnL w="10938">
                      <a:solidFill>
                        <a:srgbClr val="D6E1EE"/>
                      </a:solidFill>
                    </a:lnL>
                    <a:solidFill>
                      <a:srgbClr val="F1F7FD"/>
                    </a:solidFill>
                  </a:tcPr>
                </a:tc>
                <a:tc>
                  <a:txBody>
                    <a:bodyPr wrap="square" lIns="116667" tIns="14583" rIns="43750" bIns="14583" anchor="ctr">
                      <a:noAutofit/>
                    </a:bodyPr>
                    <a:lstStyle/>
                    <a:p>
                      <a:pPr algn="l">
                        <a:lnSpc>
                          <a:spcPts val="1400"/>
                        </a:lnSpc>
                      </a:pPr>
                      <a:r>
                        <a:rPr sz="1100" b="1" i="0">
                          <a:solidFill>
                            <a:srgbClr val="1356B0"/>
                          </a:solidFill>
                          <a:latin typeface="Meiryo"/>
                          <a:ea typeface="Meiryo"/>
                          <a:cs typeface="Meiryo"/>
                        </a:rPr>
                        <a:t>専用ベクトルDB（Pinecone 等）</a:t>
                      </a:r>
                    </a:p>
                    <a:p>
                      <a:pPr algn="l">
                        <a:lnSpc>
                          <a:spcPts val="1400"/>
                        </a:lnSpc>
                      </a:pPr>
                      <a:r>
                        <a:rPr sz="85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・大規模化時のクラウド選択肢</a:t>
                      </a:r>
                    </a:p>
                  </a:txBody>
                  <a:tcPr marL="116667" marT="14583" marR="43750" marB="14583" anchor="ctr">
                    <a:lnB w="10938">
                      <a:solidFill>
                        <a:srgbClr val="D6E1EE"/>
                      </a:solidFill>
                    </a:lnB>
                    <a:lnT w="10938">
                      <a:solidFill>
                        <a:srgbClr val="D6E1EE"/>
                      </a:solidFill>
                    </a:lnT>
                    <a:lnR w="10938">
                      <a:solidFill>
                        <a:srgbClr val="D6E1EE"/>
                      </a:solidFill>
                    </a:lnR>
                    <a:lnL w="10938">
                      <a:solidFill>
                        <a:srgbClr val="D6E1EE"/>
                      </a:solidFill>
                    </a:lnL>
                    <a:solidFill>
                      <a:srgbClr val="F1F7FD"/>
                    </a:solidFill>
                  </a:tcPr>
                </a:tc>
                <a:tc>
                  <a:txBody>
                    <a:bodyPr wrap="square" lIns="175000" tIns="14583" rIns="43750" bIns="14583" anchor="ctr">
                      <a:noAutofit/>
                    </a:bodyPr>
                    <a:lstStyle/>
                    <a:p>
                      <a:pPr algn="l" marL="131250" indent="-131250">
                        <a:lnSpc>
                          <a:spcPts val="1450"/>
                        </a:lnSpc>
                        <a:buFont typeface="Arial"/>
                        <a:buChar char="•"/>
                      </a:pPr>
                      <a:r>
                        <a:rPr sz="90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検索性能・拡張性</a:t>
                      </a:r>
                    </a:p>
                    <a:p>
                      <a:pPr algn="l" marL="131250" indent="-131250">
                        <a:lnSpc>
                          <a:spcPts val="1450"/>
                        </a:lnSpc>
                        <a:buFont typeface="Arial"/>
                        <a:buChar char="•"/>
                      </a:pPr>
                      <a:r>
                        <a:rPr sz="90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運用コスト・保守性</a:t>
                      </a:r>
                    </a:p>
                    <a:p>
                      <a:pPr algn="l" marL="131250" indent="-131250">
                        <a:lnSpc>
                          <a:spcPts val="1450"/>
                        </a:lnSpc>
                        <a:buFont typeface="Arial"/>
                        <a:buChar char="•"/>
                      </a:pPr>
                      <a:r>
                        <a:rPr sz="90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オンプレ/クラウド移行時の再現性</a:t>
                      </a:r>
                    </a:p>
                  </a:txBody>
                  <a:tcPr marL="175000" marT="14583" marR="43750" marB="14583" anchor="ctr">
                    <a:lnB w="10938">
                      <a:solidFill>
                        <a:srgbClr val="D6E1EE"/>
                      </a:solidFill>
                    </a:lnB>
                    <a:lnT w="10938">
                      <a:solidFill>
                        <a:srgbClr val="D6E1EE"/>
                      </a:solidFill>
                    </a:lnT>
                    <a:lnR w="10938">
                      <a:solidFill>
                        <a:srgbClr val="D6E1EE"/>
                      </a:solidFill>
                    </a:lnR>
                    <a:lnL w="10938">
                      <a:solidFill>
                        <a:srgbClr val="D6E1EE"/>
                      </a:solidFill>
                    </a:lnL>
                    <a:solidFill>
                      <a:srgbClr val="FFFFFF"/>
                    </a:solidFill>
                  </a:tcPr>
                </a:tc>
              </a:tr>
              <a:tr h="670835">
                <a:tc>
                  <a:txBody>
                    <a:bodyPr wrap="square" lIns="700002" tIns="14583" rIns="29167" bIns="14583" anchor="ctr">
                      <a:noAutofit/>
                    </a:bodyPr>
                    <a:lstStyle/>
                    <a:p>
                      <a:pPr algn="l">
                        <a:lnSpc>
                          <a:spcPts val="1700"/>
                        </a:lnSpc>
                      </a:pPr>
                      <a:r>
                        <a:rPr sz="1100" b="1" i="0">
                          <a:solidFill>
                            <a:srgbClr val="1F3A6E"/>
                          </a:solidFill>
                          <a:latin typeface="Meiryo"/>
                          <a:ea typeface="Meiryo"/>
                          <a:cs typeface="Meiryo"/>
                        </a:rPr>
                        <a:t>Docling</a:t>
                      </a:r>
                    </a:p>
                    <a:p>
                      <a:pPr algn="l">
                        <a:lnSpc>
                          <a:spcPts val="1700"/>
                        </a:lnSpc>
                      </a:pPr>
                      <a:r>
                        <a:rPr sz="850" b="0" i="0">
                          <a:solidFill>
                            <a:srgbClr val="1F3A6E"/>
                          </a:solidFill>
                          <a:latin typeface="Meiryo"/>
                          <a:ea typeface="Meiryo"/>
                          <a:cs typeface="Meiryo"/>
                        </a:rPr>
                        <a:t>（文書抽出・前処理）</a:t>
                      </a:r>
                    </a:p>
                  </a:txBody>
                  <a:tcPr marL="700002" marT="14583" marR="29167" marB="14583" anchor="ctr">
                    <a:lnB w="10938">
                      <a:solidFill>
                        <a:srgbClr val="D6E1EE"/>
                      </a:solidFill>
                    </a:lnB>
                    <a:lnT w="10938">
                      <a:solidFill>
                        <a:srgbClr val="D6E1EE"/>
                      </a:solidFill>
                    </a:lnT>
                    <a:lnR w="10938">
                      <a:solidFill>
                        <a:srgbClr val="D6E1EE"/>
                      </a:solidFill>
                    </a:lnR>
                    <a:lnL w="10938">
                      <a:solidFill>
                        <a:srgbClr val="D6E1EE"/>
                      </a:solidFill>
                    </a:lnL>
                    <a:solidFill>
                      <a:srgbClr val="EAF3FC"/>
                    </a:solidFill>
                  </a:tcPr>
                </a:tc>
                <a:tc>
                  <a:txBody>
                    <a:bodyPr wrap="square" lIns="116667" tIns="14583" rIns="43750" bIns="14583" anchor="ctr">
                      <a:noAutofit/>
                    </a:bodyPr>
                    <a:lstStyle/>
                    <a:p>
                      <a:pPr algn="l">
                        <a:lnSpc>
                          <a:spcPts val="1400"/>
                        </a:lnSpc>
                      </a:pPr>
                      <a:r>
                        <a:rPr sz="1100" b="1" i="0">
                          <a:solidFill>
                            <a:srgbClr val="1356B0"/>
                          </a:solidFill>
                          <a:latin typeface="Meiryo"/>
                          <a:ea typeface="Meiryo"/>
                          <a:cs typeface="Meiryo"/>
                        </a:rPr>
                        <a:t>Docling</a:t>
                      </a:r>
                    </a:p>
                    <a:p>
                      <a:pPr algn="l">
                        <a:lnSpc>
                          <a:spcPts val="1400"/>
                        </a:lnSpc>
                      </a:pPr>
                      <a:r>
                        <a:rPr sz="85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・PDF/図面のテキスト・表・画像抽出</a:t>
                      </a:r>
                    </a:p>
                    <a:p>
                      <a:pPr algn="l">
                        <a:lnSpc>
                          <a:spcPts val="1400"/>
                        </a:lnSpc>
                      </a:pPr>
                      <a:r>
                        <a:rPr sz="85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・RAG 向けの構造化データ生成</a:t>
                      </a:r>
                    </a:p>
                  </a:txBody>
                  <a:tcPr marL="116667" marT="14583" marR="43750" marB="14583" anchor="ctr">
                    <a:lnB w="10938">
                      <a:solidFill>
                        <a:srgbClr val="D6E1EE"/>
                      </a:solidFill>
                    </a:lnB>
                    <a:lnT w="10938">
                      <a:solidFill>
                        <a:srgbClr val="D6E1EE"/>
                      </a:solidFill>
                    </a:lnT>
                    <a:lnR w="10938">
                      <a:solidFill>
                        <a:srgbClr val="D6E1EE"/>
                      </a:solidFill>
                    </a:lnR>
                    <a:lnL w="10938">
                      <a:solidFill>
                        <a:srgbClr val="D6E1EE"/>
                      </a:solidFill>
                    </a:lnL>
                    <a:solidFill>
                      <a:srgbClr val="F1F7FD"/>
                    </a:solidFill>
                  </a:tcPr>
                </a:tc>
                <a:tc>
                  <a:txBody>
                    <a:bodyPr wrap="square" lIns="116667" tIns="14583" rIns="43750" bIns="14583" anchor="ctr">
                      <a:noAutofit/>
                    </a:bodyPr>
                    <a:lstStyle/>
                    <a:p>
                      <a:pPr algn="l">
                        <a:lnSpc>
                          <a:spcPts val="1400"/>
                        </a:lnSpc>
                      </a:pPr>
                      <a:r>
                        <a:rPr sz="900" b="1" i="0">
                          <a:solidFill>
                            <a:srgbClr val="1356B0"/>
                          </a:solidFill>
                          <a:latin typeface="Meiryo"/>
                          <a:ea typeface="Meiryo"/>
                          <a:cs typeface="Meiryo"/>
                        </a:rPr>
                        <a:t>Azure Document Intelligence</a:t>
                      </a:r>
                    </a:p>
                    <a:p>
                      <a:pPr algn="l">
                        <a:lnSpc>
                          <a:spcPts val="1400"/>
                        </a:lnSpc>
                      </a:pPr>
                      <a:r>
                        <a:rPr sz="900" b="1" i="0">
                          <a:solidFill>
                            <a:srgbClr val="1356B0"/>
                          </a:solidFill>
                          <a:latin typeface="Meiryo"/>
                          <a:ea typeface="Meiryo"/>
                          <a:cs typeface="Meiryo"/>
                        </a:rPr>
                        <a:t>Unstructured / OCR（Tesseract 等）</a:t>
                      </a:r>
                    </a:p>
                    <a:p>
                      <a:pPr algn="l">
                        <a:lnSpc>
                          <a:spcPts val="1400"/>
                        </a:lnSpc>
                      </a:pPr>
                      <a:r>
                        <a:rPr sz="85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・クラウド／既存ツールの選択肢</a:t>
                      </a:r>
                    </a:p>
                  </a:txBody>
                  <a:tcPr marL="116667" marT="14583" marR="43750" marB="14583" anchor="ctr">
                    <a:lnB w="10938">
                      <a:solidFill>
                        <a:srgbClr val="D6E1EE"/>
                      </a:solidFill>
                    </a:lnB>
                    <a:lnT w="10938">
                      <a:solidFill>
                        <a:srgbClr val="D6E1EE"/>
                      </a:solidFill>
                    </a:lnT>
                    <a:lnR w="10938">
                      <a:solidFill>
                        <a:srgbClr val="D6E1EE"/>
                      </a:solidFill>
                    </a:lnR>
                    <a:lnL w="10938">
                      <a:solidFill>
                        <a:srgbClr val="D6E1EE"/>
                      </a:solidFill>
                    </a:lnL>
                    <a:solidFill>
                      <a:srgbClr val="F1F7FD"/>
                    </a:solidFill>
                  </a:tcPr>
                </a:tc>
                <a:tc>
                  <a:txBody>
                    <a:bodyPr wrap="square" lIns="175000" tIns="14583" rIns="43750" bIns="14583" anchor="ctr">
                      <a:noAutofit/>
                    </a:bodyPr>
                    <a:lstStyle/>
                    <a:p>
                      <a:pPr algn="l" marL="131250" indent="-131250">
                        <a:lnSpc>
                          <a:spcPts val="1450"/>
                        </a:lnSpc>
                        <a:buFont typeface="Arial"/>
                        <a:buChar char="•"/>
                      </a:pPr>
                      <a:r>
                        <a:rPr sz="90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抽出精度（テキスト・表・画像）</a:t>
                      </a:r>
                    </a:p>
                    <a:p>
                      <a:pPr algn="l" marL="131250" indent="-131250">
                        <a:lnSpc>
                          <a:spcPts val="1450"/>
                        </a:lnSpc>
                        <a:buFont typeface="Arial"/>
                        <a:buChar char="•"/>
                      </a:pPr>
                      <a:r>
                        <a:rPr sz="90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図面・TIFF 等の対応可否</a:t>
                      </a:r>
                    </a:p>
                    <a:p>
                      <a:pPr algn="l" marL="131250" indent="-131250">
                        <a:lnSpc>
                          <a:spcPts val="1450"/>
                        </a:lnSpc>
                        <a:buFont typeface="Arial"/>
                        <a:buChar char="•"/>
                      </a:pPr>
                      <a:r>
                        <a:rPr sz="90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運用コスト・オンプレ/クラウドの適合性</a:t>
                      </a:r>
                    </a:p>
                  </a:txBody>
                  <a:tcPr marL="175000" marT="14583" marR="43750" marB="14583" anchor="ctr">
                    <a:lnB w="10938">
                      <a:solidFill>
                        <a:srgbClr val="D6E1EE"/>
                      </a:solidFill>
                    </a:lnB>
                    <a:lnT w="10938">
                      <a:solidFill>
                        <a:srgbClr val="D6E1EE"/>
                      </a:solidFill>
                    </a:lnT>
                    <a:lnR w="10938">
                      <a:solidFill>
                        <a:srgbClr val="D6E1EE"/>
                      </a:solidFill>
                    </a:lnR>
                    <a:lnL w="10938">
                      <a:solidFill>
                        <a:srgbClr val="D6E1EE"/>
                      </a:solidFill>
                    </a:lnL>
                    <a:solidFill>
                      <a:srgbClr val="EAF3FC"/>
                    </a:solidFill>
                  </a:tcPr>
                </a:tc>
              </a:tr>
            </a:tbl>
          </a:graphicData>
        </a:graphic>
      </p:graphicFrame>
      <p:pic>
        <p:nvPicPr>
          <p:cNvPr id="4" name="icon azure:workflow" descr="image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2501" y="962502"/>
            <a:ext cx="379168" cy="379168"/>
          </a:xfrm>
          <a:prstGeom prst="rect">
            <a:avLst/>
          </a:prstGeom>
        </p:spPr>
      </p:pic>
      <p:pic>
        <p:nvPicPr>
          <p:cNvPr id="5" name="icon azure:app-services" descr="image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62501" y="1633337"/>
            <a:ext cx="379168" cy="379168"/>
          </a:xfrm>
          <a:prstGeom prst="rect">
            <a:avLst/>
          </a:prstGeom>
        </p:spPr>
      </p:pic>
      <p:pic>
        <p:nvPicPr>
          <p:cNvPr id="6" name="icon azure:machine-learning" descr="image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62501" y="2304172"/>
            <a:ext cx="379168" cy="379168"/>
          </a:xfrm>
          <a:prstGeom prst="rect">
            <a:avLst/>
          </a:prstGeom>
        </p:spPr>
      </p:pic>
      <p:pic>
        <p:nvPicPr>
          <p:cNvPr id="7" name="icon azure:virtual-machine" descr="image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62501" y="2975007"/>
            <a:ext cx="379168" cy="379168"/>
          </a:xfrm>
          <a:prstGeom prst="rect">
            <a:avLst/>
          </a:prstGeom>
        </p:spPr>
      </p:pic>
      <p:pic>
        <p:nvPicPr>
          <p:cNvPr id="8" name="icon azure:cognitive-services" descr="image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62501" y="3645842"/>
            <a:ext cx="379168" cy="379168"/>
          </a:xfrm>
          <a:prstGeom prst="rect">
            <a:avLst/>
          </a:prstGeom>
        </p:spPr>
      </p:pic>
      <p:pic>
        <p:nvPicPr>
          <p:cNvPr id="9" name="icon azure:metrics" descr="image.png"/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262501" y="4316677"/>
            <a:ext cx="379168" cy="379168"/>
          </a:xfrm>
          <a:prstGeom prst="rect">
            <a:avLst/>
          </a:prstGeom>
        </p:spPr>
      </p:pic>
      <p:pic>
        <p:nvPicPr>
          <p:cNvPr id="10" name="icon azure:cognitive-search" descr="image.png"/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262501" y="4987512"/>
            <a:ext cx="379168" cy="379168"/>
          </a:xfrm>
          <a:prstGeom prst="rect">
            <a:avLst/>
          </a:prstGeom>
        </p:spPr>
      </p:pic>
      <p:pic>
        <p:nvPicPr>
          <p:cNvPr id="11" name="icon azure:azure-database-postgresql-server" descr="image.png"/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262501" y="5658346"/>
            <a:ext cx="379168" cy="379168"/>
          </a:xfrm>
          <a:prstGeom prst="rect">
            <a:avLst/>
          </a:prstGeom>
        </p:spPr>
      </p:pic>
      <p:pic>
        <p:nvPicPr>
          <p:cNvPr id="12" name="icon azure:form-recognizers" descr="image.png"/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262501" y="6329181"/>
            <a:ext cx="379168" cy="37916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
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10.svg" ContentType="image/svg+xml"/>
  <Override PartName="/ppt/media/icon_svg11.svg" ContentType="image/svg+xml"/>
  <Override PartName="/ppt/media/icon_svg12.svg" ContentType="image/svg+xml"/>
  <Override PartName="/ppt/media/icon_svg13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media/icon_svg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mage3.png"/><Relationship Id="rId7" Type="http://schemas.openxmlformats.org/officeDocument/2006/relationships/image" Target="../media/icon_svg3.svg"/><Relationship Id="rId8" Type="http://schemas.openxmlformats.org/officeDocument/2006/relationships/image" Target="../media/image4.png"/><Relationship Id="rId9" Type="http://schemas.openxmlformats.org/officeDocument/2006/relationships/image" Target="../media/icon_svg4.svg"/><Relationship Id="rId10" Type="http://schemas.openxmlformats.org/officeDocument/2006/relationships/image" Target="../media/image5.png"/><Relationship Id="rId11" Type="http://schemas.openxmlformats.org/officeDocument/2006/relationships/image" Target="../media/icon_svg5.svg"/><Relationship Id="rId12" Type="http://schemas.openxmlformats.org/officeDocument/2006/relationships/image" Target="../media/image6.png"/><Relationship Id="rId13" Type="http://schemas.openxmlformats.org/officeDocument/2006/relationships/image" Target="../media/icon_svg6.svg"/><Relationship Id="rId14" Type="http://schemas.openxmlformats.org/officeDocument/2006/relationships/image" Target="../media/image7.png"/><Relationship Id="rId15" Type="http://schemas.openxmlformats.org/officeDocument/2006/relationships/image" Target="../media/icon_svg7.svg"/><Relationship Id="rId16" Type="http://schemas.openxmlformats.org/officeDocument/2006/relationships/image" Target="../media/image8.png"/><Relationship Id="rId17" Type="http://schemas.openxmlformats.org/officeDocument/2006/relationships/image" Target="../media/icon_svg8.svg"/><Relationship Id="rId18" Type="http://schemas.openxmlformats.org/officeDocument/2006/relationships/image" Target="../media/image9.png"/><Relationship Id="rId19" Type="http://schemas.openxmlformats.org/officeDocument/2006/relationships/image" Target="../media/icon_svg9.svg"/><Relationship Id="rId20" Type="http://schemas.openxmlformats.org/officeDocument/2006/relationships/image" Target="../media/image10.png"/><Relationship Id="rId21" Type="http://schemas.openxmlformats.org/officeDocument/2006/relationships/image" Target="../media/icon_svg10.svg"/><Relationship Id="rId22" Type="http://schemas.openxmlformats.org/officeDocument/2006/relationships/image" Target="../media/image11.png"/><Relationship Id="rId23" Type="http://schemas.openxmlformats.org/officeDocument/2006/relationships/image" Target="../media/icon_svg11.svg"/><Relationship Id="rId24" Type="http://schemas.openxmlformats.org/officeDocument/2006/relationships/image" Target="../media/image12.png"/><Relationship Id="rId25" Type="http://schemas.openxmlformats.org/officeDocument/2006/relationships/image" Target="../media/icon_svg12.svg"/><Relationship Id="rId26" Type="http://schemas.openxmlformats.org/officeDocument/2006/relationships/image" Target="../media/image13.png"/><Relationship Id="rId27" Type="http://schemas.openxmlformats.org/officeDocument/2006/relationships/image" Target="../media/icon_svg13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5000" y="29167"/>
            <a:ext cx="11958361" cy="4520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表7-2　ログに残す項目（再現性・F-07評価・再評価に利用）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116667" y="510418"/>
          <a:ext cx="11987528" cy="634376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5841"/>
                <a:gridCol w="4768761"/>
                <a:gridCol w="3922926"/>
              </a:tblGrid>
              <a:tr h="291667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ログ項目</a:t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目的（何のために記録するか）</a:t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利用タイミング（どの場面で使うか）</a:t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0E3F82"/>
                    </a:solidFill>
                  </a:tcPr>
                </a:tc>
              </a:tr>
              <a:tr h="465546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request_id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80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（一意のリクエストID）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1つの質問処理を一意に識別する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関連するログ（検索・生成・検証等）を紐付ける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再現調査、障害対応時の追跡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F-07評価時のケース管理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</a:tr>
              <a:tr h="465546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質問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80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（ユーザーの入力文）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利用者の意図・文脈を確認する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評価時に元の質問を再現する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F-07評価（正答・許容回答の判定）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再評価時の入力再現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65546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正規化後条件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80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（構造化条件JSON）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LLMで抽出・正規化した検索条件を記録する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検索の再現性・妥当性を検証する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検索結果が適切かの分析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再評価時に同一条件での再実行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</a:tr>
              <a:tr h="465546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ルーティング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80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（対象データ・検索対象の振り分け）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どのデータソース・検索方式に振り分けたかを記録する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検索戦略の妥当性を検証する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回答品質の分析（誤ったルーティングの特定）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検索最適化の改善検討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65546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モード別検索結果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80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（SQL・全文・ベクトル・RRF）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各検索モードの取得候補・スコア・件数を記録する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最終候補の根拠となる検索過程を再現する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F-07評価（検索精度・候補妥当性の確認）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再評価時に同一条件での検索再実行・比較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</a:tr>
              <a:tr h="465546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版判定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80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（版・適用範囲の判定結果）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候補データの版の新旧・適用範囲判定の結果を記録する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旧版・適用外の排除や警告の妥当性を確認する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誤った版判定の原因分析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F-07評価（根拠の正確性確認）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65546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生成文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80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（LLMの出力結果）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最終的にユーザーへ提示した説明文を記録する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回答品質の評価・改善に利用する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F-07評価（正答・根拠提示率の確認）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再評価時の出力再現・比較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</a:tr>
              <a:tr h="465546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根拠ID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80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（参照したevidenceのID一覧）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生成文で使用した根拠の参照IDを記録する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根拠付き回答の妥当性・トレーサビリティを確保する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F-07評価（根拠提示率・正確性の確認）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ユーザーからの問い合わせ対応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65546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処理時間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80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（各処理の所要時間）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API全体および各処理（検索・生成・検証等）の時間を記録する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応答性能の評価・ボトルネック分析に利用する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F-07評価（応答時間の確認）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性能改善の検討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</a:tr>
              <a:tr h="465546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データ版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80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（データソースの版・更新日時）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検索対象データの版・更新日時を記録する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評価時と再評価時で同一データを使用できるようにする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再評価時の環境再現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回答差異の原因分析（データ更新の影響確認）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65546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設定版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80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（プロンプト・パラメータの版）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使用したプロンプト・検索パラメータ等の設定版を記録する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設定変更による回答差異を分析する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再評価時の設定再現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A/B比較や改善効果の検証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</a:tr>
              <a:tr h="465546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モデル版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80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（LLM・Embedding・Rerankerの版）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使用したAIモデルの種類・バージョンを記録する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モデル差による回答差異を検証する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再評価時の環境再現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モデル更新時の影響分析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65546">
                <a:tc>
                  <a:txBody>
                    <a:bodyPr wrap="square" lIns="700002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辞書版</a:t>
                      </a:r>
                    </a:p>
                    <a:p>
                      <a:pPr algn="l">
                        <a:lnSpc>
                          <a:spcPts val="1450"/>
                        </a:lnSpc>
                      </a:pPr>
                      <a:r>
                        <a:rPr sz="80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（用語辞書・同義語辞書の版）</a:t>
                      </a:r>
                    </a:p>
                  </a:txBody>
                  <a:tcPr marL="700002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業務用語辞書・同義語辞書の版を記録する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辞書更新による検索・正規化への影響を分析する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75000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再評価時の環境再現</a:t>
                      </a:r>
                    </a:p>
                    <a:p>
                      <a:pPr algn="l" marL="131250" indent="-131250">
                        <a:lnSpc>
                          <a:spcPts val="140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検索精度の改善効果検証</a:t>
                      </a:r>
                    </a:p>
                  </a:txBody>
                  <a:tcPr marL="175000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AF3FC"/>
                    </a:solidFill>
                  </a:tcPr>
                </a:tc>
              </a:tr>
            </a:tbl>
          </a:graphicData>
        </a:graphic>
      </p:graphicFrame>
      <p:pic>
        <p:nvPicPr>
          <p:cNvPr id="4" name="icon azure:templates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01" y="853127"/>
            <a:ext cx="363462" cy="363462"/>
          </a:xfrm>
          <a:prstGeom prst="rect">
            <a:avLst/>
          </a:prstGeom>
        </p:spPr>
      </p:pic>
      <p:pic>
        <p:nvPicPr>
          <p:cNvPr id="5" name="icon azure:language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01" y="1318673"/>
            <a:ext cx="363462" cy="363462"/>
          </a:xfrm>
          <a:prstGeom prst="rect">
            <a:avLst/>
          </a:prstGeom>
        </p:spPr>
      </p:pic>
      <p:pic>
        <p:nvPicPr>
          <p:cNvPr id="6" name="icon azure:file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2501" y="1784219"/>
            <a:ext cx="363462" cy="363462"/>
          </a:xfrm>
          <a:prstGeom prst="rect">
            <a:avLst/>
          </a:prstGeom>
        </p:spPr>
      </p:pic>
      <p:pic>
        <p:nvPicPr>
          <p:cNvPr id="7" name="icon azure:workflow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2501" y="2249765"/>
            <a:ext cx="363462" cy="363462"/>
          </a:xfrm>
          <a:prstGeom prst="rect">
            <a:avLst/>
          </a:prstGeom>
        </p:spPr>
      </p:pic>
      <p:pic>
        <p:nvPicPr>
          <p:cNvPr id="8" name="icon azure:search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2501" y="2715311"/>
            <a:ext cx="363462" cy="363462"/>
          </a:xfrm>
          <a:prstGeom prst="rect">
            <a:avLst/>
          </a:prstGeom>
        </p:spPr>
      </p:pic>
      <p:pic>
        <p:nvPicPr>
          <p:cNvPr id="9" name="icon azure:versions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2501" y="3180857"/>
            <a:ext cx="363462" cy="363462"/>
          </a:xfrm>
          <a:prstGeom prst="rect">
            <a:avLst/>
          </a:prstGeom>
        </p:spPr>
      </p:pic>
      <p:pic>
        <p:nvPicPr>
          <p:cNvPr id="10" name="icon azure:azure-openai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62501" y="3646403"/>
            <a:ext cx="363462" cy="363462"/>
          </a:xfrm>
          <a:prstGeom prst="rect">
            <a:avLst/>
          </a:prstGeom>
        </p:spPr>
      </p:pic>
      <p:pic>
        <p:nvPicPr>
          <p:cNvPr id="11" name="icon azure:private-link" descr="image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2501" y="4111949"/>
            <a:ext cx="363462" cy="363462"/>
          </a:xfrm>
          <a:prstGeom prst="rect">
            <a:avLst/>
          </a:prstGeom>
        </p:spPr>
      </p:pic>
      <p:pic>
        <p:nvPicPr>
          <p:cNvPr id="12" name="icon azure:recent" descr="image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2501" y="4577495"/>
            <a:ext cx="363462" cy="363462"/>
          </a:xfrm>
          <a:prstGeom prst="rect">
            <a:avLst/>
          </a:prstGeom>
        </p:spPr>
      </p:pic>
      <p:pic>
        <p:nvPicPr>
          <p:cNvPr id="13" name="icon azure:sql-database" descr="image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62501" y="5043041"/>
            <a:ext cx="363462" cy="363462"/>
          </a:xfrm>
          <a:prstGeom prst="rect">
            <a:avLst/>
          </a:prstGeom>
        </p:spPr>
      </p:pic>
      <p:pic>
        <p:nvPicPr>
          <p:cNvPr id="14" name="icon azure:app-configuration" descr="image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62501" y="5508587"/>
            <a:ext cx="363462" cy="363462"/>
          </a:xfrm>
          <a:prstGeom prst="rect">
            <a:avLst/>
          </a:prstGeom>
        </p:spPr>
      </p:pic>
      <p:pic>
        <p:nvPicPr>
          <p:cNvPr id="15" name="icon azure:machine-learning" descr="image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62501" y="5974132"/>
            <a:ext cx="363462" cy="363462"/>
          </a:xfrm>
          <a:prstGeom prst="rect">
            <a:avLst/>
          </a:prstGeom>
        </p:spPr>
      </p:pic>
      <p:pic>
        <p:nvPicPr>
          <p:cNvPr id="16" name="icon azure:activity-log" descr="image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62501" y="6439678"/>
            <a:ext cx="363462" cy="3634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
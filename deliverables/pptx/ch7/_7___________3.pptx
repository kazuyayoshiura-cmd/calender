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con_svg6.svg"/><Relationship Id="rId13" Type="http://schemas.openxmlformats.org/officeDocument/2006/relationships/image" Target="../media/image6.png"/><Relationship Id="rId14" Type="http://schemas.openxmlformats.org/officeDocument/2006/relationships/image" Target="../media/icon_svg7.svg"/><Relationship Id="rId15" Type="http://schemas.openxmlformats.org/officeDocument/2006/relationships/image" Target="../media/image7.png"/><Relationship Id="rId16" Type="http://schemas.openxmlformats.org/officeDocument/2006/relationships/image" Target="../media/icon_svg8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5000" y="29167"/>
            <a:ext cx="11958361" cy="4666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図7-2　説明生成と根拠IDの対応</a:t>
            </a:r>
          </a:p>
        </p:txBody>
      </p:sp>
      <p:sp>
        <p:nvSpPr>
          <p:cNvPr id="3" name="Rectangle 2"/>
          <p:cNvSpPr/>
          <p:nvPr/>
        </p:nvSpPr>
        <p:spPr>
          <a:xfrm>
            <a:off x="116667" y="525001"/>
            <a:ext cx="2522923" cy="539585"/>
          </a:xfrm>
          <a:prstGeom prst="rect">
            <a:avLst/>
          </a:prstGeom>
          <a:solidFill>
            <a:srgbClr val="0E3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700"/>
              </a:lnSpc>
            </a:pPr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① 検索結果</a:t>
            </a:r>
          </a:p>
          <a:p>
            <a:pPr algn="ctr">
              <a:lnSpc>
                <a:spcPts val="1700"/>
              </a:lnSpc>
            </a:pPr>
            <a:r>
              <a:rPr sz="90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（候補の evidence[]）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0007" y="525001"/>
            <a:ext cx="2566673" cy="539585"/>
          </a:xfrm>
          <a:prstGeom prst="rect">
            <a:avLst/>
          </a:prstGeom>
          <a:solidFill>
            <a:srgbClr val="0E3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700"/>
              </a:lnSpc>
            </a:pPr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② 説明生成（LLM）</a:t>
            </a:r>
          </a:p>
          <a:p>
            <a:pPr algn="ctr">
              <a:lnSpc>
                <a:spcPts val="1700"/>
              </a:lnSpc>
            </a:pPr>
            <a:r>
              <a:rPr sz="90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（evidence 以外を根拠にしない）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512513" y="525001"/>
            <a:ext cx="2129172" cy="539585"/>
          </a:xfrm>
          <a:prstGeom prst="rect">
            <a:avLst/>
          </a:prstGeom>
          <a:solidFill>
            <a:srgbClr val="0E3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700"/>
              </a:lnSpc>
            </a:pPr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③ 生成結果</a:t>
            </a:r>
          </a:p>
          <a:p>
            <a:pPr algn="ctr">
              <a:lnSpc>
                <a:spcPts val="1700"/>
              </a:lnSpc>
            </a:pPr>
            <a:r>
              <a:rPr sz="100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（参照ID付きの説明文）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935" y="525001"/>
            <a:ext cx="1837504" cy="539585"/>
          </a:xfrm>
          <a:prstGeom prst="rect">
            <a:avLst/>
          </a:prstGeom>
          <a:solidFill>
            <a:srgbClr val="0E3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700"/>
              </a:lnSpc>
            </a:pPr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④ コード検証</a:t>
            </a:r>
          </a:p>
          <a:p>
            <a:pPr algn="ctr">
              <a:lnSpc>
                <a:spcPts val="1700"/>
              </a:lnSpc>
            </a:pPr>
            <a:r>
              <a:rPr sz="100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（参照IDのチェック）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887523" y="525001"/>
            <a:ext cx="2187505" cy="539585"/>
          </a:xfrm>
          <a:prstGeom prst="rect">
            <a:avLst/>
          </a:prstGeom>
          <a:solidFill>
            <a:srgbClr val="0E3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700"/>
              </a:lnSpc>
            </a:pPr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⑤ Dify での表示</a:t>
            </a:r>
          </a:p>
          <a:p>
            <a:pPr algn="ctr">
              <a:lnSpc>
                <a:spcPts val="1700"/>
              </a:lnSpc>
            </a:pPr>
            <a:r>
              <a:rPr sz="100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（回答・根拠・参照リンク）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667" y="1137503"/>
            <a:ext cx="2522923" cy="4214593"/>
          </a:xfrm>
          <a:prstGeom prst="roundRect">
            <a:avLst>
              <a:gd name="adj" fmla="val 1734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667" y="1181253"/>
            <a:ext cx="2522923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検索API /search の結果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167" y="1487503"/>
            <a:ext cx="2347922" cy="1662504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084" y="1575004"/>
            <a:ext cx="364584" cy="320834"/>
          </a:xfrm>
          <a:prstGeom prst="roundRect">
            <a:avLst>
              <a:gd name="adj" fmla="val 9090"/>
            </a:avLst>
          </a:prstGeom>
          <a:solidFill>
            <a:srgbClr val="1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E1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585" y="1545837"/>
            <a:ext cx="1793754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0E2E63"/>
                </a:solidFill>
                <a:latin typeface="Meiryo"/>
                <a:ea typeface="Meiryo"/>
                <a:cs typeface="Meiryo"/>
              </a:rPr>
              <a:t>source_ref_id：REF-0001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585" y="1735421"/>
            <a:ext cx="1793754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ファイル名：作業標準 JP-123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585" y="1895838"/>
            <a:ext cx="1793754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版：Rev.3（2024-05-01）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585" y="2070838"/>
            <a:ext cx="875002" cy="160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本文抜粋：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4585" y="2245839"/>
            <a:ext cx="1720837" cy="437501"/>
          </a:xfrm>
          <a:prstGeom prst="roundRect">
            <a:avLst>
              <a:gd name="adj" fmla="val 6666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918" y="2275005"/>
            <a:ext cx="1618754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「治工具の取り付け後、</a:t>
            </a:r>
            <a:br/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トルク 15N・m で締め付ける。」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585" y="2727090"/>
            <a:ext cx="1793754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場所：p.12 3.2項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585" y="2902090"/>
            <a:ext cx="1793754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種別：作業標準（PDF）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4167" y="3222924"/>
            <a:ext cx="2347922" cy="1662504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7084" y="3310424"/>
            <a:ext cx="364584" cy="320834"/>
          </a:xfrm>
          <a:prstGeom prst="roundRect">
            <a:avLst>
              <a:gd name="adj" fmla="val 9090"/>
            </a:avLst>
          </a:prstGeom>
          <a:solidFill>
            <a:srgbClr val="1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E2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585" y="3281258"/>
            <a:ext cx="1793754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0E2E63"/>
                </a:solidFill>
                <a:latin typeface="Meiryo"/>
                <a:ea typeface="Meiryo"/>
                <a:cs typeface="Meiryo"/>
              </a:rPr>
              <a:t>source_ref_id：REF-0456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585" y="3470841"/>
            <a:ext cx="1793754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ファイル名：TOS-2024-001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585" y="3631258"/>
            <a:ext cx="1793754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版：A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585" y="3806259"/>
            <a:ext cx="875002" cy="160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本文抜粋：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4585" y="3981259"/>
            <a:ext cx="1720837" cy="437501"/>
          </a:xfrm>
          <a:prstGeom prst="roundRect">
            <a:avLst>
              <a:gd name="adj" fmla="val 6666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918" y="4010426"/>
            <a:ext cx="1618754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「本工程では治工具Aを使用し、</a:t>
            </a:r>
            <a:br/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締付トルクは15N・mとする。」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585" y="4462510"/>
            <a:ext cx="1793754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場所：工程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585" y="4637511"/>
            <a:ext cx="1793754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種別：N-PLUS（TOS）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667" y="5002095"/>
            <a:ext cx="2522923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150"/>
              </a:lnSpc>
            </a:pPr>
            <a:r>
              <a:rPr sz="8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・・・</a:t>
            </a:r>
          </a:p>
          <a:p>
            <a:pPr algn="ctr">
              <a:lnSpc>
                <a:spcPts val="1150"/>
              </a:lnSpc>
            </a:pPr>
            <a:r>
              <a:rPr sz="8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（上位 N 件を evidence[] として提示）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54173" y="3062507"/>
            <a:ext cx="247917" cy="0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95839" y="2522923"/>
            <a:ext cx="437501" cy="5104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02090" y="1137503"/>
            <a:ext cx="2362505" cy="3704175"/>
          </a:xfrm>
          <a:prstGeom prst="roundRect">
            <a:avLst>
              <a:gd name="adj" fmla="val 1851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018757" y="1225003"/>
            <a:ext cx="2129172" cy="125417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con azure:azure-openai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0842" y="1327086"/>
            <a:ext cx="525001" cy="52500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018757" y="1910421"/>
            <a:ext cx="2129172" cy="481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70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</a:t>
            </a:r>
          </a:p>
          <a:p>
            <a:pPr algn="ctr">
              <a:lnSpc>
                <a:spcPts val="170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（生成）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8757" y="2566673"/>
            <a:ext cx="2129172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evidence[]</a:t>
            </a:r>
            <a:r>
              <a:rPr sz="7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（本文・場所・source_ref）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8757" y="2829173"/>
            <a:ext cx="2129172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プロンプト（抜粋）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8757" y="3077090"/>
            <a:ext cx="2158338" cy="17208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16667" indent="-116667">
              <a:lnSpc>
                <a:spcPts val="14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以下の evidence[] だけを根拠にして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回答してください。</a:t>
            </a:r>
          </a:p>
          <a:p>
            <a:pPr algn="l" marL="116667" indent="-116667">
              <a:lnSpc>
                <a:spcPts val="14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evidence にない情報は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生成しないでください。</a:t>
            </a:r>
          </a:p>
          <a:p>
            <a:pPr algn="l" marL="116667" indent="-116667">
              <a:lnSpc>
                <a:spcPts val="14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文章中に必ず参照IDを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[E1][E2] の形式で付与してください。</a:t>
            </a:r>
          </a:p>
          <a:p>
            <a:pPr algn="l" marL="116667" indent="-116667">
              <a:lnSpc>
                <a:spcPts val="14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不明な点は「根拠が不足しています」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としてください。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279179" y="3062507"/>
            <a:ext cx="277084" cy="0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556263" y="1137503"/>
            <a:ext cx="2041671" cy="3704175"/>
          </a:xfrm>
          <a:prstGeom prst="roundRect">
            <a:avLst>
              <a:gd name="adj" fmla="val 2142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629180" y="1210419"/>
            <a:ext cx="1895838" cy="3558342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9180" y="1239586"/>
            <a:ext cx="1895838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 の出力例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731263" y="1516670"/>
            <a:ext cx="1691671" cy="0"/>
          </a:xfrm>
          <a:prstGeom prst="line">
            <a:avLst/>
          </a:prstGeom>
          <a:ln w="7292">
            <a:solidFill>
              <a:srgbClr val="C4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716680" y="1589587"/>
            <a:ext cx="1764587" cy="31208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TOS-2024-001 では、本工程で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治工具Aを使用し、締付トルクは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15N・m と規定されています </a:t>
            </a:r>
            <a:r>
              <a:rPr sz="900" b="1" i="0">
                <a:solidFill>
                  <a:srgbClr val="1F7FE0"/>
                </a:solidFill>
                <a:latin typeface="Meiryo"/>
                <a:ea typeface="Meiryo"/>
                <a:cs typeface="Meiryo"/>
              </a:rPr>
              <a:t>[E2]</a:t>
            </a: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algn="l">
              <a:lnSpc>
                <a:spcPts val="1600"/>
              </a:lnSpc>
              <a:spcBef>
                <a:spcPts val="800"/>
              </a:spcBef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また、作業標準 JP-123 では、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治工具の取り付け後、トルク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15N・m で締め付ける手順が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記載されています </a:t>
            </a:r>
            <a:r>
              <a:rPr sz="900" b="1" i="0">
                <a:solidFill>
                  <a:srgbClr val="1F7FE0"/>
                </a:solidFill>
                <a:latin typeface="Meiryo"/>
                <a:ea typeface="Meiryo"/>
                <a:cs typeface="Meiryo"/>
              </a:rPr>
              <a:t>[E1]</a:t>
            </a: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algn="l">
              <a:lnSpc>
                <a:spcPts val="1600"/>
              </a:lnSpc>
              <a:spcBef>
                <a:spcPts val="800"/>
              </a:spcBef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したがって、本工程の治工具A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の締付トルクは 15N・m です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/>
            </a:r>
            <a:r>
              <a:rPr sz="900" b="1" i="0">
                <a:solidFill>
                  <a:srgbClr val="1F7FE0"/>
                </a:solidFill>
                <a:latin typeface="Meiryo"/>
                <a:ea typeface="Meiryo"/>
                <a:cs typeface="Meiryo"/>
              </a:rPr>
              <a:t>[E1][E2]</a:t>
            </a: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612518" y="3062507"/>
            <a:ext cx="218750" cy="0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816685" y="1137503"/>
            <a:ext cx="1750004" cy="3193757"/>
          </a:xfrm>
          <a:prstGeom prst="roundRect">
            <a:avLst>
              <a:gd name="adj" fmla="val 25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icon azure:form-recognizers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8768" y="1239586"/>
            <a:ext cx="422918" cy="45208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400020" y="1268753"/>
            <a:ext cx="1137503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コード検証</a:t>
            </a:r>
          </a:p>
          <a:p>
            <a:pPr algn="l">
              <a:lnSpc>
                <a:spcPts val="1500"/>
              </a:lnSpc>
            </a:pPr>
            <a:r>
              <a:rPr sz="85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（ルールチェック）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04185" y="1808338"/>
            <a:ext cx="1575004" cy="1195836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904185" y="1808338"/>
            <a:ext cx="1575004" cy="277084"/>
          </a:xfrm>
          <a:prstGeom prst="roundRect">
            <a:avLst>
              <a:gd name="adj" fmla="val 15789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参照IDの付与確認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77102" y="2143755"/>
            <a:ext cx="1458337" cy="8312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4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すべての主張に参照ID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が付いているか</a:t>
            </a:r>
          </a:p>
          <a:p>
            <a:pPr algn="l" marL="102084" indent="-102084">
              <a:lnSpc>
                <a:spcPts val="14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存在しない参照IDが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含まれていないか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04185" y="3077090"/>
            <a:ext cx="1575004" cy="1195836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904185" y="3077090"/>
            <a:ext cx="1575004" cy="277084"/>
          </a:xfrm>
          <a:prstGeom prst="roundRect">
            <a:avLst>
              <a:gd name="adj" fmla="val 15789"/>
            </a:avLst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根拠の整合性確認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77102" y="3412508"/>
            <a:ext cx="1458337" cy="8312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4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evidence の内容と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矛盾していないか</a:t>
            </a:r>
          </a:p>
          <a:p>
            <a:pPr algn="l" marL="102084" indent="-102084">
              <a:lnSpc>
                <a:spcPts val="14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根拠不足の主張がないか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81272" y="2654173"/>
            <a:ext cx="320834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検証</a:t>
            </a:r>
          </a:p>
          <a:p>
            <a:pPr algn="ctr">
              <a:lnSpc>
                <a:spcPts val="12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OK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566689" y="3062507"/>
            <a:ext cx="335417" cy="0"/>
          </a:xfrm>
          <a:prstGeom prst="line">
            <a:avLst/>
          </a:prstGeom>
          <a:ln w="18229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691687" y="4345843"/>
            <a:ext cx="0" cy="612502"/>
          </a:xfrm>
          <a:prstGeom prst="line">
            <a:avLst/>
          </a:prstGeom>
          <a:ln w="18229">
            <a:solidFill>
              <a:srgbClr val="D4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131267" y="4389594"/>
            <a:ext cx="1487503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250"/>
              </a:lnSpc>
            </a:pPr>
            <a:r>
              <a:rPr sz="1000" b="1" i="0">
                <a:solidFill>
                  <a:srgbClr val="C0303A"/>
                </a:solidFill>
                <a:latin typeface="Meiryo"/>
                <a:ea typeface="Meiryo"/>
                <a:cs typeface="Meiryo"/>
              </a:rPr>
              <a:t>NG</a:t>
            </a:r>
          </a:p>
          <a:p>
            <a:pPr algn="r">
              <a:lnSpc>
                <a:spcPts val="1250"/>
              </a:lnSpc>
            </a:pPr>
            <a:r>
              <a:rPr sz="700" b="0" i="0">
                <a:solidFill>
                  <a:srgbClr val="C0303A"/>
                </a:solidFill>
                <a:latin typeface="Meiryo"/>
                <a:ea typeface="Meiryo"/>
                <a:cs typeface="Meiryo"/>
              </a:rPr>
              <a:t>（根拠不足・矛盾・参照IDなし）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87523" y="1137503"/>
            <a:ext cx="2187505" cy="3704175"/>
          </a:xfrm>
          <a:prstGeom prst="roundRect">
            <a:avLst>
              <a:gd name="adj" fmla="val 2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87523" y="1181253"/>
            <a:ext cx="2187505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Dify チャット画面（表示例）</a:t>
            </a:r>
          </a:p>
        </p:txBody>
      </p:sp>
      <p:pic>
        <p:nvPicPr>
          <p:cNvPr id="62" name="icon azure:users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75023" y="1472920"/>
            <a:ext cx="247917" cy="262501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10295857" y="1472920"/>
            <a:ext cx="1691671" cy="262501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この工程の治具の締付トルクは？</a:t>
            </a:r>
          </a:p>
        </p:txBody>
      </p:sp>
      <p:pic>
        <p:nvPicPr>
          <p:cNvPr id="64" name="icon azure:bot-services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75023" y="1881254"/>
            <a:ext cx="247917" cy="247917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10295857" y="1837504"/>
            <a:ext cx="1691671" cy="1910421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68774" y="1895838"/>
            <a:ext cx="1575004" cy="182292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TOS-2024-001 では、本工程</a:t>
            </a:r>
            <a:br/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では治工具Aを使用し、締付</a:t>
            </a:r>
            <a:br/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トルクは 15N・m と規定され</a:t>
            </a:r>
            <a:br/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ています </a:t>
            </a:r>
            <a:r>
              <a:rPr sz="750" b="1" i="0">
                <a:solidFill>
                  <a:srgbClr val="1F7FE0"/>
                </a:solidFill>
                <a:latin typeface="Meiryo"/>
                <a:ea typeface="Meiryo"/>
                <a:cs typeface="Meiryo"/>
              </a:rPr>
              <a:t>[E2]</a:t>
            </a: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algn="l">
              <a:lnSpc>
                <a:spcPts val="1150"/>
              </a:lnSpc>
              <a:spcBef>
                <a:spcPts val="350"/>
              </a:spcBef>
            </a:pP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また、作業標準 JP-123 では、</a:t>
            </a:r>
            <a:br/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治工具の取り付け後、トルク</a:t>
            </a:r>
            <a:br/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15N・m で締め付ける手順が</a:t>
            </a:r>
            <a:br/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記載されています </a:t>
            </a:r>
            <a:r>
              <a:rPr sz="750" b="1" i="0">
                <a:solidFill>
                  <a:srgbClr val="1F7FE0"/>
                </a:solidFill>
                <a:latin typeface="Meiryo"/>
                <a:ea typeface="Meiryo"/>
                <a:cs typeface="Meiryo"/>
              </a:rPr>
              <a:t>[E1]</a:t>
            </a: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algn="l">
              <a:lnSpc>
                <a:spcPts val="1150"/>
              </a:lnSpc>
              <a:spcBef>
                <a:spcPts val="350"/>
              </a:spcBef>
            </a:pP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したがって、本工程の治工具A</a:t>
            </a:r>
            <a:br/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の締付トルクは 15N・m です</a:t>
            </a:r>
            <a:br/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/>
            </a:r>
            <a:r>
              <a:rPr sz="750" b="1" i="0">
                <a:solidFill>
                  <a:srgbClr val="1F7FE0"/>
                </a:solidFill>
                <a:latin typeface="Meiryo"/>
                <a:ea typeface="Meiryo"/>
                <a:cs typeface="Meiryo"/>
              </a:rPr>
              <a:t>[E1][E2]</a:t>
            </a:r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75023" y="3835426"/>
            <a:ext cx="1458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参照資料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75023" y="4068759"/>
            <a:ext cx="2012505" cy="29166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018773" y="4097926"/>
            <a:ext cx="262501" cy="233334"/>
          </a:xfrm>
          <a:prstGeom prst="roundRect">
            <a:avLst>
              <a:gd name="adj" fmla="val 9375"/>
            </a:avLst>
          </a:prstGeom>
          <a:solidFill>
            <a:srgbClr val="1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E1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25024" y="4068759"/>
            <a:ext cx="1429170" cy="2916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作業標準 JP-123（Rev.3）p.12</a:t>
            </a:r>
          </a:p>
        </p:txBody>
      </p:sp>
      <p:pic>
        <p:nvPicPr>
          <p:cNvPr id="71" name="icon lucide:external-link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768777" y="4134385"/>
            <a:ext cx="160417" cy="160417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9975023" y="4404177"/>
            <a:ext cx="2012505" cy="29166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018773" y="4433344"/>
            <a:ext cx="262501" cy="233334"/>
          </a:xfrm>
          <a:prstGeom prst="roundRect">
            <a:avLst>
              <a:gd name="adj" fmla="val 9375"/>
            </a:avLst>
          </a:prstGeom>
          <a:solidFill>
            <a:srgbClr val="1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E2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25024" y="4404177"/>
            <a:ext cx="1429170" cy="2916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TOS-2024-001（A）工程10</a:t>
            </a:r>
          </a:p>
        </p:txBody>
      </p:sp>
      <p:pic>
        <p:nvPicPr>
          <p:cNvPr id="75" name="icon lucide:external-link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68777" y="4469802"/>
            <a:ext cx="160417" cy="160417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3252091" y="4958345"/>
            <a:ext cx="8822937" cy="904169"/>
          </a:xfrm>
          <a:prstGeom prst="roundRect">
            <a:avLst>
              <a:gd name="adj" fmla="val 4838"/>
            </a:avLst>
          </a:prstGeom>
          <a:solidFill>
            <a:srgbClr val="FDEDED"/>
          </a:solidFill>
          <a:ln w="10938">
            <a:solidFill>
              <a:srgbClr val="F0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icon material:error-fill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68758" y="5045845"/>
            <a:ext cx="306251" cy="306251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733342" y="5031262"/>
            <a:ext cx="4375010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D42A2A"/>
                </a:solidFill>
                <a:latin typeface="Meiryo"/>
                <a:ea typeface="Meiryo"/>
                <a:cs typeface="Meiryo"/>
              </a:rPr>
              <a:t>保留</a:t>
            </a:r>
            <a:r>
              <a:rPr sz="1000" b="1" i="0">
                <a:solidFill>
                  <a:srgbClr val="D42A2A"/>
                </a:solidFill>
                <a:latin typeface="Meiryo"/>
                <a:ea typeface="Meiryo"/>
                <a:cs typeface="Meiryo"/>
              </a:rPr>
              <a:t>（根拠不足・矛盾時）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33342" y="5293762"/>
            <a:ext cx="5395846" cy="554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02084" indent="-102084">
              <a:lnSpc>
                <a:spcPts val="14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evidence に該当情報がない、または矛盾がある場合は回答を保留</a:t>
            </a:r>
          </a:p>
          <a:p>
            <a:pPr algn="l" marL="102084" indent="-102084">
              <a:lnSpc>
                <a:spcPts val="14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「根拠が不足しています／情報が矛盾しています」として返す（参照IDなしの文は削除）</a:t>
            </a:r>
          </a:p>
          <a:p>
            <a:pPr algn="l" marL="102084" indent="-102084">
              <a:lnSpc>
                <a:spcPts val="14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必要に応じて追加検索や対象の見直しを促す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202105" y="5060428"/>
            <a:ext cx="2770840" cy="71458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icon azure:bot-services" descr="image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04188" y="5235429"/>
            <a:ext cx="335417" cy="335417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727106" y="5104179"/>
            <a:ext cx="2187505" cy="62708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該当する情報が見つかりませんでした。</a:t>
            </a:r>
          </a:p>
          <a:p>
            <a:pPr algn="l">
              <a:lnSpc>
                <a:spcPts val="1400"/>
              </a:lnSpc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根拠が不足しています。</a:t>
            </a:r>
          </a:p>
          <a:p>
            <a:pPr algn="l">
              <a:lnSpc>
                <a:spcPts val="1400"/>
              </a:lnSpc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別の条件で再検索してください。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6667" y="5964597"/>
            <a:ext cx="11958361" cy="831252"/>
          </a:xfrm>
          <a:prstGeom prst="roundRect">
            <a:avLst>
              <a:gd name="adj" fmla="val 7017"/>
            </a:avLst>
          </a:prstGeom>
          <a:solidFill>
            <a:srgbClr val="E6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218751" y="6052097"/>
            <a:ext cx="2377089" cy="641668"/>
          </a:xfrm>
          <a:prstGeom prst="roundRect">
            <a:avLst>
              <a:gd name="adj" fmla="val 6818"/>
            </a:avLst>
          </a:prstGeom>
          <a:solidFill>
            <a:srgbClr val="0E3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950"/>
              </a:lnSpc>
            </a:pPr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二重の Faithfulness 担保</a:t>
            </a:r>
          </a:p>
          <a:p>
            <a:pPr algn="ctr">
              <a:lnSpc>
                <a:spcPts val="1950"/>
              </a:lnSpc>
            </a:pPr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（ハルシネーション抑制）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770840" y="6052097"/>
            <a:ext cx="3062507" cy="64166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750">
            <a:solidFill>
              <a:srgbClr val="9DB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872923" y="6197931"/>
            <a:ext cx="350001" cy="350001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10424" y="6081264"/>
            <a:ext cx="2406256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生成時の制約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10424" y="6314598"/>
            <a:ext cx="2493756" cy="3645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94792" indent="-94792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LLMに「evidence 以外を根拠にしない」指示</a:t>
            </a:r>
          </a:p>
          <a:p>
            <a:pPr algn="l" marL="94792" indent="-94792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必ず参照IDを付与するようプロンプトで制約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372931" y="6052097"/>
            <a:ext cx="3062507" cy="64166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750">
            <a:solidFill>
              <a:srgbClr val="9DB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475015" y="6197931"/>
            <a:ext cx="350001" cy="350001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12516" y="6081264"/>
            <a:ext cx="2406256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事後のコード検証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12516" y="6314598"/>
            <a:ext cx="2493756" cy="3645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94792" indent="-94792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参照ID未付与文の検出・削除または保留</a:t>
            </a:r>
          </a:p>
          <a:p>
            <a:pPr algn="l" marL="94792" indent="-94792">
              <a:lnSpc>
                <a:spcPts val="1250"/>
              </a:lnSpc>
              <a:buFont typeface="Arial"/>
              <a:buChar char="•"/>
            </a:pPr>
            <a:r>
              <a:rPr sz="8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evidence と矛盾する記述の検出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877097" y="6168764"/>
            <a:ext cx="466668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550" b="1" i="0">
                <a:solidFill>
                  <a:srgbClr val="1F6FD1"/>
                </a:solidFill>
                <a:latin typeface="Meiryo"/>
                <a:ea typeface="Meiryo"/>
                <a:cs typeface="Meiryo"/>
              </a:rPr>
              <a:t>+</a:t>
            </a:r>
          </a:p>
        </p:txBody>
      </p:sp>
      <p:sp>
        <p:nvSpPr>
          <p:cNvPr id="94" name="Right Arrow 93"/>
          <p:cNvSpPr/>
          <p:nvPr/>
        </p:nvSpPr>
        <p:spPr>
          <a:xfrm>
            <a:off x="9610439" y="6197931"/>
            <a:ext cx="379168" cy="335417"/>
          </a:xfrm>
          <a:prstGeom prst="rightArrow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0091690" y="6095848"/>
            <a:ext cx="1910421" cy="55416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8229">
            <a:solidFill>
              <a:srgbClr val="1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根拠に基づく</a:t>
            </a:r>
          </a:p>
          <a:p>
            <a:pPr algn="ctr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信頼性の高い回答を表示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
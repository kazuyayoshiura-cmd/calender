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5000" y="29167"/>
            <a:ext cx="11958361" cy="4666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表7-1　API入出力仕様（要約）</a:t>
            </a:r>
          </a:p>
        </p:txBody>
      </p:sp>
      <p:graphicFrame>
        <p:nvGraphicFramePr>
          <p:cNvPr id="3" name="api-table"/>
          <p:cNvGraphicFramePr>
            <a:graphicFrameLocks noGrp="1"/>
          </p:cNvGraphicFramePr>
          <p:nvPr/>
        </p:nvGraphicFramePr>
        <p:xfrm>
          <a:off x="116667" y="510418"/>
          <a:ext cx="11972945" cy="6329181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3339"/>
                <a:gridCol w="3310424"/>
                <a:gridCol w="3047924"/>
                <a:gridCol w="3281258"/>
              </a:tblGrid>
              <a:tr h="33541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エンドポイント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入力（リクエスト）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出力（レスポンス）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確定処理・制約</a:t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</a:tr>
              <a:tr h="1312503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02084" tIns="14583" rIns="43750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LLMで質問の意図を解釈し、検索条件を抽出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業務用語・同義語の正規化、コード値検証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不明・曖昧な項目は確認メッセージを返す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このAPIで確定するのは「構造化条件」のみ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実データの検索は行わない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解釈・検証のログを記録（F-07）</a:t>
                      </a:r>
                    </a:p>
                  </a:txBody>
                  <a:tcPr marL="102084" marT="14583" marR="43750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</a:tr>
              <a:tr h="142917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02084" tIns="14583" rIns="43750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mode：exact / similar / hybrid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filters：各種条件（機種、期間、ステータス等）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top_k：取得件数（例：10、20、50）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複数手法（SQL・全文・ベクトル検索）を統合し</a:t>
                      </a:r>
                      <a:br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RRFでランク付け、必要に応じて再ランキング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権限・アクセス制御を適用</a:t>
                      </a:r>
                    </a:p>
                    <a:p>
                      <a:pPr algn="l" marL="116667" indent="-116667">
                        <a:lnSpc>
                          <a:spcPts val="12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このAPIで確定するのは「検索結果（候補リスト）」</a:t>
                      </a:r>
                    </a:p>
                  </a:txBody>
                  <a:tcPr marL="102084" marT="14583" marR="43750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</a:tr>
              <a:tr h="1181253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02084" tIns="14583" rIns="43750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候補の内容を取得し、根拠情報を参照して説明生成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evidenceに source_ref_id・ページ・引用箇所等を付与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事実に基づく説明を生成（推測は抑制）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このAPIで確定するのは「説明文と根拠の紐付け」</a:t>
                      </a:r>
                    </a:p>
                  </a:txBody>
                  <a:tcPr marL="102084" marT="14583" marR="43750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</a:tr>
              <a:tr h="1312503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02084" tIns="14583" rIns="43750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指定した候補（2～3件）の主要項目を比較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一致点・相違点を整理して提示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欠損している項目は「未記載」として表示し、</a:t>
                      </a:r>
                      <a:br/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値の補完や推測は行わない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根拠となる source_ref_id を併記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このAPIで確定するのは「比較結果の提示」のみ</a:t>
                      </a:r>
                    </a:p>
                  </a:txBody>
                  <a:tcPr marL="102084" marT="14583" marR="43750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</a:tr>
              <a:tr h="75833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02084" tIns="14583" rIns="43750" bIns="14583" anchor="ctr">
                      <a:noAutofit/>
                    </a:bodyPr>
                    <a:lstStyle/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source_ref_id に対応する原本データを取得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ファイル種別（PDF／TIFF／図面 等）に応じて返却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アクセス権限を確認し、許可されたデータのみ返す</a:t>
                      </a:r>
                    </a:p>
                    <a:p>
                      <a:pPr algn="l" marL="116667" indent="-116667">
                        <a:lnSpc>
                          <a:spcPts val="1450"/>
                        </a:lnSpc>
                        <a:buFont typeface="Arial"/>
                        <a:buChar char="•"/>
                      </a:pPr>
                      <a:r>
                        <a:rPr sz="9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このAPIで確定するのは「原本データの取得」のみ</a:t>
                      </a:r>
                    </a:p>
                  </a:txBody>
                  <a:tcPr marL="102084" marT="14583" marR="43750" marB="14583" anchor="ctr">
                    <a:lnB w="14583">
                      <a:solidFill>
                        <a:srgbClr val="D6E1EE"/>
                      </a:solidFill>
                    </a:lnB>
                    <a:lnT w="14583">
                      <a:solidFill>
                        <a:srgbClr val="D6E1EE"/>
                      </a:solidFill>
                    </a:lnT>
                    <a:lnR w="14583">
                      <a:solidFill>
                        <a:srgbClr val="D6E1EE"/>
                      </a:solidFill>
                    </a:lnR>
                    <a:lnL w="14583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33334" y="933336"/>
            <a:ext cx="627085" cy="218751"/>
          </a:xfrm>
          <a:prstGeom prst="roundRect">
            <a:avLst>
              <a:gd name="adj" fmla="val 13333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8751" y="1166669"/>
            <a:ext cx="2114588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/interpret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334" y="1502087"/>
            <a:ext cx="2085422" cy="6270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 → 構造化条件JSON</a:t>
            </a:r>
            <a:br/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（LLM＋検証・正規化ログ）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2089" y="889585"/>
            <a:ext cx="3164591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自然言語の質問、コンテキスト情報 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2089" y="1122919"/>
            <a:ext cx="3106257" cy="977086"/>
          </a:xfrm>
          <a:prstGeom prst="roundRect">
            <a:avLst>
              <a:gd name="adj" fmla="val 447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0423" y="1152086"/>
            <a:ext cx="3018757" cy="918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"question": "部品番号Aの過去TOSを探したい",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"context": {"user_id": "u123", ...},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"options": {"domain": "TOS"}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2514" y="889585"/>
            <a:ext cx="2902090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構造化条件JSON（正規化後）＋ 検証結果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2514" y="1122919"/>
            <a:ext cx="2843757" cy="977086"/>
          </a:xfrm>
          <a:prstGeom prst="roundRect">
            <a:avLst>
              <a:gd name="adj" fmla="val 447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20847" y="1152086"/>
            <a:ext cx="2756256" cy="918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"conditions": 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"part_no": "A", "target": "TOS",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"time_range": null, ...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},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"validation": {"status": "ok", "messages": []},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"normalized_query": "..."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334" y="2245839"/>
            <a:ext cx="627085" cy="218751"/>
          </a:xfrm>
          <a:prstGeom prst="roundRect">
            <a:avLst>
              <a:gd name="adj" fmla="val 13333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751" y="2479172"/>
            <a:ext cx="2114588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/search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334" y="2814590"/>
            <a:ext cx="2085422" cy="743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条件JSON → 候補リスト</a:t>
            </a:r>
            <a:br/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（SQL・全文・ベクトル検索+RRF）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089" y="2202088"/>
            <a:ext cx="3164591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検索条件JSON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52089" y="2435422"/>
            <a:ext cx="3106257" cy="1093753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10423" y="2464589"/>
            <a:ext cx="3018757" cy="10354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"conditions": {"part_no": "A", "target": "TOS"},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"mode": "hybrid",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"filters": {"model": "B737",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        "date_from": "2020-01-01"},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"top_k": 20,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"rerank": true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2514" y="2202088"/>
            <a:ext cx="2902090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検索候補リスト（スコア付き）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62514" y="2435422"/>
            <a:ext cx="2843757" cy="1093753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20847" y="2464589"/>
            <a:ext cx="2756256" cy="103541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"results": [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{ "id": "TOS-2024-001", "score": 0.92,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"title": "治工具製作指示票",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"summary": "...",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"source_ref_id": "REF-0001" }, ...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]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334" y="3675009"/>
            <a:ext cx="627085" cy="218751"/>
          </a:xfrm>
          <a:prstGeom prst="roundRect">
            <a:avLst>
              <a:gd name="adj" fmla="val 13333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751" y="3908342"/>
            <a:ext cx="2114588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/explain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334" y="4243760"/>
            <a:ext cx="2085422" cy="49583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候補ID → evidence参照</a:t>
            </a:r>
            <a:br/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ID付き説明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2089" y="3631258"/>
            <a:ext cx="3164591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候補ID、質問（任意）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52089" y="3864592"/>
            <a:ext cx="3106257" cy="845835"/>
          </a:xfrm>
          <a:prstGeom prst="roundRect">
            <a:avLst>
              <a:gd name="adj" fmla="val 5172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0423" y="3893759"/>
            <a:ext cx="3018757" cy="7875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"id": "TOS-2024-001",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"question": "このTOSのポイントを教えて"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62514" y="3631258"/>
            <a:ext cx="2902090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根拠付き説明（evidence参照ID付き）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62514" y="3864592"/>
            <a:ext cx="2843757" cy="845835"/>
          </a:xfrm>
          <a:prstGeom prst="roundRect">
            <a:avLst>
              <a:gd name="adj" fmla="val 5172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0847" y="3893759"/>
            <a:ext cx="2756256" cy="78750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"id": "TOS-2024-001",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"explanation": "このTOSは…であり、…",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"evidence": [{ "source_ref_id": "REF-0001",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"page": 3, "chunk_id": "C-01", "quote": "..." },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...]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334" y="4856261"/>
            <a:ext cx="627085" cy="218751"/>
          </a:xfrm>
          <a:prstGeom prst="roundRect">
            <a:avLst>
              <a:gd name="adj" fmla="val 13333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8751" y="5089595"/>
            <a:ext cx="2114588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/compare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334" y="5425013"/>
            <a:ext cx="2085422" cy="62708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候補2～3件の一致・相違</a:t>
            </a:r>
            <a:br/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（欠損を補完しない）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52089" y="4812511"/>
            <a:ext cx="3164591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比較対象の候補ID（2～3件）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52089" y="5045845"/>
            <a:ext cx="3106257" cy="977086"/>
          </a:xfrm>
          <a:prstGeom prst="roundRect">
            <a:avLst>
              <a:gd name="adj" fmla="val 447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10423" y="5075012"/>
            <a:ext cx="3018757" cy="918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"ids": ["TOS-2024-001", "TOS-2023-045",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    "TOS-2021-012"],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"compare_items": ["工程", "使用部品", "改訂点"]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2514" y="4812511"/>
            <a:ext cx="2902090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比較結果（一致・相違の整理表）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62514" y="5045845"/>
            <a:ext cx="2843757" cy="977086"/>
          </a:xfrm>
          <a:prstGeom prst="roundRect">
            <a:avLst>
              <a:gd name="adj" fmla="val 4477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20847" y="5075012"/>
            <a:ext cx="2756256" cy="918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"comparison": [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{ "item": "工程",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"TOS-2024-001": "機械加工",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"TOS-2023-045": "機械加工",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"TOS-2021-012": "手加工",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    "note": "2021のみ異なる" }, ... ]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3334" y="6168764"/>
            <a:ext cx="627085" cy="218751"/>
          </a:xfrm>
          <a:prstGeom prst="roundRect">
            <a:avLst>
              <a:gd name="adj" fmla="val 13333"/>
            </a:avLst>
          </a:prstGeom>
          <a:solidFill>
            <a:srgbClr val="1F7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8751" y="6387515"/>
            <a:ext cx="2114588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00" b="1" i="0">
                <a:solidFill>
                  <a:srgbClr val="0E2E63"/>
                </a:solidFill>
                <a:latin typeface="Meiryo"/>
                <a:ea typeface="Meiryo"/>
                <a:cs typeface="Meiryo"/>
              </a:rPr>
              <a:t>/source/{ref_id}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334" y="6650015"/>
            <a:ext cx="2085422" cy="175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450"/>
              </a:lnSpc>
            </a:pPr>
            <a:r>
              <a:rPr sz="8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原本参照（ドキュメント・図面等）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52089" y="6125014"/>
            <a:ext cx="3164591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参照ID（パスパラメータ）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52089" y="6358348"/>
            <a:ext cx="3106257" cy="422918"/>
          </a:xfrm>
          <a:prstGeom prst="roundRect">
            <a:avLst>
              <a:gd name="adj" fmla="val 10344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10423" y="6387515"/>
            <a:ext cx="3018757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900"/>
              </a:lnSpc>
            </a:pPr>
            <a:r>
              <a:rPr sz="100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/source/REF-0001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62514" y="6125014"/>
            <a:ext cx="2902090" cy="2041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原本データ（メタ情報付き）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62514" y="6358348"/>
            <a:ext cx="2843757" cy="422918"/>
          </a:xfrm>
          <a:prstGeom prst="roundRect">
            <a:avLst>
              <a:gd name="adj" fmla="val 10344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20847" y="6387515"/>
            <a:ext cx="2756256" cy="3645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00"/>
              </a:lnSpc>
            </a:pPr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{ "ref_id": "REF-0001", "type": "pdf",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"file_url": "/files/...",</a:t>
            </a:r>
            <a:br/>
            <a:r>
              <a:rPr sz="650" b="0" i="0">
                <a:solidFill>
                  <a:srgbClr val="1E2A44"/>
                </a:solidFill>
                <a:latin typeface="Consolas"/>
                <a:ea typeface="Consolas"/>
                <a:cs typeface="Consolas"/>
              </a:rPr>
              <a:t>  "metadata": {"title": "...", "page": 3, ...} 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
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con_svg1.svg" ContentType="image/svg+xml"/>
  <Override PartName="/ppt/media/icon_svg10.svg" ContentType="image/svg+xml"/>
  <Override PartName="/ppt/media/icon_svg11.svg" ContentType="image/svg+xml"/>
  <Override PartName="/ppt/media/icon_svg2.svg" ContentType="image/svg+xml"/>
  <Override PartName="/ppt/media/icon_svg3.svg" ContentType="image/svg+xml"/>
  <Override PartName="/ppt/media/icon_svg4.svg" ContentType="image/svg+xml"/>
  <Override PartName="/ppt/media/icon_svg5.svg" ContentType="image/svg+xml"/>
  <Override PartName="/ppt/media/icon_svg6.svg" ContentType="image/svg+xml"/>
  <Override PartName="/ppt/media/icon_svg7.svg" ContentType="image/svg+xml"/>
  <Override PartName="/ppt/media/icon_svg8.svg" ContentType="image/svg+xml"/>
  <Override PartName="/ppt/media/icon_svg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6147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con_svg1.svg"/><Relationship Id="rId4" Type="http://schemas.openxmlformats.org/officeDocument/2006/relationships/image" Target="../media/image2.png"/><Relationship Id="rId5" Type="http://schemas.openxmlformats.org/officeDocument/2006/relationships/image" Target="../media/icon_svg2.svg"/><Relationship Id="rId6" Type="http://schemas.openxmlformats.org/officeDocument/2006/relationships/image" Target="../media/image3.png"/><Relationship Id="rId7" Type="http://schemas.openxmlformats.org/officeDocument/2006/relationships/image" Target="../media/icon_svg3.svg"/><Relationship Id="rId8" Type="http://schemas.openxmlformats.org/officeDocument/2006/relationships/image" Target="../media/icon_svg4.svg"/><Relationship Id="rId9" Type="http://schemas.openxmlformats.org/officeDocument/2006/relationships/image" Target="../media/icon_svg5.svg"/><Relationship Id="rId10" Type="http://schemas.openxmlformats.org/officeDocument/2006/relationships/image" Target="../media/icon_svg6.svg"/><Relationship Id="rId11" Type="http://schemas.openxmlformats.org/officeDocument/2006/relationships/image" Target="../media/image4.png"/><Relationship Id="rId12" Type="http://schemas.openxmlformats.org/officeDocument/2006/relationships/image" Target="../media/icon_svg7.svg"/><Relationship Id="rId13" Type="http://schemas.openxmlformats.org/officeDocument/2006/relationships/image" Target="../media/image5.png"/><Relationship Id="rId14" Type="http://schemas.openxmlformats.org/officeDocument/2006/relationships/image" Target="../media/icon_svg8.svg"/><Relationship Id="rId15" Type="http://schemas.openxmlformats.org/officeDocument/2006/relationships/image" Target="../media/image6.png"/><Relationship Id="rId16" Type="http://schemas.openxmlformats.org/officeDocument/2006/relationships/image" Target="../media/icon_svg9.svg"/><Relationship Id="rId17" Type="http://schemas.openxmlformats.org/officeDocument/2006/relationships/image" Target="../media/image7.png"/><Relationship Id="rId18" Type="http://schemas.openxmlformats.org/officeDocument/2006/relationships/image" Target="../media/icon_svg10.svg"/><Relationship Id="rId19" Type="http://schemas.openxmlformats.org/officeDocument/2006/relationships/image" Target="../media/image8.png"/><Relationship Id="rId20" Type="http://schemas.openxmlformats.org/officeDocument/2006/relationships/image" Target="../media/icon_svg11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5000" y="29167"/>
            <a:ext cx="11958361" cy="43750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2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図7-3　キャッシュ設計と無効化条件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5000" y="481251"/>
            <a:ext cx="11958361" cy="48125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850"/>
              </a:lnSpc>
            </a:pPr>
            <a:r>
              <a:rPr sz="12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検索の高速化と負荷抑制のために、レイヤーごとにキャッシュを設ける。データ更新時は適切に無効化し、キャッシュ利用時でも</a:t>
            </a:r>
          </a:p>
          <a:p>
            <a:pPr algn="l">
              <a:lnSpc>
                <a:spcPts val="1850"/>
              </a:lnSpc>
            </a:pPr>
            <a:r>
              <a:rPr sz="12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版・適用は必ず再判定することで、誤った最新版・適用結果の提示を防ぐ。</a:t>
            </a:r>
          </a:p>
        </p:txBody>
      </p:sp>
      <p:sp>
        <p:nvSpPr>
          <p:cNvPr id="4" name="Pentagon 3"/>
          <p:cNvSpPr/>
          <p:nvPr/>
        </p:nvSpPr>
        <p:spPr>
          <a:xfrm>
            <a:off x="1093753" y="1108336"/>
            <a:ext cx="1793754" cy="422918"/>
          </a:xfrm>
          <a:prstGeom prst="homePlate">
            <a:avLst>
              <a:gd name="adj" fmla="val 31034"/>
            </a:avLst>
          </a:prstGeom>
          <a:solidFill>
            <a:srgbClr val="0E3F82"/>
          </a:solidFill>
          <a:ln w="21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102084" tIns="0" rIns="58333" bIns="0">
            <a:noAutofit/>
          </a:bodyPr>
          <a:lstStyle/>
          <a:p>
            <a:pPr algn="ctr">
              <a:lnSpc>
                <a:spcPts val="1300"/>
              </a:lnSpc>
            </a:pPr>
            <a:r>
              <a:rPr sz="10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① 質問解釈</a:t>
            </a:r>
          </a:p>
          <a:p>
            <a:pPr algn="ctr">
              <a:lnSpc>
                <a:spcPts val="1300"/>
              </a:lnSpc>
            </a:pPr>
            <a:r>
              <a:rPr sz="9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（IN）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66669" y="1575004"/>
            <a:ext cx="1531254" cy="422918"/>
          </a:xfrm>
          <a:prstGeom prst="roundRect">
            <a:avLst>
              <a:gd name="adj" fmla="val 6896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ts val="1400"/>
              </a:lnSpc>
            </a:pPr>
            <a:r>
              <a:rPr sz="900" b="1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質問の意図・条件・</a:t>
            </a:r>
          </a:p>
          <a:p>
            <a:pPr algn="ctr">
              <a:lnSpc>
                <a:spcPts val="1400"/>
              </a:lnSpc>
            </a:pPr>
            <a:r>
              <a:rPr sz="900" b="1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検索対象を構造化</a:t>
            </a:r>
          </a:p>
        </p:txBody>
      </p:sp>
      <p:sp>
        <p:nvSpPr>
          <p:cNvPr id="6" name="Chevron 5"/>
          <p:cNvSpPr/>
          <p:nvPr/>
        </p:nvSpPr>
        <p:spPr>
          <a:xfrm>
            <a:off x="2770840" y="1108336"/>
            <a:ext cx="1793754" cy="422918"/>
          </a:xfrm>
          <a:prstGeom prst="chevron">
            <a:avLst>
              <a:gd name="adj" fmla="val 31034"/>
            </a:avLst>
          </a:prstGeom>
          <a:solidFill>
            <a:srgbClr val="0E3F82"/>
          </a:solidFill>
          <a:ln w="21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102084" tIns="0" rIns="58333" bIns="0">
            <a:noAutofit/>
          </a:bodyPr>
          <a:lstStyle/>
          <a:p>
            <a:pPr algn="ctr">
              <a:lnSpc>
                <a:spcPts val="1300"/>
              </a:lnSpc>
            </a:pPr>
            <a:r>
              <a:rPr sz="10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② 検索</a:t>
            </a:r>
          </a:p>
          <a:p>
            <a:pPr algn="ctr">
              <a:lnSpc>
                <a:spcPts val="1300"/>
              </a:lnSpc>
            </a:pPr>
            <a:r>
              <a:rPr sz="9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（SQ / FT / VS）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43757" y="1575004"/>
            <a:ext cx="1531254" cy="422918"/>
          </a:xfrm>
          <a:prstGeom prst="roundRect">
            <a:avLst>
              <a:gd name="adj" fmla="val 6896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ts val="1400"/>
              </a:lnSpc>
            </a:pPr>
            <a:r>
              <a:rPr sz="900" b="1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構造化・全文・ベクトル</a:t>
            </a:r>
          </a:p>
          <a:p>
            <a:pPr algn="ctr">
              <a:lnSpc>
                <a:spcPts val="1400"/>
              </a:lnSpc>
            </a:pPr>
            <a:r>
              <a:rPr sz="900" b="1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検索で候補を取得</a:t>
            </a:r>
          </a:p>
        </p:txBody>
      </p:sp>
      <p:sp>
        <p:nvSpPr>
          <p:cNvPr id="8" name="Chevron 7"/>
          <p:cNvSpPr/>
          <p:nvPr/>
        </p:nvSpPr>
        <p:spPr>
          <a:xfrm>
            <a:off x="4447927" y="1108336"/>
            <a:ext cx="1793754" cy="422918"/>
          </a:xfrm>
          <a:prstGeom prst="chevron">
            <a:avLst>
              <a:gd name="adj" fmla="val 31034"/>
            </a:avLst>
          </a:prstGeom>
          <a:solidFill>
            <a:srgbClr val="0E3F82"/>
          </a:solidFill>
          <a:ln w="21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102084" tIns="0" rIns="58333" bIns="0">
            <a:noAutofit/>
          </a:bodyPr>
          <a:lstStyle/>
          <a:p>
            <a:pPr algn="ctr">
              <a:lnSpc>
                <a:spcPts val="1300"/>
              </a:lnSpc>
            </a:pPr>
            <a:r>
              <a:rPr sz="10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③ 版・適用判定</a:t>
            </a:r>
          </a:p>
          <a:p>
            <a:pPr algn="ctr">
              <a:lnSpc>
                <a:spcPts val="1300"/>
              </a:lnSpc>
            </a:pPr>
            <a:r>
              <a:rPr sz="9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（VA）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0844" y="1575004"/>
            <a:ext cx="1531254" cy="422918"/>
          </a:xfrm>
          <a:prstGeom prst="roundRect">
            <a:avLst>
              <a:gd name="adj" fmla="val 6896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ts val="1400"/>
              </a:lnSpc>
            </a:pPr>
            <a:r>
              <a:rPr sz="900" b="1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REV・発効日・適用範囲</a:t>
            </a:r>
          </a:p>
          <a:p>
            <a:pPr algn="ctr">
              <a:lnSpc>
                <a:spcPts val="1400"/>
              </a:lnSpc>
            </a:pPr>
            <a:r>
              <a:rPr sz="900" b="1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に基づき判定</a:t>
            </a:r>
          </a:p>
        </p:txBody>
      </p:sp>
      <p:sp>
        <p:nvSpPr>
          <p:cNvPr id="10" name="Chevron 9"/>
          <p:cNvSpPr/>
          <p:nvPr/>
        </p:nvSpPr>
        <p:spPr>
          <a:xfrm>
            <a:off x="6125014" y="1108336"/>
            <a:ext cx="1793754" cy="422918"/>
          </a:xfrm>
          <a:prstGeom prst="chevron">
            <a:avLst>
              <a:gd name="adj" fmla="val 31034"/>
            </a:avLst>
          </a:prstGeom>
          <a:solidFill>
            <a:srgbClr val="0E3F82"/>
          </a:solidFill>
          <a:ln w="21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102084" tIns="0" rIns="58333" bIns="0">
            <a:noAutofit/>
          </a:bodyPr>
          <a:lstStyle/>
          <a:p>
            <a:pPr algn="ctr">
              <a:lnSpc>
                <a:spcPts val="1300"/>
              </a:lnSpc>
            </a:pPr>
            <a:r>
              <a:rPr sz="10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④ 埋め込み生成</a:t>
            </a:r>
          </a:p>
          <a:p>
            <a:pPr algn="ctr">
              <a:lnSpc>
                <a:spcPts val="1300"/>
              </a:lnSpc>
            </a:pPr>
            <a:r>
              <a:rPr sz="9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（EMB）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7931" y="1575004"/>
            <a:ext cx="1531254" cy="422918"/>
          </a:xfrm>
          <a:prstGeom prst="roundRect">
            <a:avLst>
              <a:gd name="adj" fmla="val 6896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ts val="1400"/>
              </a:lnSpc>
            </a:pPr>
            <a:r>
              <a:rPr sz="900" b="1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文書・質問の</a:t>
            </a:r>
          </a:p>
          <a:p>
            <a:pPr algn="ctr">
              <a:lnSpc>
                <a:spcPts val="1400"/>
              </a:lnSpc>
            </a:pPr>
            <a:r>
              <a:rPr sz="900" b="1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ベクトル化</a:t>
            </a:r>
          </a:p>
        </p:txBody>
      </p:sp>
      <p:sp>
        <p:nvSpPr>
          <p:cNvPr id="12" name="Chevron 11"/>
          <p:cNvSpPr/>
          <p:nvPr/>
        </p:nvSpPr>
        <p:spPr>
          <a:xfrm>
            <a:off x="7802101" y="1108336"/>
            <a:ext cx="1793754" cy="422918"/>
          </a:xfrm>
          <a:prstGeom prst="chevron">
            <a:avLst>
              <a:gd name="adj" fmla="val 31034"/>
            </a:avLst>
          </a:prstGeom>
          <a:solidFill>
            <a:srgbClr val="0E3F82"/>
          </a:solidFill>
          <a:ln w="21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102084" tIns="0" rIns="58333" bIns="0">
            <a:noAutofit/>
          </a:bodyPr>
          <a:lstStyle/>
          <a:p>
            <a:pPr algn="ctr">
              <a:lnSpc>
                <a:spcPts val="1300"/>
              </a:lnSpc>
            </a:pPr>
            <a:r>
              <a:rPr sz="10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⑤ 意味解析</a:t>
            </a:r>
          </a:p>
          <a:p>
            <a:pPr algn="ctr">
              <a:lnSpc>
                <a:spcPts val="1300"/>
              </a:lnSpc>
            </a:pPr>
            <a:r>
              <a:rPr sz="9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（任意）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75018" y="1575004"/>
            <a:ext cx="1531254" cy="422918"/>
          </a:xfrm>
          <a:prstGeom prst="roundRect">
            <a:avLst>
              <a:gd name="adj" fmla="val 6896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ts val="1400"/>
              </a:lnSpc>
            </a:pPr>
            <a:r>
              <a:rPr sz="900" b="1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類似質問・意図クラスタ</a:t>
            </a:r>
          </a:p>
          <a:p>
            <a:pPr algn="ctr">
              <a:lnSpc>
                <a:spcPts val="1400"/>
              </a:lnSpc>
            </a:pPr>
            <a:r>
              <a:rPr sz="900" b="1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による高速化</a:t>
            </a:r>
          </a:p>
        </p:txBody>
      </p:sp>
      <p:sp>
        <p:nvSpPr>
          <p:cNvPr id="14" name="Chevron 13"/>
          <p:cNvSpPr/>
          <p:nvPr/>
        </p:nvSpPr>
        <p:spPr>
          <a:xfrm>
            <a:off x="9479189" y="1108336"/>
            <a:ext cx="1793754" cy="422918"/>
          </a:xfrm>
          <a:prstGeom prst="chevron">
            <a:avLst>
              <a:gd name="adj" fmla="val 31034"/>
            </a:avLst>
          </a:prstGeom>
          <a:solidFill>
            <a:srgbClr val="0E3F82"/>
          </a:solidFill>
          <a:ln w="21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102084" tIns="0" rIns="58333" bIns="0">
            <a:noAutofit/>
          </a:bodyPr>
          <a:lstStyle/>
          <a:p>
            <a:pPr algn="ctr">
              <a:lnSpc>
                <a:spcPts val="1300"/>
              </a:lnSpc>
            </a:pPr>
            <a:r>
              <a:rPr sz="10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⑥ 結果生成</a:t>
            </a:r>
          </a:p>
          <a:p>
            <a:pPr algn="ctr">
              <a:lnSpc>
                <a:spcPts val="1300"/>
              </a:lnSpc>
            </a:pPr>
            <a:r>
              <a:rPr sz="9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（EV）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52106" y="1575004"/>
            <a:ext cx="1531254" cy="422918"/>
          </a:xfrm>
          <a:prstGeom prst="roundRect">
            <a:avLst>
              <a:gd name="adj" fmla="val 6896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ts val="1400"/>
              </a:lnSpc>
            </a:pPr>
            <a:r>
              <a:rPr sz="900" b="1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根拠付きの</a:t>
            </a:r>
          </a:p>
          <a:p>
            <a:pPr algn="ctr">
              <a:lnSpc>
                <a:spcPts val="1400"/>
              </a:lnSpc>
            </a:pPr>
            <a:r>
              <a:rPr sz="900" b="1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回答を生成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6667" y="1472920"/>
            <a:ext cx="860419" cy="1297920"/>
          </a:xfrm>
          <a:prstGeom prst="roundRect">
            <a:avLst>
              <a:gd name="adj" fmla="val 6779"/>
            </a:avLst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icon azure:users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0001" y="1647920"/>
            <a:ext cx="393751" cy="42291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6667" y="2129172"/>
            <a:ext cx="860419" cy="43750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600"/>
              </a:lnSpc>
            </a:pPr>
            <a:r>
              <a:rPr sz="10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ユーザー</a:t>
            </a:r>
          </a:p>
          <a:p>
            <a:pPr algn="ctr">
              <a:lnSpc>
                <a:spcPts val="1600"/>
              </a:lnSpc>
            </a:pPr>
            <a:r>
              <a:rPr sz="10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質問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316693" y="1472920"/>
            <a:ext cx="787502" cy="1297920"/>
          </a:xfrm>
          <a:prstGeom prst="roundRect">
            <a:avLst>
              <a:gd name="adj" fmla="val 7407"/>
            </a:avLst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icon azure:file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20860" y="1647920"/>
            <a:ext cx="379168" cy="42291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1316693" y="2129172"/>
            <a:ext cx="787502" cy="43750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600"/>
              </a:lnSpc>
            </a:pPr>
            <a:r>
              <a:rPr sz="10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回答</a:t>
            </a:r>
          </a:p>
          <a:p>
            <a:pPr algn="ctr">
              <a:lnSpc>
                <a:spcPts val="1600"/>
              </a:lnSpc>
            </a:pPr>
            <a:r>
              <a:rPr sz="10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（根拠付き）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22919" y="2100005"/>
            <a:ext cx="1618754" cy="1006252"/>
          </a:xfrm>
          <a:prstGeom prst="roundRect">
            <a:avLst>
              <a:gd name="adj" fmla="val 4347"/>
            </a:avLst>
          </a:prstGeom>
          <a:solidFill>
            <a:srgbClr val="DDEBF8"/>
          </a:solidFill>
          <a:ln w="8750">
            <a:solidFill>
              <a:srgbClr val="9DB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icon azure:cache-redis" descr="image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95836" y="2172922"/>
            <a:ext cx="277084" cy="27708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502087" y="2143755"/>
            <a:ext cx="1210419" cy="35000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1" i="0">
                <a:solidFill>
                  <a:srgbClr val="1356B0"/>
                </a:solidFill>
                <a:latin typeface="Meiryo"/>
                <a:ea typeface="Meiryo"/>
                <a:cs typeface="Meiryo"/>
              </a:rPr>
              <a:t>質問解釈キャッシュ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25003" y="2522923"/>
            <a:ext cx="1472920" cy="53958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02084" indent="-102084">
              <a:lnSpc>
                <a:spcPts val="1300"/>
              </a:lnSpc>
              <a:buFont typeface="Arial"/>
              <a:buChar char="•"/>
            </a:pPr>
            <a:r>
              <a:rPr sz="8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質問文の正規化結果</a:t>
            </a:r>
          </a:p>
          <a:p>
            <a:pPr algn="l" marL="102084" indent="-102084">
              <a:lnSpc>
                <a:spcPts val="1300"/>
              </a:lnSpc>
              <a:buFont typeface="Arial"/>
              <a:buChar char="•"/>
            </a:pPr>
            <a:r>
              <a:rPr sz="8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ルーティング結果</a:t>
            </a:r>
          </a:p>
          <a:p>
            <a:pPr algn="l" marL="102084" indent="-102084">
              <a:lnSpc>
                <a:spcPts val="1300"/>
              </a:lnSpc>
              <a:buFont typeface="Arial"/>
              <a:buChar char="•"/>
            </a:pPr>
            <a:r>
              <a:rPr sz="8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検索条件（構造化）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00007" y="2100005"/>
            <a:ext cx="1618754" cy="1006252"/>
          </a:xfrm>
          <a:prstGeom prst="roundRect">
            <a:avLst>
              <a:gd name="adj" fmla="val 4347"/>
            </a:avLst>
          </a:prstGeom>
          <a:solidFill>
            <a:srgbClr val="DDEBF8"/>
          </a:solidFill>
          <a:ln w="8750">
            <a:solidFill>
              <a:srgbClr val="9DB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icon azure:cache-redis" descr="image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72923" y="2172922"/>
            <a:ext cx="277084" cy="27708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179174" y="2143755"/>
            <a:ext cx="1210419" cy="35000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1" i="0">
                <a:solidFill>
                  <a:srgbClr val="1356B0"/>
                </a:solidFill>
                <a:latin typeface="Meiryo"/>
                <a:ea typeface="Meiryo"/>
                <a:cs typeface="Meiryo"/>
              </a:rPr>
              <a:t>検索結果キャッシュ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02090" y="2522923"/>
            <a:ext cx="1472920" cy="53958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02084" indent="-102084">
              <a:lnSpc>
                <a:spcPts val="1300"/>
              </a:lnSpc>
              <a:buFont typeface="Arial"/>
              <a:buChar char="•"/>
            </a:pPr>
            <a:r>
              <a:rPr sz="8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検索クエリ（構造化）</a:t>
            </a:r>
          </a:p>
          <a:p>
            <a:pPr algn="l" marL="102084" indent="-102084">
              <a:lnSpc>
                <a:spcPts val="1300"/>
              </a:lnSpc>
              <a:buFont typeface="Arial"/>
              <a:buChar char="•"/>
            </a:pPr>
            <a:r>
              <a:rPr sz="8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各検索方式の上位候補</a:t>
            </a:r>
          </a:p>
          <a:p>
            <a:pPr algn="l" marL="102084" indent="-102084">
              <a:lnSpc>
                <a:spcPts val="1300"/>
              </a:lnSpc>
              <a:buFont typeface="Arial"/>
              <a:buChar char="•"/>
            </a:pPr>
            <a:r>
              <a:rPr sz="8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リランキング結果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54181" y="2100005"/>
            <a:ext cx="1618754" cy="1006252"/>
          </a:xfrm>
          <a:prstGeom prst="roundRect">
            <a:avLst>
              <a:gd name="adj" fmla="val 4347"/>
            </a:avLst>
          </a:prstGeom>
          <a:solidFill>
            <a:srgbClr val="DDEBF8"/>
          </a:solidFill>
          <a:ln w="8750">
            <a:solidFill>
              <a:srgbClr val="9DB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icon azure:cache-redis" descr="image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27098" y="2172922"/>
            <a:ext cx="277084" cy="27708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533349" y="2143755"/>
            <a:ext cx="1210419" cy="35000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250"/>
              </a:lnSpc>
            </a:pPr>
            <a:r>
              <a:rPr sz="900" b="1" i="0">
                <a:solidFill>
                  <a:srgbClr val="1356B0"/>
                </a:solidFill>
                <a:latin typeface="Meiryo"/>
                <a:ea typeface="Meiryo"/>
                <a:cs typeface="Meiryo"/>
              </a:rPr>
              <a:t>Embedding</a:t>
            </a:r>
            <a:br/>
            <a:r>
              <a:rPr sz="900" b="1" i="0">
                <a:solidFill>
                  <a:srgbClr val="1356B0"/>
                </a:solidFill>
                <a:latin typeface="Meiryo"/>
                <a:ea typeface="Meiryo"/>
                <a:cs typeface="Meiryo"/>
              </a:rPr>
              <a:t>キャッシュ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56265" y="2522923"/>
            <a:ext cx="1472920" cy="53958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02084" indent="-102084">
              <a:lnSpc>
                <a:spcPts val="1300"/>
              </a:lnSpc>
              <a:buFont typeface="Arial"/>
              <a:buChar char="•"/>
            </a:pPr>
            <a:r>
              <a:rPr sz="8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テキストの埋め込みベクトル</a:t>
            </a:r>
          </a:p>
          <a:p>
            <a:pPr algn="l" marL="102084" indent="-102084">
              <a:lnSpc>
                <a:spcPts val="1300"/>
              </a:lnSpc>
              <a:buFont typeface="Arial"/>
              <a:buChar char="•"/>
            </a:pPr>
            <a:r>
              <a:rPr sz="8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文書チャンクのベクトル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31268" y="2100005"/>
            <a:ext cx="1618754" cy="1006252"/>
          </a:xfrm>
          <a:prstGeom prst="roundRect">
            <a:avLst>
              <a:gd name="adj" fmla="val 4347"/>
            </a:avLst>
          </a:prstGeom>
          <a:solidFill>
            <a:srgbClr val="DDEBF8"/>
          </a:solidFill>
          <a:ln w="8750">
            <a:solidFill>
              <a:srgbClr val="9DB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icon azure:cache-redis" descr="image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04185" y="2172922"/>
            <a:ext cx="277084" cy="27708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210436" y="2143755"/>
            <a:ext cx="1210419" cy="35000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1" i="0">
                <a:solidFill>
                  <a:srgbClr val="1356B0"/>
                </a:solidFill>
                <a:latin typeface="Meiryo"/>
                <a:ea typeface="Meiryo"/>
                <a:cs typeface="Meiryo"/>
              </a:rPr>
              <a:t>意味キャッシュ</a:t>
            </a:r>
          </a:p>
          <a:p>
            <a:pPr algn="l">
              <a:lnSpc>
                <a:spcPts val="1250"/>
              </a:lnSpc>
            </a:pPr>
            <a:r>
              <a:rPr sz="800" b="1" i="0">
                <a:solidFill>
                  <a:srgbClr val="1356B0"/>
                </a:solidFill>
                <a:latin typeface="Meiryo"/>
                <a:ea typeface="Meiryo"/>
                <a:cs typeface="Meiryo"/>
              </a:rPr>
              <a:t>（オプション）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33352" y="2522923"/>
            <a:ext cx="1472920" cy="53958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02084" indent="-102084">
              <a:lnSpc>
                <a:spcPts val="1300"/>
              </a:lnSpc>
              <a:buFont typeface="Arial"/>
              <a:buChar char="•"/>
            </a:pPr>
            <a:r>
              <a:rPr sz="8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質問の意味クラスタ</a:t>
            </a:r>
          </a:p>
          <a:p>
            <a:pPr algn="l" marL="102084" indent="-102084">
              <a:lnSpc>
                <a:spcPts val="1300"/>
              </a:lnSpc>
              <a:buFont typeface="Arial"/>
              <a:buChar char="•"/>
            </a:pPr>
            <a:r>
              <a:rPr sz="8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類似質問のマッピング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77086" y="2347922"/>
            <a:ext cx="145833" cy="0"/>
          </a:xfrm>
          <a:prstGeom prst="line">
            <a:avLst/>
          </a:prstGeom>
          <a:ln w="18229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741673" y="2347922"/>
            <a:ext cx="58334" cy="0"/>
          </a:xfrm>
          <a:prstGeom prst="line">
            <a:avLst/>
          </a:prstGeom>
          <a:ln w="18229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Freeform 39"/>
          <p:cNvSpPr/>
          <p:nvPr/>
        </p:nvSpPr>
        <p:spPr>
          <a:xfrm>
            <a:off x="4418760" y="2012505"/>
            <a:ext cx="867711" cy="335417"/>
          </a:xfrm>
          <a:custGeom>
            <a:avLst/>
            <a:gdLst/>
            <a:ahLst/>
            <a:cxnLst/>
            <a:rect l="l" t="t" r="r" b="b"/>
            <a:pathLst>
              <a:path w="867711" h="335417">
                <a:moveTo>
                  <a:pt x="0" y="335417"/>
                </a:moveTo>
                <a:lnTo>
                  <a:pt x="867711" y="335417"/>
                </a:lnTo>
                <a:lnTo>
                  <a:pt x="867711" y="0"/>
                </a:lnTo>
              </a:path>
            </a:pathLst>
          </a:custGeom>
          <a:noFill/>
          <a:ln w="18229">
            <a:solidFill>
              <a:srgbClr val="1F3A6E"/>
            </a:solidFill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5578138" y="2012505"/>
            <a:ext cx="576043" cy="335417"/>
          </a:xfrm>
          <a:custGeom>
            <a:avLst/>
            <a:gdLst/>
            <a:ahLst/>
            <a:cxnLst/>
            <a:rect l="l" t="t" r="r" b="b"/>
            <a:pathLst>
              <a:path w="576043" h="335417">
                <a:moveTo>
                  <a:pt x="0" y="0"/>
                </a:moveTo>
                <a:lnTo>
                  <a:pt x="0" y="335417"/>
                </a:lnTo>
                <a:lnTo>
                  <a:pt x="576043" y="335417"/>
                </a:lnTo>
              </a:path>
            </a:pathLst>
          </a:custGeom>
          <a:noFill/>
          <a:ln w="18229">
            <a:solidFill>
              <a:srgbClr val="1F3A6E"/>
            </a:solidFill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7772935" y="2347922"/>
            <a:ext cx="58333" cy="0"/>
          </a:xfrm>
          <a:prstGeom prst="line">
            <a:avLst/>
          </a:prstGeom>
          <a:ln w="18229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9450022" y="2347922"/>
            <a:ext cx="867710" cy="0"/>
          </a:xfrm>
          <a:prstGeom prst="line">
            <a:avLst/>
          </a:prstGeom>
          <a:ln w="18229">
            <a:solidFill>
              <a:srgbClr val="1F3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0317732" y="2012505"/>
            <a:ext cx="0" cy="335417"/>
          </a:xfrm>
          <a:prstGeom prst="line">
            <a:avLst/>
          </a:prstGeom>
          <a:ln w="18229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317732" y="2347922"/>
            <a:ext cx="998961" cy="0"/>
          </a:xfrm>
          <a:prstGeom prst="line">
            <a:avLst/>
          </a:prstGeom>
          <a:ln w="18229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6" name="cache-table"/>
          <p:cNvGraphicFramePr>
            <a:graphicFrameLocks noGrp="1"/>
          </p:cNvGraphicFramePr>
          <p:nvPr/>
        </p:nvGraphicFramePr>
        <p:xfrm>
          <a:off x="116667" y="3208341"/>
          <a:ext cx="11987528" cy="2595839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464589"/>
                <a:gridCol w="2406256"/>
                <a:gridCol w="2304172"/>
                <a:gridCol w="2420839"/>
                <a:gridCol w="2391672"/>
              </a:tblGrid>
              <a:tr h="291667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キャッシュ種別</a:t>
                      </a:r>
                    </a:p>
                  </a:txBody>
                  <a:tcPr marL="29167" marT="14583" marR="29167" marB="14583" anchor="ctr">
                    <a:lnB w="21875">
                      <a:solidFill>
                        <a:srgbClr val="FFFFFF"/>
                      </a:solidFill>
                    </a:lnB>
                    <a:lnT w="21875">
                      <a:solidFill>
                        <a:srgbClr val="FFFFFF"/>
                      </a:solidFill>
                    </a:lnT>
                    <a:lnR w="21875">
                      <a:solidFill>
                        <a:srgbClr val="FFFFFF"/>
                      </a:solidFill>
                    </a:lnR>
                    <a:lnL w="21875">
                      <a:solidFill>
                        <a:srgbClr val="FFFFFF"/>
                      </a:solidFill>
                    </a:lnL>
                    <a:solidFill>
                      <a:srgbClr val="0E3F82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キャッシュ対象</a:t>
                      </a:r>
                    </a:p>
                  </a:txBody>
                  <a:tcPr marL="29167" marT="14583" marR="29167" marB="14583" anchor="ctr">
                    <a:lnB w="21875">
                      <a:solidFill>
                        <a:srgbClr val="FFFFFF"/>
                      </a:solidFill>
                    </a:lnB>
                    <a:lnT w="21875">
                      <a:solidFill>
                        <a:srgbClr val="FFFFFF"/>
                      </a:solidFill>
                    </a:lnT>
                    <a:lnR w="21875">
                      <a:solidFill>
                        <a:srgbClr val="FFFFFF"/>
                      </a:solidFill>
                    </a:lnR>
                    <a:lnL w="21875">
                      <a:solidFill>
                        <a:srgbClr val="FFFFFF"/>
                      </a:solidFill>
                    </a:lnL>
                    <a:solidFill>
                      <a:srgbClr val="0E3F82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主なキー（例）</a:t>
                      </a:r>
                    </a:p>
                  </a:txBody>
                  <a:tcPr marL="29167" marT="14583" marR="29167" marB="14583" anchor="ctr">
                    <a:lnB w="21875">
                      <a:solidFill>
                        <a:srgbClr val="FFFFFF"/>
                      </a:solidFill>
                    </a:lnB>
                    <a:lnT w="21875">
                      <a:solidFill>
                        <a:srgbClr val="FFFFFF"/>
                      </a:solidFill>
                    </a:lnT>
                    <a:lnR w="21875">
                      <a:solidFill>
                        <a:srgbClr val="FFFFFF"/>
                      </a:solidFill>
                    </a:lnR>
                    <a:lnL w="21875">
                      <a:solidFill>
                        <a:srgbClr val="FFFFFF"/>
                      </a:solidFill>
                    </a:lnL>
                    <a:solidFill>
                      <a:srgbClr val="0E3F82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無効化条件</a:t>
                      </a:r>
                    </a:p>
                  </a:txBody>
                  <a:tcPr marL="29167" marT="14583" marR="29167" marB="14583" anchor="ctr">
                    <a:lnB w="21875">
                      <a:solidFill>
                        <a:srgbClr val="FFFFFF"/>
                      </a:solidFill>
                    </a:lnB>
                    <a:lnT w="21875">
                      <a:solidFill>
                        <a:srgbClr val="FFFFFF"/>
                      </a:solidFill>
                    </a:lnT>
                    <a:lnR w="21875">
                      <a:solidFill>
                        <a:srgbClr val="FFFFFF"/>
                      </a:solidFill>
                    </a:lnR>
                    <a:lnL w="21875">
                      <a:solidFill>
                        <a:srgbClr val="FFFFFF"/>
                      </a:solidFill>
                    </a:lnL>
                    <a:solidFill>
                      <a:srgbClr val="0E3F82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備考</a:t>
                      </a:r>
                    </a:p>
                  </a:txBody>
                  <a:tcPr marL="29167" marT="14583" marR="29167" marB="14583" anchor="ctr">
                    <a:lnB w="21875">
                      <a:solidFill>
                        <a:srgbClr val="FFFFFF"/>
                      </a:solidFill>
                    </a:lnB>
                    <a:lnT w="21875">
                      <a:solidFill>
                        <a:srgbClr val="FFFFFF"/>
                      </a:solidFill>
                    </a:lnT>
                    <a:lnR w="21875">
                      <a:solidFill>
                        <a:srgbClr val="FFFFFF"/>
                      </a:solidFill>
                    </a:lnR>
                    <a:lnL w="21875">
                      <a:solidFill>
                        <a:srgbClr val="FFFFFF"/>
                      </a:solidFill>
                    </a:lnL>
                    <a:solidFill>
                      <a:srgbClr val="0E3F82"/>
                    </a:solidFill>
                  </a:tcPr>
                </a:tc>
              </a:tr>
              <a:tr h="554168">
                <a:tc>
                  <a:txBody>
                    <a:bodyPr wrap="square" lIns="627085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500"/>
                        </a:lnSpc>
                      </a:pPr>
                      <a:r>
                        <a:rPr sz="10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質問解釈キャッシュ</a:t>
                      </a:r>
                    </a:p>
                  </a:txBody>
                  <a:tcPr marL="627085" marT="14583" marR="29167" marB="14583" anchor="ctr">
                    <a:lnB w="21875">
                      <a:solidFill>
                        <a:srgbClr val="FFFFFF"/>
                      </a:solidFill>
                    </a:lnB>
                    <a:lnT w="21875">
                      <a:solidFill>
                        <a:srgbClr val="FFFFFF"/>
                      </a:solidFill>
                    </a:lnT>
                    <a:lnR w="21875">
                      <a:solidFill>
                        <a:srgbClr val="FFFFFF"/>
                      </a:solidFill>
                    </a:lnR>
                    <a:lnL w="21875">
                      <a:solidFill>
                        <a:srgbClr val="FFFFFF"/>
                      </a:solidFill>
                    </a:lnL>
                    <a:solidFill>
                      <a:srgbClr val="E6F1FB"/>
                    </a:solidFill>
                  </a:tcPr>
                </a:tc>
                <a:tc>
                  <a:txBody>
                    <a:bodyPr wrap="square" lIns="145834" tIns="14583" rIns="29167" bIns="14583" anchor="ctr">
                      <a:noAutofit/>
                    </a:bodyPr>
                    <a:lstStyle/>
                    <a:p>
                      <a:pPr algn="l" marL="116667" indent="-116667">
                        <a:lnSpc>
                          <a:spcPts val="140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質問の正規化結果</a:t>
                      </a:r>
                    </a:p>
                    <a:p>
                      <a:pPr algn="l" marL="116667" indent="-116667">
                        <a:lnSpc>
                          <a:spcPts val="140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検索対象・意図・検索条件</a:t>
                      </a:r>
                    </a:p>
                    <a:p>
                      <a:pPr algn="l" marL="116667" indent="-116667">
                        <a:lnSpc>
                          <a:spcPts val="140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ルーティング結果</a:t>
                      </a:r>
                    </a:p>
                  </a:txBody>
                  <a:tcPr marL="145834" marT="14583" marR="29167" marB="14583" anchor="ctr">
                    <a:lnB w="21875">
                      <a:solidFill>
                        <a:srgbClr val="FFFFFF"/>
                      </a:solidFill>
                    </a:lnB>
                    <a:lnT w="21875">
                      <a:solidFill>
                        <a:srgbClr val="FFFFFF"/>
                      </a:solidFill>
                    </a:lnT>
                    <a:lnR w="21875">
                      <a:solidFill>
                        <a:srgbClr val="FFFFFF"/>
                      </a:solidFill>
                    </a:lnR>
                    <a:lnL w="21875">
                      <a:solidFill>
                        <a:srgbClr val="FFFFFF"/>
                      </a:solidFill>
                    </a:lnL>
                    <a:solidFill>
                      <a:srgbClr val="F3F7FB"/>
                    </a:solidFill>
                  </a:tcPr>
                </a:tc>
                <a:tc>
                  <a:txBody>
                    <a:bodyPr wrap="square" lIns="116667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400"/>
                        </a:lnSpc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正規化質問文字列</a:t>
                      </a:r>
                    </a:p>
                    <a:p>
                      <a:pPr algn="l">
                        <a:lnSpc>
                          <a:spcPts val="1400"/>
                        </a:lnSpc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＋設定版（プロンプト）</a:t>
                      </a:r>
                    </a:p>
                  </a:txBody>
                  <a:tcPr marL="116667" marT="14583" marR="29167" marB="14583" anchor="ctr">
                    <a:lnB w="21875">
                      <a:solidFill>
                        <a:srgbClr val="FFFFFF"/>
                      </a:solidFill>
                    </a:lnB>
                    <a:lnT w="21875">
                      <a:solidFill>
                        <a:srgbClr val="FFFFFF"/>
                      </a:solidFill>
                    </a:lnT>
                    <a:lnR w="21875">
                      <a:solidFill>
                        <a:srgbClr val="FFFFFF"/>
                      </a:solidFill>
                    </a:lnR>
                    <a:lnL w="21875">
                      <a:solidFill>
                        <a:srgbClr val="FFFFFF"/>
                      </a:solidFill>
                    </a:lnL>
                    <a:solidFill>
                      <a:srgbClr val="F3F7FB"/>
                    </a:solidFill>
                  </a:tcPr>
                </a:tc>
                <a:tc>
                  <a:txBody>
                    <a:bodyPr wrap="square" lIns="145834" tIns="14583" rIns="29167" bIns="14583" anchor="ctr">
                      <a:noAutofit/>
                    </a:bodyPr>
                    <a:lstStyle/>
                    <a:p>
                      <a:pPr algn="l" marL="116667" indent="-116667">
                        <a:lnSpc>
                          <a:spcPts val="140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設定版の変更</a:t>
                      </a:r>
                    </a:p>
                    <a:p>
                      <a:pPr algn="l" marL="116667" indent="-116667">
                        <a:lnSpc>
                          <a:spcPts val="140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用語辞書版の変更</a:t>
                      </a:r>
                    </a:p>
                  </a:txBody>
                  <a:tcPr marL="145834" marT="14583" marR="29167" marB="14583" anchor="ctr">
                    <a:lnB w="21875">
                      <a:solidFill>
                        <a:srgbClr val="FFFFFF"/>
                      </a:solidFill>
                    </a:lnB>
                    <a:lnT w="21875">
                      <a:solidFill>
                        <a:srgbClr val="FFFFFF"/>
                      </a:solidFill>
                    </a:lnT>
                    <a:lnR w="21875">
                      <a:solidFill>
                        <a:srgbClr val="FFFFFF"/>
                      </a:solidFill>
                    </a:lnR>
                    <a:lnL w="21875">
                      <a:solidFill>
                        <a:srgbClr val="FFFFFF"/>
                      </a:solidFill>
                    </a:lnL>
                    <a:solidFill>
                      <a:srgbClr val="F3F7FB"/>
                    </a:solidFill>
                  </a:tcPr>
                </a:tc>
                <a:tc>
                  <a:txBody>
                    <a:bodyPr wrap="square" lIns="116667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400"/>
                        </a:lnSpc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同一質問の再利用で</a:t>
                      </a:r>
                    </a:p>
                    <a:p>
                      <a:pPr algn="l">
                        <a:lnSpc>
                          <a:spcPts val="1400"/>
                        </a:lnSpc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LLM呼び出しを削減</a:t>
                      </a:r>
                    </a:p>
                  </a:txBody>
                  <a:tcPr marL="116667" marT="14583" marR="29167" marB="14583" anchor="ctr">
                    <a:lnB w="21875">
                      <a:solidFill>
                        <a:srgbClr val="FFFFFF"/>
                      </a:solidFill>
                    </a:lnB>
                    <a:lnT w="21875">
                      <a:solidFill>
                        <a:srgbClr val="FFFFFF"/>
                      </a:solidFill>
                    </a:lnT>
                    <a:lnR w="21875">
                      <a:solidFill>
                        <a:srgbClr val="FFFFFF"/>
                      </a:solidFill>
                    </a:lnR>
                    <a:lnL w="21875">
                      <a:solidFill>
                        <a:srgbClr val="FFFFFF"/>
                      </a:solidFill>
                    </a:lnL>
                    <a:solidFill>
                      <a:srgbClr val="F3F7FB"/>
                    </a:solidFill>
                  </a:tcPr>
                </a:tc>
              </a:tr>
              <a:tr h="597918">
                <a:tc>
                  <a:txBody>
                    <a:bodyPr wrap="square" lIns="627085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500"/>
                        </a:lnSpc>
                      </a:pPr>
                      <a:r>
                        <a:rPr sz="10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検索結果キャッシュ</a:t>
                      </a:r>
                    </a:p>
                  </a:txBody>
                  <a:tcPr marL="627085" marT="14583" marR="29167" marB="14583" anchor="ctr">
                    <a:lnB w="21875">
                      <a:solidFill>
                        <a:srgbClr val="FFFFFF"/>
                      </a:solidFill>
                    </a:lnB>
                    <a:lnT w="21875">
                      <a:solidFill>
                        <a:srgbClr val="FFFFFF"/>
                      </a:solidFill>
                    </a:lnT>
                    <a:lnR w="21875">
                      <a:solidFill>
                        <a:srgbClr val="FFFFFF"/>
                      </a:solidFill>
                    </a:lnR>
                    <a:lnL w="21875">
                      <a:solidFill>
                        <a:srgbClr val="FFFFFF"/>
                      </a:solidFill>
                    </a:lnL>
                    <a:solidFill>
                      <a:srgbClr val="E6F1FB"/>
                    </a:solidFill>
                  </a:tcPr>
                </a:tc>
                <a:tc>
                  <a:txBody>
                    <a:bodyPr wrap="square" lIns="145834" tIns="14583" rIns="29167" bIns="14583" anchor="ctr">
                      <a:noAutofit/>
                    </a:bodyPr>
                    <a:lstStyle/>
                    <a:p>
                      <a:pPr algn="l" marL="116667" indent="-116667">
                        <a:lnSpc>
                          <a:spcPts val="140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各検索方式の上位候補</a:t>
                      </a:r>
                    </a:p>
                    <a:p>
                      <a:pPr algn="l" marL="116667" indent="-116667">
                        <a:lnSpc>
                          <a:spcPts val="140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リランキング後の候補</a:t>
                      </a:r>
                    </a:p>
                  </a:txBody>
                  <a:tcPr marL="145834" marT="14583" marR="29167" marB="14583" anchor="ctr">
                    <a:lnB w="21875">
                      <a:solidFill>
                        <a:srgbClr val="FFFFFF"/>
                      </a:solidFill>
                    </a:lnB>
                    <a:lnT w="21875">
                      <a:solidFill>
                        <a:srgbClr val="FFFFFF"/>
                      </a:solidFill>
                    </a:lnT>
                    <a:lnR w="21875">
                      <a:solidFill>
                        <a:srgbClr val="FFFFFF"/>
                      </a:solidFill>
                    </a:lnR>
                    <a:lnL w="21875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116667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400"/>
                        </a:lnSpc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構造化クエリ／検索語</a:t>
                      </a:r>
                    </a:p>
                    <a:p>
                      <a:pPr algn="l">
                        <a:lnSpc>
                          <a:spcPts val="1400"/>
                        </a:lnSpc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＋検索方式</a:t>
                      </a:r>
                    </a:p>
                    <a:p>
                      <a:pPr algn="l">
                        <a:lnSpc>
                          <a:spcPts val="1400"/>
                        </a:lnSpc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＋データ版（data_version）</a:t>
                      </a:r>
                    </a:p>
                  </a:txBody>
                  <a:tcPr marL="116667" marT="14583" marR="29167" marB="14583" anchor="ctr">
                    <a:lnB w="21875">
                      <a:solidFill>
                        <a:srgbClr val="FFFFFF"/>
                      </a:solidFill>
                    </a:lnB>
                    <a:lnT w="21875">
                      <a:solidFill>
                        <a:srgbClr val="FFFFFF"/>
                      </a:solidFill>
                    </a:lnT>
                    <a:lnR w="21875">
                      <a:solidFill>
                        <a:srgbClr val="FFFFFF"/>
                      </a:solidFill>
                    </a:lnR>
                    <a:lnL w="21875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145834" tIns="14583" rIns="29167" bIns="14583" anchor="ctr">
                      <a:noAutofit/>
                    </a:bodyPr>
                    <a:lstStyle/>
                    <a:p>
                      <a:pPr algn="l" marL="116667" indent="-116667">
                        <a:lnSpc>
                          <a:spcPts val="140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データ版の更新</a:t>
                      </a:r>
                    </a:p>
                    <a:p>
                      <a:pPr algn="l" marL="116667" indent="-116667">
                        <a:lnSpc>
                          <a:spcPts val="140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検索設定版の変更</a:t>
                      </a:r>
                    </a:p>
                    <a:p>
                      <a:pPr algn="l" marL="116667" indent="-116667">
                        <a:lnSpc>
                          <a:spcPts val="140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インデックス再構築時</a:t>
                      </a:r>
                    </a:p>
                  </a:txBody>
                  <a:tcPr marL="145834" marT="14583" marR="29167" marB="14583" anchor="ctr">
                    <a:lnB w="21875">
                      <a:solidFill>
                        <a:srgbClr val="FFFFFF"/>
                      </a:solidFill>
                    </a:lnB>
                    <a:lnT w="21875">
                      <a:solidFill>
                        <a:srgbClr val="FFFFFF"/>
                      </a:solidFill>
                    </a:lnT>
                    <a:lnR w="21875">
                      <a:solidFill>
                        <a:srgbClr val="FFFFFF"/>
                      </a:solidFill>
                    </a:lnR>
                    <a:lnL w="21875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116667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400"/>
                        </a:lnSpc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キャッシュヒット時も</a:t>
                      </a:r>
                    </a:p>
                    <a:p>
                      <a:pPr algn="l">
                        <a:lnSpc>
                          <a:spcPts val="1400"/>
                        </a:lnSpc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版・適用は必ず再判定する</a:t>
                      </a:r>
                    </a:p>
                  </a:txBody>
                  <a:tcPr marL="116667" marT="14583" marR="29167" marB="14583" anchor="ctr">
                    <a:lnB w="21875">
                      <a:solidFill>
                        <a:srgbClr val="FFFFFF"/>
                      </a:solidFill>
                    </a:lnB>
                    <a:lnT w="21875">
                      <a:solidFill>
                        <a:srgbClr val="FFFFFF"/>
                      </a:solidFill>
                    </a:lnT>
                    <a:lnR w="21875">
                      <a:solidFill>
                        <a:srgbClr val="FFFFFF"/>
                      </a:solidFill>
                    </a:lnR>
                    <a:lnL w="21875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597918">
                <a:tc>
                  <a:txBody>
                    <a:bodyPr wrap="square" lIns="627085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500"/>
                        </a:lnSpc>
                      </a:pPr>
                      <a:r>
                        <a:rPr sz="10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Embeddingキャッシュ</a:t>
                      </a:r>
                    </a:p>
                  </a:txBody>
                  <a:tcPr marL="627085" marT="14583" marR="29167" marB="14583" anchor="ctr">
                    <a:lnB w="21875">
                      <a:solidFill>
                        <a:srgbClr val="FFFFFF"/>
                      </a:solidFill>
                    </a:lnB>
                    <a:lnT w="21875">
                      <a:solidFill>
                        <a:srgbClr val="FFFFFF"/>
                      </a:solidFill>
                    </a:lnT>
                    <a:lnR w="21875">
                      <a:solidFill>
                        <a:srgbClr val="FFFFFF"/>
                      </a:solidFill>
                    </a:lnR>
                    <a:lnL w="21875">
                      <a:solidFill>
                        <a:srgbClr val="FFFFFF"/>
                      </a:solidFill>
                    </a:lnL>
                    <a:solidFill>
                      <a:srgbClr val="E6F1FB"/>
                    </a:solidFill>
                  </a:tcPr>
                </a:tc>
                <a:tc>
                  <a:txBody>
                    <a:bodyPr wrap="square" lIns="145834" tIns="14583" rIns="29167" bIns="14583" anchor="ctr">
                      <a:noAutofit/>
                    </a:bodyPr>
                    <a:lstStyle/>
                    <a:p>
                      <a:pPr algn="l" marL="116667" indent="-116667">
                        <a:lnSpc>
                          <a:spcPts val="140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テキストの埋め込みベクトル</a:t>
                      </a:r>
                    </a:p>
                    <a:p>
                      <a:pPr algn="l" marL="116667" indent="-116667">
                        <a:lnSpc>
                          <a:spcPts val="140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文書チャンクのベクトル</a:t>
                      </a:r>
                    </a:p>
                  </a:txBody>
                  <a:tcPr marL="145834" marT="14583" marR="29167" marB="14583" anchor="ctr">
                    <a:lnB w="21875">
                      <a:solidFill>
                        <a:srgbClr val="FFFFFF"/>
                      </a:solidFill>
                    </a:lnB>
                    <a:lnT w="21875">
                      <a:solidFill>
                        <a:srgbClr val="FFFFFF"/>
                      </a:solidFill>
                    </a:lnT>
                    <a:lnR w="21875">
                      <a:solidFill>
                        <a:srgbClr val="FFFFFF"/>
                      </a:solidFill>
                    </a:lnR>
                    <a:lnL w="21875">
                      <a:solidFill>
                        <a:srgbClr val="FFFFFF"/>
                      </a:solidFill>
                    </a:lnL>
                    <a:solidFill>
                      <a:srgbClr val="F3F7FB"/>
                    </a:solidFill>
                  </a:tcPr>
                </a:tc>
                <a:tc>
                  <a:txBody>
                    <a:bodyPr wrap="square" lIns="116667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400"/>
                        </a:lnSpc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テキストのハッシュ</a:t>
                      </a:r>
                    </a:p>
                    <a:p>
                      <a:pPr algn="l">
                        <a:lnSpc>
                          <a:spcPts val="1400"/>
                        </a:lnSpc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＋モデル版（Embeddingモデル）</a:t>
                      </a:r>
                    </a:p>
                  </a:txBody>
                  <a:tcPr marL="116667" marT="14583" marR="29167" marB="14583" anchor="ctr">
                    <a:lnB w="21875">
                      <a:solidFill>
                        <a:srgbClr val="FFFFFF"/>
                      </a:solidFill>
                    </a:lnB>
                    <a:lnT w="21875">
                      <a:solidFill>
                        <a:srgbClr val="FFFFFF"/>
                      </a:solidFill>
                    </a:lnT>
                    <a:lnR w="21875">
                      <a:solidFill>
                        <a:srgbClr val="FFFFFF"/>
                      </a:solidFill>
                    </a:lnR>
                    <a:lnL w="21875">
                      <a:solidFill>
                        <a:srgbClr val="FFFFFF"/>
                      </a:solidFill>
                    </a:lnL>
                    <a:solidFill>
                      <a:srgbClr val="F3F7FB"/>
                    </a:solidFill>
                  </a:tcPr>
                </a:tc>
                <a:tc>
                  <a:txBody>
                    <a:bodyPr wrap="square" lIns="145834" tIns="14583" rIns="29167" bIns="14583" anchor="ctr">
                      <a:noAutofit/>
                    </a:bodyPr>
                    <a:lstStyle/>
                    <a:p>
                      <a:pPr algn="l" marL="116667" indent="-116667">
                        <a:lnSpc>
                          <a:spcPts val="140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モデル版の変更</a:t>
                      </a:r>
                    </a:p>
                    <a:p>
                      <a:pPr algn="l" marL="116667" indent="-116667">
                        <a:lnSpc>
                          <a:spcPts val="140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埋め込みモデルの差し替え時は</a:t>
                      </a:r>
                      <a:br/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インデックスの再生成が必要</a:t>
                      </a:r>
                    </a:p>
                  </a:txBody>
                  <a:tcPr marL="145834" marT="14583" marR="29167" marB="14583" anchor="ctr">
                    <a:lnB w="21875">
                      <a:solidFill>
                        <a:srgbClr val="FFFFFF"/>
                      </a:solidFill>
                    </a:lnB>
                    <a:lnT w="21875">
                      <a:solidFill>
                        <a:srgbClr val="FFFFFF"/>
                      </a:solidFill>
                    </a:lnT>
                    <a:lnR w="21875">
                      <a:solidFill>
                        <a:srgbClr val="FFFFFF"/>
                      </a:solidFill>
                    </a:lnR>
                    <a:lnL w="21875">
                      <a:solidFill>
                        <a:srgbClr val="FFFFFF"/>
                      </a:solidFill>
                    </a:lnL>
                    <a:solidFill>
                      <a:srgbClr val="F3F7FB"/>
                    </a:solidFill>
                  </a:tcPr>
                </a:tc>
                <a:tc>
                  <a:txBody>
                    <a:bodyPr wrap="square" lIns="116667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400"/>
                        </a:lnSpc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同一テキストの再埋め込みを削減</a:t>
                      </a:r>
                    </a:p>
                  </a:txBody>
                  <a:tcPr marL="116667" marT="14583" marR="29167" marB="14583" anchor="ctr">
                    <a:lnB w="21875">
                      <a:solidFill>
                        <a:srgbClr val="FFFFFF"/>
                      </a:solidFill>
                    </a:lnB>
                    <a:lnT w="21875">
                      <a:solidFill>
                        <a:srgbClr val="FFFFFF"/>
                      </a:solidFill>
                    </a:lnT>
                    <a:lnR w="21875">
                      <a:solidFill>
                        <a:srgbClr val="FFFFFF"/>
                      </a:solidFill>
                    </a:lnR>
                    <a:lnL w="21875">
                      <a:solidFill>
                        <a:srgbClr val="FFFFFF"/>
                      </a:solidFill>
                    </a:lnL>
                    <a:solidFill>
                      <a:srgbClr val="F3F7FB"/>
                    </a:solidFill>
                  </a:tcPr>
                </a:tc>
              </a:tr>
              <a:tr h="554168">
                <a:tc>
                  <a:txBody>
                    <a:bodyPr wrap="square" lIns="627085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500"/>
                        </a:lnSpc>
                      </a:pPr>
                      <a:r>
                        <a:rPr sz="10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意味キャッシュ</a:t>
                      </a:r>
                    </a:p>
                    <a:p>
                      <a:pPr algn="l">
                        <a:lnSpc>
                          <a:spcPts val="1500"/>
                        </a:lnSpc>
                      </a:pPr>
                      <a:r>
                        <a:rPr sz="850" b="0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（オプション）</a:t>
                      </a:r>
                    </a:p>
                  </a:txBody>
                  <a:tcPr marL="627085" marT="14583" marR="29167" marB="14583" anchor="ctr">
                    <a:lnB w="21875">
                      <a:solidFill>
                        <a:srgbClr val="FFFFFF"/>
                      </a:solidFill>
                    </a:lnB>
                    <a:lnT w="21875">
                      <a:solidFill>
                        <a:srgbClr val="FFFFFF"/>
                      </a:solidFill>
                    </a:lnT>
                    <a:lnR w="21875">
                      <a:solidFill>
                        <a:srgbClr val="FFFFFF"/>
                      </a:solidFill>
                    </a:lnR>
                    <a:lnL w="21875">
                      <a:solidFill>
                        <a:srgbClr val="FFFFFF"/>
                      </a:solidFill>
                    </a:lnL>
                    <a:solidFill>
                      <a:srgbClr val="E6F1FB"/>
                    </a:solidFill>
                  </a:tcPr>
                </a:tc>
                <a:tc>
                  <a:txBody>
                    <a:bodyPr wrap="square" lIns="145834" tIns="14583" rIns="29167" bIns="14583" anchor="ctr">
                      <a:noAutofit/>
                    </a:bodyPr>
                    <a:lstStyle/>
                    <a:p>
                      <a:pPr algn="l" marL="116667" indent="-116667">
                        <a:lnSpc>
                          <a:spcPts val="140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質問の意味クラスタ</a:t>
                      </a:r>
                    </a:p>
                    <a:p>
                      <a:pPr algn="l" marL="116667" indent="-116667">
                        <a:lnSpc>
                          <a:spcPts val="140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類似質問のマッピング</a:t>
                      </a:r>
                    </a:p>
                  </a:txBody>
                  <a:tcPr marL="145834" marT="14583" marR="29167" marB="14583" anchor="ctr">
                    <a:lnB w="21875">
                      <a:solidFill>
                        <a:srgbClr val="FFFFFF"/>
                      </a:solidFill>
                    </a:lnB>
                    <a:lnT w="21875">
                      <a:solidFill>
                        <a:srgbClr val="FFFFFF"/>
                      </a:solidFill>
                    </a:lnT>
                    <a:lnR w="21875">
                      <a:solidFill>
                        <a:srgbClr val="FFFFFF"/>
                      </a:solidFill>
                    </a:lnR>
                    <a:lnL w="21875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116667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400"/>
                        </a:lnSpc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質問の埋め込みベクトル</a:t>
                      </a:r>
                    </a:p>
                    <a:p>
                      <a:pPr algn="l">
                        <a:lnSpc>
                          <a:spcPts val="1400"/>
                        </a:lnSpc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＋モデル版（Embeddingモデル）</a:t>
                      </a:r>
                    </a:p>
                  </a:txBody>
                  <a:tcPr marL="116667" marT="14583" marR="29167" marB="14583" anchor="ctr">
                    <a:lnB w="21875">
                      <a:solidFill>
                        <a:srgbClr val="FFFFFF"/>
                      </a:solidFill>
                    </a:lnB>
                    <a:lnT w="21875">
                      <a:solidFill>
                        <a:srgbClr val="FFFFFF"/>
                      </a:solidFill>
                    </a:lnT>
                    <a:lnR w="21875">
                      <a:solidFill>
                        <a:srgbClr val="FFFFFF"/>
                      </a:solidFill>
                    </a:lnR>
                    <a:lnL w="21875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145834" tIns="14583" rIns="29167" bIns="14583" anchor="ctr">
                      <a:noAutofit/>
                    </a:bodyPr>
                    <a:lstStyle/>
                    <a:p>
                      <a:pPr algn="l" marL="116667" indent="-116667">
                        <a:lnSpc>
                          <a:spcPts val="140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モデル版の変更</a:t>
                      </a:r>
                    </a:p>
                    <a:p>
                      <a:pPr algn="l" marL="116667" indent="-116667">
                        <a:lnSpc>
                          <a:spcPts val="140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辞書版の変更</a:t>
                      </a:r>
                    </a:p>
                  </a:txBody>
                  <a:tcPr marL="145834" marT="14583" marR="29167" marB="14583" anchor="ctr">
                    <a:lnB w="21875">
                      <a:solidFill>
                        <a:srgbClr val="FFFFFF"/>
                      </a:solidFill>
                    </a:lnB>
                    <a:lnT w="21875">
                      <a:solidFill>
                        <a:srgbClr val="FFFFFF"/>
                      </a:solidFill>
                    </a:lnT>
                    <a:lnR w="21875">
                      <a:solidFill>
                        <a:srgbClr val="FFFFFF"/>
                      </a:solidFill>
                    </a:lnR>
                    <a:lnL w="21875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116667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400"/>
                        </a:lnSpc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頻出質問の定型化・類似質問提示</a:t>
                      </a:r>
                    </a:p>
                    <a:p>
                      <a:pPr algn="l">
                        <a:lnSpc>
                          <a:spcPts val="1400"/>
                        </a:lnSpc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などで利用</a:t>
                      </a:r>
                    </a:p>
                  </a:txBody>
                  <a:tcPr marL="116667" marT="14583" marR="29167" marB="14583" anchor="ctr">
                    <a:lnB w="21875">
                      <a:solidFill>
                        <a:srgbClr val="FFFFFF"/>
                      </a:solidFill>
                    </a:lnB>
                    <a:lnT w="21875">
                      <a:solidFill>
                        <a:srgbClr val="FFFFFF"/>
                      </a:solidFill>
                    </a:lnT>
                    <a:lnR w="21875">
                      <a:solidFill>
                        <a:srgbClr val="FFFFFF"/>
                      </a:solidFill>
                    </a:lnR>
                    <a:lnL w="21875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7" name="icon azure:language" descr="image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47917" y="3609383"/>
            <a:ext cx="335417" cy="335417"/>
          </a:xfrm>
          <a:prstGeom prst="rect">
            <a:avLst/>
          </a:prstGeom>
        </p:spPr>
      </p:pic>
      <p:pic>
        <p:nvPicPr>
          <p:cNvPr id="48" name="icon azure:search" descr="image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47917" y="4185426"/>
            <a:ext cx="335417" cy="335417"/>
          </a:xfrm>
          <a:prstGeom prst="rect">
            <a:avLst/>
          </a:prstGeom>
        </p:spPr>
      </p:pic>
      <p:pic>
        <p:nvPicPr>
          <p:cNvPr id="49" name="icon azure:cognitive-services" descr="image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47917" y="4783344"/>
            <a:ext cx="335417" cy="335417"/>
          </a:xfrm>
          <a:prstGeom prst="rect">
            <a:avLst/>
          </a:prstGeom>
        </p:spPr>
      </p:pic>
      <p:pic>
        <p:nvPicPr>
          <p:cNvPr id="50" name="icon azure:language-understanding" descr="image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47917" y="5359387"/>
            <a:ext cx="335417" cy="335417"/>
          </a:xfrm>
          <a:prstGeom prst="rect">
            <a:avLst/>
          </a:prstGeom>
        </p:spPr>
      </p:pic>
      <p:sp>
        <p:nvSpPr>
          <p:cNvPr id="51" name="Rounded Rectangle 50"/>
          <p:cNvSpPr/>
          <p:nvPr/>
        </p:nvSpPr>
        <p:spPr>
          <a:xfrm>
            <a:off x="116667" y="5906264"/>
            <a:ext cx="2464589" cy="875002"/>
          </a:xfrm>
          <a:prstGeom prst="roundRect">
            <a:avLst>
              <a:gd name="adj" fmla="val 5000"/>
            </a:avLst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icon azure:app-configuration" descr="image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77084" y="6154181"/>
            <a:ext cx="393751" cy="393751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787502" y="5906264"/>
            <a:ext cx="1750004" cy="87500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共通ルール・補足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625006" y="5906264"/>
            <a:ext cx="9479189" cy="875002"/>
          </a:xfrm>
          <a:prstGeom prst="roundRect">
            <a:avLst>
              <a:gd name="adj" fmla="val 5000"/>
            </a:avLst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70840" y="5950014"/>
            <a:ext cx="9260438" cy="78750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 marL="116667" indent="-116667">
              <a:lnSpc>
                <a:spcPts val="1450"/>
              </a:lnSpc>
              <a:buFont typeface="Arial"/>
              <a:buChar char="•"/>
            </a:pPr>
            <a:r>
              <a:rPr sz="9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キャッシュの有効期限（TTL）を設定し、一定期間で自動的に再取得する。</a:t>
            </a:r>
          </a:p>
          <a:p>
            <a:pPr algn="l" marL="116667" indent="-116667">
              <a:lnSpc>
                <a:spcPts val="1450"/>
              </a:lnSpc>
              <a:buFont typeface="Arial"/>
              <a:buChar char="•"/>
            </a:pPr>
            <a:r>
              <a:rPr sz="9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data_version（データ版）、設定版、モデル版、辞書版のいずれかが更新された場合は、該当キャッシュを無効化する。</a:t>
            </a:r>
          </a:p>
          <a:p>
            <a:pPr algn="l" marL="116667" indent="-116667">
              <a:lnSpc>
                <a:spcPts val="1450"/>
              </a:lnSpc>
              <a:buFont typeface="Arial"/>
              <a:buChar char="•"/>
            </a:pPr>
            <a:r>
              <a:rPr sz="9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キャッシュを利用して取得した候補であっても、版・適用判定（VA）は必ず再実行する（古い結果を最新版・適用ありと誤って提示しないため）。</a:t>
            </a:r>
          </a:p>
          <a:p>
            <a:pPr algn="l" marL="116667" indent="-116667">
              <a:lnSpc>
                <a:spcPts val="1450"/>
              </a:lnSpc>
              <a:buFont typeface="Arial"/>
              <a:buChar char="•"/>
            </a:pPr>
            <a:r>
              <a:rPr sz="9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生成文そのものは原則キャッシュしない（最新データ・設定を常に反映するため）。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
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on_svg1.svg"/><Relationship Id="rId5" Type="http://schemas.openxmlformats.org/officeDocument/2006/relationships/image" Target="../media/image3.png"/><Relationship Id="rId6" Type="http://schemas.openxmlformats.org/officeDocument/2006/relationships/image" Target="../media/icon_svg2.svg"/><Relationship Id="rId7" Type="http://schemas.openxmlformats.org/officeDocument/2006/relationships/image" Target="../media/image4.png"/><Relationship Id="rId8" Type="http://schemas.openxmlformats.org/officeDocument/2006/relationships/image" Target="../media/icon_svg3.svg"/><Relationship Id="rId9" Type="http://schemas.openxmlformats.org/officeDocument/2006/relationships/image" Target="../media/image5.png"/><Relationship Id="rId10" Type="http://schemas.openxmlformats.org/officeDocument/2006/relationships/image" Target="../media/icon_svg4.svg"/><Relationship Id="rId11" Type="http://schemas.openxmlformats.org/officeDocument/2006/relationships/image" Target="../media/icon_svg5.svg"/><Relationship Id="rId12" Type="http://schemas.openxmlformats.org/officeDocument/2006/relationships/image" Target="../media/icon_svg6.svg"/><Relationship Id="rId13" Type="http://schemas.openxmlformats.org/officeDocument/2006/relationships/image" Target="../media/image6.png"/><Relationship Id="rId14" Type="http://schemas.openxmlformats.org/officeDocument/2006/relationships/image" Target="../media/icon_svg7.svg"/><Relationship Id="rId15" Type="http://schemas.openxmlformats.org/officeDocument/2006/relationships/image" Target="../media/image7.png"/><Relationship Id="rId16" Type="http://schemas.openxmlformats.org/officeDocument/2006/relationships/image" Target="../media/icon_svg8.svg"/><Relationship Id="rId17" Type="http://schemas.openxmlformats.org/officeDocument/2006/relationships/image" Target="../media/icon_svg9.svg"/><Relationship Id="rId18" Type="http://schemas.openxmlformats.org/officeDocument/2006/relationships/image" Target="../media/image8.png"/><Relationship Id="rId19" Type="http://schemas.openxmlformats.org/officeDocument/2006/relationships/image" Target="../media/icon_svg10.svg"/><Relationship Id="rId20" Type="http://schemas.openxmlformats.org/officeDocument/2006/relationships/image" Target="../media/image9.png"/><Relationship Id="rId21" Type="http://schemas.openxmlformats.org/officeDocument/2006/relationships/image" Target="../media/icon_svg11.svg"/><Relationship Id="rId22" Type="http://schemas.openxmlformats.org/officeDocument/2006/relationships/image" Target="../media/icon_svg12.svg"/><Relationship Id="rId23" Type="http://schemas.openxmlformats.org/officeDocument/2006/relationships/image" Target="../media/icon_svg1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5000" y="131250"/>
            <a:ext cx="131250" cy="36458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2084" y="87500"/>
            <a:ext cx="8750020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N-PLUS／共有文書を具体的にどう検索単位へ変換するか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026" y="87500"/>
            <a:ext cx="1064586" cy="2479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75000" y="612501"/>
            <a:ext cx="11841694" cy="568751"/>
          </a:xfrm>
          <a:prstGeom prst="roundRect">
            <a:avLst>
              <a:gd name="adj" fmla="val 7692"/>
            </a:avLst>
          </a:prstGeom>
          <a:solidFill>
            <a:srgbClr val="ED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168" y="656252"/>
            <a:ext cx="11520860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2A3550"/>
                </a:solidFill>
                <a:latin typeface="Meiryo"/>
                <a:ea typeface="Meiryo"/>
                <a:cs typeface="Meiryo"/>
              </a:rPr>
              <a:t>N-PLUSは作業工程を起点に関連テーブルをJOINし、1件の作業工程を業務上意味のあるTOS検索単位に変換する。</a:t>
            </a:r>
          </a:p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2A3550"/>
                </a:solidFill>
                <a:latin typeface="Meiryo"/>
                <a:ea typeface="Meiryo"/>
                <a:cs typeface="Meiryo"/>
              </a:rPr>
              <a:t>共有文書は、章・節・項番の構造を保持して分割し、文書番号・REV・ページ等のメタデータを付与して検索単位を作る。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1250" y="1312503"/>
            <a:ext cx="5950014" cy="5308346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1250" y="1312503"/>
            <a:ext cx="5950014" cy="350001"/>
          </a:xfrm>
          <a:prstGeom prst="roundRect">
            <a:avLst>
              <a:gd name="adj" fmla="val 8333"/>
            </a:avLst>
          </a:prstGeom>
          <a:solidFill>
            <a:srgbClr val="0F4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334" y="1370837"/>
            <a:ext cx="247917" cy="2479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0F4592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918" y="1312503"/>
            <a:ext cx="5439596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N-PLUS：</a:t>
            </a:r>
            <a:r>
              <a:rPr sz="12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作業工程を起点に関連情報を統合し、TOS検索単位を作る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7931" y="1312503"/>
            <a:ext cx="5862514" cy="5308346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7931" y="1312503"/>
            <a:ext cx="5862514" cy="350001"/>
          </a:xfrm>
          <a:prstGeom prst="roundRect">
            <a:avLst>
              <a:gd name="adj" fmla="val 8333"/>
            </a:avLst>
          </a:prstGeom>
          <a:solidFill>
            <a:srgbClr val="0F4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0015" y="1370837"/>
            <a:ext cx="247917" cy="2479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0F4592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4599" y="1312503"/>
            <a:ext cx="5352096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共有文書：</a:t>
            </a:r>
            <a:r>
              <a:rPr sz="12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文書の構造を保持して分割し、検索単位を作る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501" y="1808338"/>
            <a:ext cx="1779171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 lucide:clipboard-list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251" y="1852088"/>
            <a:ext cx="306251" cy="3062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4168" y="1837504"/>
            <a:ext cx="1487503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STEP1</a:t>
            </a:r>
          </a:p>
          <a:p>
            <a:pPr algn="ctr">
              <a:lnSpc>
                <a:spcPts val="16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元データ</a:t>
            </a:r>
          </a:p>
          <a:p>
            <a:pPr algn="ctr">
              <a:lnSpc>
                <a:spcPts val="16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（主要テーブル）</a:t>
            </a:r>
          </a:p>
        </p:txBody>
      </p:sp>
      <p:sp>
        <p:nvSpPr>
          <p:cNvPr id="18" name="Chevron 17"/>
          <p:cNvSpPr/>
          <p:nvPr/>
        </p:nvSpPr>
        <p:spPr>
          <a:xfrm>
            <a:off x="2100005" y="1895838"/>
            <a:ext cx="102084" cy="218751"/>
          </a:xfrm>
          <a:prstGeom prst="chevron">
            <a:avLst>
              <a:gd name="adj" fmla="val 46666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60422" y="1808338"/>
            <a:ext cx="1677087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0422" y="1837504"/>
            <a:ext cx="1677087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STEP2</a:t>
            </a:r>
          </a:p>
          <a:p>
            <a:pPr algn="ctr">
              <a:lnSpc>
                <a:spcPts val="220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加工（統合・変換・文脈化）</a:t>
            </a:r>
          </a:p>
        </p:txBody>
      </p:sp>
      <p:sp>
        <p:nvSpPr>
          <p:cNvPr id="21" name="Chevron 20"/>
          <p:cNvSpPr/>
          <p:nvPr/>
        </p:nvSpPr>
        <p:spPr>
          <a:xfrm>
            <a:off x="3995843" y="1895838"/>
            <a:ext cx="102084" cy="218751"/>
          </a:xfrm>
          <a:prstGeom prst="chevron">
            <a:avLst>
              <a:gd name="adj" fmla="val 46666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70843" y="1808338"/>
            <a:ext cx="1837504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 lucide:clipboard-pen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4593" y="1852088"/>
            <a:ext cx="306251" cy="3062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62510" y="1837504"/>
            <a:ext cx="1545837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STEP3</a:t>
            </a:r>
          </a:p>
          <a:p>
            <a:pPr algn="ctr">
              <a:lnSpc>
                <a:spcPts val="22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TOS検索単位（例）</a:t>
            </a:r>
          </a:p>
        </p:txBody>
      </p:sp>
      <p:pic>
        <p:nvPicPr>
          <p:cNvPr id="25" name="icon material:database-fill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417" y="2727090"/>
            <a:ext cx="422918" cy="42291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7918" y="2603131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835" y="2617714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部品テーブル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（部品番号・名称・材質 等）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7918" y="3055215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835" y="3069799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作業工程テーブル（TOS）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（工程番号・作業内容 等）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7918" y="3507300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835" y="3521883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ロードセンターテーブル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（L/Cコード・工程名 等）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7918" y="3959384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835" y="3973968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WPSテーブル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（WPS番号・リビジョン 等）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7918" y="4411469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835" y="4426052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作業工程履歴テーブル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（変更日・変更理由 等）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7918" y="4863553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835" y="4878136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CSC／ドキュメント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（図面番号・文書番号 等）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7918" y="5315637"/>
            <a:ext cx="1458337" cy="379168"/>
          </a:xfrm>
          <a:prstGeom prst="roundRect">
            <a:avLst>
              <a:gd name="adj" fmla="val 7692"/>
            </a:avLst>
          </a:prstGeom>
          <a:solidFill>
            <a:srgbClr val="F2F7FD"/>
          </a:solidFill>
          <a:ln w="7292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835" y="5330221"/>
            <a:ext cx="1385420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MBOM／EBOM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（親子部品・有効開始/終了日 等）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668" y="5804180"/>
            <a:ext cx="437501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Meiryo"/>
                <a:ea typeface="Meiryo"/>
                <a:cs typeface="Meiryo"/>
              </a:rPr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18755" y="2566673"/>
            <a:ext cx="1706254" cy="2770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450"/>
              </a:lnSpc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部品番号・工程番号等で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関連テーブルをJOIN</a:t>
            </a:r>
          </a:p>
          <a:p>
            <a:pPr algn="l" marL="175000" indent="-175000">
              <a:lnSpc>
                <a:spcPts val="1450"/>
              </a:lnSpc>
              <a:spcBef>
                <a:spcPts val="65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最新の作業工程履歴を取得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（変更日・変更理由）</a:t>
            </a:r>
          </a:p>
          <a:p>
            <a:pPr algn="l" marL="175000" indent="-175000">
              <a:lnSpc>
                <a:spcPts val="1450"/>
              </a:lnSpc>
              <a:spcBef>
                <a:spcPts val="65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コード値を業務名称へ変換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（L/Cコード → 工程名 など）</a:t>
            </a:r>
          </a:p>
          <a:p>
            <a:pPr algn="l" marL="175000" indent="-175000">
              <a:lnSpc>
                <a:spcPts val="1450"/>
              </a:lnSpc>
              <a:spcBef>
                <a:spcPts val="65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略語・同義語を辞書で展開</a:t>
            </a:r>
          </a:p>
          <a:p>
            <a:pPr algn="l" marL="175000" indent="-175000">
              <a:lnSpc>
                <a:spcPts val="1450"/>
              </a:lnSpc>
              <a:spcBef>
                <a:spcPts val="65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部品・工程・作業内容・職場・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WPS・図面・上位組立・版/適用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等を1つの文脈に統合</a:t>
            </a:r>
          </a:p>
          <a:p>
            <a:pPr algn="l" marL="175000" indent="-175000">
              <a:lnSpc>
                <a:spcPts val="1450"/>
              </a:lnSpc>
              <a:spcBef>
                <a:spcPts val="65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基本は「作業工程1行＝1検索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候補」とする</a:t>
            </a:r>
          </a:p>
        </p:txBody>
      </p:sp>
      <p:pic>
        <p:nvPicPr>
          <p:cNvPr id="42" name="icon lucide:table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172" y="5454179"/>
            <a:ext cx="335417" cy="335417"/>
          </a:xfrm>
          <a:prstGeom prst="rect">
            <a:avLst/>
          </a:prstGeom>
        </p:spPr>
      </p:pic>
      <p:pic>
        <p:nvPicPr>
          <p:cNvPr id="43" name="icon lucide:table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04172" y="5804180"/>
            <a:ext cx="335417" cy="335417"/>
          </a:xfrm>
          <a:prstGeom prst="rect">
            <a:avLst/>
          </a:prstGeom>
        </p:spPr>
      </p:pic>
      <p:pic>
        <p:nvPicPr>
          <p:cNvPr id="44" name="icon lucide:table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97923" y="5600013"/>
            <a:ext cx="335417" cy="335417"/>
          </a:xfrm>
          <a:prstGeom prst="rect">
            <a:avLst/>
          </a:prstGeom>
        </p:spPr>
      </p:pic>
      <p:sp>
        <p:nvSpPr>
          <p:cNvPr id="45" name="Right Arrow 44"/>
          <p:cNvSpPr/>
          <p:nvPr/>
        </p:nvSpPr>
        <p:spPr>
          <a:xfrm>
            <a:off x="3062507" y="5672930"/>
            <a:ext cx="291667" cy="189584"/>
          </a:xfrm>
          <a:prstGeom prst="rightArrow">
            <a:avLst/>
          </a:prstGeom>
          <a:solidFill>
            <a:srgbClr val="9DB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 lucide:file-text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54174" y="5483346"/>
            <a:ext cx="481251" cy="4812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333339" y="6139598"/>
            <a:ext cx="1458337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複数テーブルをJOINし</a:t>
            </a:r>
          </a:p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1件に統合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27093" y="2566673"/>
            <a:ext cx="1881254" cy="247917"/>
          </a:xfrm>
          <a:prstGeom prst="roundRect">
            <a:avLst>
              <a:gd name="adj" fmla="val 5882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27093" y="2566673"/>
            <a:ext cx="1881254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作業工程1件を検索単位として保持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27093" y="2858340"/>
          <a:ext cx="1881254" cy="33979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2918"/>
                <a:gridCol w="1108336"/>
              </a:tblGrid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A12345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部品名称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ブラケット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材質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AL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工程名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バリ取り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作業区分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機械加工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バリ取り作業を行う…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ロードセンター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L001（機械加工）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WPS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W-55 Rev.C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図面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D-12345 Rev.C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上位組立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A320 001 ～ 050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最終変更日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2025-06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変更理由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治具変更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版・適用情報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REV B / 001～050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元テーブル/PK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作業工程 (A,10)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8854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検索用テキスト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部品A ブラケット(AL)の</a:t>
                      </a:r>
                      <a:br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工程10 バリ取り…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6329181" y="1808338"/>
            <a:ext cx="1531254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 lucide:file-text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2931" y="1852088"/>
            <a:ext cx="306251" cy="30625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20849" y="1837504"/>
            <a:ext cx="1239586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STEP1</a:t>
            </a:r>
          </a:p>
          <a:p>
            <a:pPr algn="ctr">
              <a:lnSpc>
                <a:spcPts val="16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元文書</a:t>
            </a:r>
          </a:p>
          <a:p>
            <a:pPr algn="ctr">
              <a:lnSpc>
                <a:spcPts val="16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（Word／Excel／PDF）</a:t>
            </a:r>
          </a:p>
        </p:txBody>
      </p:sp>
      <p:sp>
        <p:nvSpPr>
          <p:cNvPr id="54" name="Chevron 53"/>
          <p:cNvSpPr/>
          <p:nvPr/>
        </p:nvSpPr>
        <p:spPr>
          <a:xfrm>
            <a:off x="7889602" y="1895838"/>
            <a:ext cx="102084" cy="218751"/>
          </a:xfrm>
          <a:prstGeom prst="chevron">
            <a:avLst>
              <a:gd name="adj" fmla="val 46666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64602" y="1808338"/>
            <a:ext cx="1793754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4602" y="1837504"/>
            <a:ext cx="1793754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STEP2</a:t>
            </a:r>
          </a:p>
          <a:p>
            <a:pPr algn="ctr">
              <a:lnSpc>
                <a:spcPts val="16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加工</a:t>
            </a:r>
          </a:p>
          <a:p>
            <a:pPr algn="ctr">
              <a:lnSpc>
                <a:spcPts val="16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（分割・構造化・メタデータ付与）</a:t>
            </a:r>
          </a:p>
        </p:txBody>
      </p:sp>
      <p:sp>
        <p:nvSpPr>
          <p:cNvPr id="57" name="Chevron 56"/>
          <p:cNvSpPr/>
          <p:nvPr/>
        </p:nvSpPr>
        <p:spPr>
          <a:xfrm>
            <a:off x="9931273" y="1895838"/>
            <a:ext cx="102084" cy="218751"/>
          </a:xfrm>
          <a:prstGeom prst="chevron">
            <a:avLst>
              <a:gd name="adj" fmla="val 46666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06273" y="1808338"/>
            <a:ext cx="1852088" cy="670835"/>
          </a:xfrm>
          <a:prstGeom prst="roundRect">
            <a:avLst>
              <a:gd name="adj" fmla="val 4347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icon lucide:file-text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50024" y="1852088"/>
            <a:ext cx="306251" cy="30625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97941" y="1837504"/>
            <a:ext cx="1560420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STEP3</a:t>
            </a:r>
          </a:p>
          <a:p>
            <a:pPr algn="ctr">
              <a:lnSpc>
                <a:spcPts val="2200"/>
              </a:lnSpc>
            </a:pPr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文書検索単位（例）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8348" y="2829173"/>
            <a:ext cx="393751" cy="393751"/>
          </a:xfrm>
          <a:prstGeom prst="roundRect">
            <a:avLst>
              <a:gd name="adj" fmla="val 14814"/>
            </a:avLst>
          </a:prstGeom>
          <a:solidFill>
            <a:srgbClr val="2B6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25016" y="2843757"/>
            <a:ext cx="1093753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Word</a:t>
            </a:r>
          </a:p>
          <a:p>
            <a:pPr algn="l">
              <a:lnSpc>
                <a:spcPts val="1450"/>
              </a:lnSpc>
            </a:pPr>
            <a:r>
              <a:rPr sz="7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（作業手順書・仕様書 等）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8348" y="3441675"/>
            <a:ext cx="393751" cy="393751"/>
          </a:xfrm>
          <a:prstGeom prst="roundRect">
            <a:avLst>
              <a:gd name="adj" fmla="val 14814"/>
            </a:avLst>
          </a:prstGeom>
          <a:solidFill>
            <a:srgbClr val="1E7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25016" y="3456258"/>
            <a:ext cx="1093753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Excel</a:t>
            </a:r>
          </a:p>
          <a:p>
            <a:pPr algn="l">
              <a:lnSpc>
                <a:spcPts val="1450"/>
              </a:lnSpc>
            </a:pPr>
            <a:r>
              <a:rPr sz="7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（一覧表・管理表 等）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58348" y="4083343"/>
            <a:ext cx="393751" cy="393751"/>
          </a:xfrm>
          <a:prstGeom prst="roundRect">
            <a:avLst>
              <a:gd name="adj" fmla="val 14814"/>
            </a:avLst>
          </a:prstGeom>
          <a:solidFill>
            <a:srgbClr val="D9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icon material:picture_as_pdf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23973" y="4148968"/>
            <a:ext cx="262501" cy="2625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25016" y="4097926"/>
            <a:ext cx="1093753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PDF</a:t>
            </a:r>
          </a:p>
          <a:p>
            <a:pPr algn="l">
              <a:lnSpc>
                <a:spcPts val="1450"/>
              </a:lnSpc>
            </a:pPr>
            <a:r>
              <a:rPr sz="7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（マニュアル・図面説明 等）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16682" y="4885428"/>
            <a:ext cx="1283336" cy="1225003"/>
          </a:xfrm>
          <a:prstGeom prst="rect">
            <a:avLst/>
          </a:prstGeom>
          <a:solidFill>
            <a:srgbClr val="FFFFFF"/>
          </a:solidFill>
          <a:ln w="14583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533349" y="5016678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533349" y="5089595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533349" y="5162512"/>
            <a:ext cx="831251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533349" y="5235429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533349" y="5308346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533349" y="5381263"/>
            <a:ext cx="831251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533349" y="5483346"/>
            <a:ext cx="568751" cy="306251"/>
          </a:xfrm>
          <a:prstGeom prst="rect">
            <a:avLst/>
          </a:prstGeom>
          <a:noFill/>
          <a:ln w="14583">
            <a:solidFill>
              <a:srgbClr val="E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533349" y="5585430"/>
            <a:ext cx="568751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533349" y="5687513"/>
            <a:ext cx="568751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145850" y="5483346"/>
            <a:ext cx="408334" cy="306251"/>
          </a:xfrm>
          <a:prstGeom prst="rect">
            <a:avLst/>
          </a:prstGeom>
          <a:noFill/>
          <a:ln w="14583">
            <a:solidFill>
              <a:srgbClr val="E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145850" y="5585430"/>
            <a:ext cx="408334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145850" y="5687513"/>
            <a:ext cx="408334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533349" y="5891680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533349" y="5964597"/>
            <a:ext cx="1050002" cy="0"/>
          </a:xfrm>
          <a:prstGeom prst="line">
            <a:avLst/>
          </a:prstGeom>
          <a:ln w="14583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75015" y="6197931"/>
            <a:ext cx="291667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Meiryo"/>
                <a:ea typeface="Meiryo"/>
                <a:cs typeface="Meiryo"/>
              </a:rPr>
              <a:t>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22936" y="2566673"/>
            <a:ext cx="1779171" cy="24062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450"/>
              </a:lnSpc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見出し（章／節／項番）の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階層構造を保持して分割</a:t>
            </a:r>
          </a:p>
          <a:p>
            <a:pPr algn="l" marL="175000" indent="-175000">
              <a:lnSpc>
                <a:spcPts val="1450"/>
              </a:lnSpc>
              <a:spcBef>
                <a:spcPts val="70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表はヘッダと各行の関係を保持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（1表の1行を1単位に）</a:t>
            </a:r>
          </a:p>
          <a:p>
            <a:pPr algn="l" marL="175000" indent="-175000">
              <a:lnSpc>
                <a:spcPts val="1450"/>
              </a:lnSpc>
              <a:spcBef>
                <a:spcPts val="70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Excelはシート・セル、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Wordは表番号、PDFはページ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など、原文上の位置情報を保持</a:t>
            </a:r>
          </a:p>
          <a:p>
            <a:pPr algn="l" marL="175000" indent="-175000">
              <a:lnSpc>
                <a:spcPts val="1450"/>
              </a:lnSpc>
              <a:spcBef>
                <a:spcPts val="70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文書番号・REV・発効日・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取得元パス等のメタデータを付与</a:t>
            </a:r>
          </a:p>
          <a:p>
            <a:pPr algn="l" marL="175000" indent="-175000">
              <a:lnSpc>
                <a:spcPts val="1450"/>
              </a:lnSpc>
              <a:spcBef>
                <a:spcPts val="700"/>
              </a:spcBef>
              <a:buClr>
                <a:srgbClr val="1F3A6E"/>
              </a:buClr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意味が通る文書チャンクを</a:t>
            </a:r>
            <a:br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検索単位として作る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50019" y="5031262"/>
            <a:ext cx="700002" cy="947919"/>
          </a:xfrm>
          <a:prstGeom prst="rect">
            <a:avLst/>
          </a:prstGeom>
          <a:solidFill>
            <a:srgbClr val="FFFFFF"/>
          </a:solidFill>
          <a:ln w="14583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08352" y="5191679"/>
            <a:ext cx="583335" cy="291667"/>
          </a:xfrm>
          <a:prstGeom prst="rect">
            <a:avLst/>
          </a:prstGeom>
          <a:noFill/>
          <a:ln w="14583">
            <a:solidFill>
              <a:srgbClr val="E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8108352" y="5286471"/>
            <a:ext cx="583335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108352" y="5381263"/>
            <a:ext cx="583335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8108352" y="5541680"/>
            <a:ext cx="583335" cy="291667"/>
          </a:xfrm>
          <a:prstGeom prst="rect">
            <a:avLst/>
          </a:prstGeom>
          <a:noFill/>
          <a:ln w="14583">
            <a:solidFill>
              <a:srgbClr val="E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8108352" y="5636471"/>
            <a:ext cx="583335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08352" y="5731263"/>
            <a:ext cx="583335" cy="0"/>
          </a:xfrm>
          <a:prstGeom prst="line">
            <a:avLst/>
          </a:prstGeom>
          <a:ln w="7292">
            <a:solidFill>
              <a:srgbClr val="C9D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8750020" y="5177095"/>
            <a:ext cx="452085" cy="335418"/>
          </a:xfrm>
          <a:custGeom>
            <a:avLst/>
            <a:gdLst/>
            <a:ahLst/>
            <a:cxnLst/>
            <a:rect l="l" t="t" r="r" b="b"/>
            <a:pathLst>
              <a:path w="452085" h="335418">
                <a:moveTo>
                  <a:pt x="0" y="335418"/>
                </a:moveTo>
                <a:lnTo>
                  <a:pt x="233334" y="335418"/>
                </a:lnTo>
                <a:lnTo>
                  <a:pt x="233334" y="0"/>
                </a:lnTo>
                <a:lnTo>
                  <a:pt x="452085" y="0"/>
                </a:lnTo>
              </a:path>
            </a:pathLst>
          </a:custGeom>
          <a:noFill/>
          <a:ln w="14583">
            <a:solidFill>
              <a:srgbClr val="3B7DD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231271" y="5031262"/>
            <a:ext cx="539585" cy="291667"/>
          </a:xfrm>
          <a:prstGeom prst="rect">
            <a:avLst/>
          </a:prstGeom>
          <a:solidFill>
            <a:srgbClr val="FFFFFF"/>
          </a:solidFill>
          <a:ln w="10938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icon lucide:file-text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75022" y="5075012"/>
            <a:ext cx="204167" cy="204167"/>
          </a:xfrm>
          <a:prstGeom prst="rect">
            <a:avLst/>
          </a:prstGeom>
        </p:spPr>
      </p:pic>
      <p:cxnSp>
        <p:nvCxnSpPr>
          <p:cNvPr id="95" name="Connector 94"/>
          <p:cNvCxnSpPr/>
          <p:nvPr/>
        </p:nvCxnSpPr>
        <p:spPr>
          <a:xfrm>
            <a:off x="9508355" y="5118762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508355" y="5177095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508355" y="5235429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8750020" y="5512513"/>
            <a:ext cx="452085" cy="14583"/>
          </a:xfrm>
          <a:custGeom>
            <a:avLst/>
            <a:gdLst/>
            <a:ahLst/>
            <a:cxnLst/>
            <a:rect l="l" t="t" r="r" b="b"/>
            <a:pathLst>
              <a:path w="452085" h="14583">
                <a:moveTo>
                  <a:pt x="0" y="0"/>
                </a:moveTo>
                <a:lnTo>
                  <a:pt x="233334" y="0"/>
                </a:lnTo>
                <a:lnTo>
                  <a:pt x="233334" y="14583"/>
                </a:lnTo>
                <a:lnTo>
                  <a:pt x="452085" y="14583"/>
                </a:lnTo>
              </a:path>
            </a:pathLst>
          </a:custGeom>
          <a:noFill/>
          <a:ln w="14583">
            <a:solidFill>
              <a:srgbClr val="3B7DD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31271" y="5381263"/>
            <a:ext cx="539585" cy="291667"/>
          </a:xfrm>
          <a:prstGeom prst="rect">
            <a:avLst/>
          </a:prstGeom>
          <a:solidFill>
            <a:srgbClr val="FFFFFF"/>
          </a:solidFill>
          <a:ln w="10938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icon lucide:file-text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75022" y="5425013"/>
            <a:ext cx="204167" cy="204167"/>
          </a:xfrm>
          <a:prstGeom prst="rect">
            <a:avLst/>
          </a:prstGeom>
        </p:spPr>
      </p:pic>
      <p:cxnSp>
        <p:nvCxnSpPr>
          <p:cNvPr id="101" name="Connector 100"/>
          <p:cNvCxnSpPr/>
          <p:nvPr/>
        </p:nvCxnSpPr>
        <p:spPr>
          <a:xfrm>
            <a:off x="9508355" y="5468763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8355" y="5527096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08355" y="5585430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8750020" y="5512513"/>
            <a:ext cx="452085" cy="364584"/>
          </a:xfrm>
          <a:custGeom>
            <a:avLst/>
            <a:gdLst/>
            <a:ahLst/>
            <a:cxnLst/>
            <a:rect l="l" t="t" r="r" b="b"/>
            <a:pathLst>
              <a:path w="452085" h="364584">
                <a:moveTo>
                  <a:pt x="0" y="0"/>
                </a:moveTo>
                <a:lnTo>
                  <a:pt x="233334" y="0"/>
                </a:lnTo>
                <a:lnTo>
                  <a:pt x="233334" y="364584"/>
                </a:lnTo>
                <a:lnTo>
                  <a:pt x="452085" y="364584"/>
                </a:lnTo>
              </a:path>
            </a:pathLst>
          </a:custGeom>
          <a:noFill/>
          <a:ln w="14583">
            <a:solidFill>
              <a:srgbClr val="3B7DD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31271" y="5731263"/>
            <a:ext cx="539585" cy="291667"/>
          </a:xfrm>
          <a:prstGeom prst="rect">
            <a:avLst/>
          </a:prstGeom>
          <a:solidFill>
            <a:srgbClr val="FFFFFF"/>
          </a:solidFill>
          <a:ln w="10938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icon lucide:file-text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75022" y="5775013"/>
            <a:ext cx="204167" cy="204167"/>
          </a:xfrm>
          <a:prstGeom prst="rect">
            <a:avLst/>
          </a:prstGeom>
        </p:spPr>
      </p:pic>
      <p:cxnSp>
        <p:nvCxnSpPr>
          <p:cNvPr id="107" name="Connector 106"/>
          <p:cNvCxnSpPr/>
          <p:nvPr/>
        </p:nvCxnSpPr>
        <p:spPr>
          <a:xfrm>
            <a:off x="9508355" y="5818764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508355" y="5877097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508355" y="5935430"/>
            <a:ext cx="218751" cy="0"/>
          </a:xfrm>
          <a:prstGeom prst="line">
            <a:avLst/>
          </a:prstGeom>
          <a:ln w="10938">
            <a:solidFill>
              <a:srgbClr val="A7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8093769" y="6110431"/>
            <a:ext cx="1750004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章・節・項番・表などで分割し</a:t>
            </a:r>
          </a:p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メタデータを付与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975023" y="2566673"/>
            <a:ext cx="1997921" cy="262501"/>
          </a:xfrm>
          <a:prstGeom prst="roundRect">
            <a:avLst>
              <a:gd name="adj" fmla="val 5555"/>
            </a:avLst>
          </a:prstGeom>
          <a:solidFill>
            <a:srgbClr val="E1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975023" y="2566673"/>
            <a:ext cx="1997921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文書の一部（チャンク）を検索単位として保持</a:t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9975023" y="2872923"/>
          <a:ext cx="1997921" cy="320833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14585"/>
                <a:gridCol w="1283336"/>
              </a:tblGrid>
              <a:tr h="3062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見出しパス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第3章 &gt; 3.2 &gt; 注意事項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70000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本文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作業時の注意事項は</a:t>
                      </a:r>
                      <a:br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以下のとおり…</a:t>
                      </a:r>
                      <a:br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・必ず保護具を着用する…</a:t>
                      </a:r>
                      <a:br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・電源を切ってから作業…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D-12345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REV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B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発効日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2024-06-01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ページ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p.15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項番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3.2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シート／セル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Sheet1 / B5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元ファイルパス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/folder/…/作業手順書.pdf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抽出方式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章・節・項番で分割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968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抽出品質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正常（表構造保持）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30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検索用テキスト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作業時の注意事項 保護具</a:t>
                      </a:r>
                      <a:br/>
                      <a:r>
                        <a:rPr sz="70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電源を切ってから作業…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CE3EC"/>
                      </a:solidFill>
                    </a:lnB>
                    <a:lnT w="7292">
                      <a:solidFill>
                        <a:srgbClr val="DCE3EC"/>
                      </a:solidFill>
                    </a:lnT>
                    <a:lnR w="7292">
                      <a:solidFill>
                        <a:srgbClr val="DCE3EC"/>
                      </a:solidFill>
                    </a:lnR>
                    <a:lnL w="7292">
                      <a:solidFill>
                        <a:srgbClr val="DCE3EC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
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6667"/>
            <a:ext cx="102084" cy="583335"/>
          </a:xfrm>
          <a:prstGeom prst="rect">
            <a:avLst/>
          </a:prstGeom>
          <a:solidFill>
            <a:srgbClr val="294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1667" y="58333"/>
            <a:ext cx="5541680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7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Gate 1で何を見極めるか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251" y="466668"/>
            <a:ext cx="5104179" cy="277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6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実データで検索成立性を確認する</a:t>
            </a:r>
          </a:p>
        </p:txBody>
      </p:sp>
      <p:pic>
        <p:nvPicPr>
          <p:cNvPr id="5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693" y="116667"/>
            <a:ext cx="729168" cy="2333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8751" y="853127"/>
            <a:ext cx="11776069" cy="576043"/>
          </a:xfrm>
          <a:prstGeom prst="rect">
            <a:avLst/>
          </a:prstGeom>
          <a:solidFill>
            <a:srgbClr val="E7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251" y="896877"/>
            <a:ext cx="1254170" cy="466668"/>
          </a:xfrm>
          <a:prstGeom prst="rect">
            <a:avLst/>
          </a:prstGeom>
          <a:solidFill>
            <a:srgbClr val="0D3B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キーメッセージ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421" y="904169"/>
            <a:ext cx="10208357" cy="4666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700"/>
              </a:lnSpc>
            </a:pPr>
            <a:r>
              <a:rPr sz="11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代表的な業務質問から必要な情報・元データ・結合キーを逆算し、実データで「正しく検索・回答できる状態を作れるか」を確認する。</a:t>
            </a:r>
          </a:p>
          <a:p>
            <a:pPr algn="l">
              <a:lnSpc>
                <a:spcPts val="1700"/>
              </a:lnSpc>
            </a:pPr>
            <a:r>
              <a:rPr sz="11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不足や矛盾がある場合は、補正・対象制限で成立するのか、PoCの前提自体を見直す必要があるのかまで判断する。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751" y="1881254"/>
            <a:ext cx="4943761" cy="4725011"/>
          </a:xfrm>
          <a:prstGeom prst="rect">
            <a:avLst/>
          </a:prstGeom>
          <a:solidFill>
            <a:srgbClr val="FFFFFF"/>
          </a:solidFill>
          <a:ln w="8750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8751" y="1560420"/>
            <a:ext cx="4943761" cy="320834"/>
          </a:xfrm>
          <a:prstGeom prst="rect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168" y="1560420"/>
            <a:ext cx="4666678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  Gate 1で見る5つの観点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834" y="1983338"/>
            <a:ext cx="4710428" cy="3368758"/>
          </a:xfrm>
          <a:prstGeom prst="roundRect">
            <a:avLst>
              <a:gd name="adj" fmla="val 865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417" y="1983338"/>
            <a:ext cx="1152086" cy="233334"/>
          </a:xfrm>
          <a:prstGeom prst="roundRect">
            <a:avLst>
              <a:gd name="adj" fmla="val 9375"/>
            </a:avLst>
          </a:prstGeom>
          <a:solidFill>
            <a:srgbClr val="3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1～4：成立条件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9168" y="2231255"/>
            <a:ext cx="4579177" cy="670835"/>
          </a:xfrm>
          <a:prstGeom prst="roundRect">
            <a:avLst>
              <a:gd name="adj" fmla="val 2173"/>
            </a:avLst>
          </a:prstGeom>
          <a:solidFill>
            <a:srgbClr val="EB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084" y="2304172"/>
            <a:ext cx="291667" cy="291667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752" y="2275005"/>
            <a:ext cx="3937509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必要情報の充足性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585" y="2508339"/>
            <a:ext cx="4054176" cy="3937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回答に必要な情報が実データ内に存在するか</a:t>
            </a:r>
          </a:p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例：作業工程、部品、WPS、文書、REV、発効日、FROM/THRU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168" y="2989590"/>
            <a:ext cx="4579177" cy="685418"/>
          </a:xfrm>
          <a:prstGeom prst="roundRect">
            <a:avLst>
              <a:gd name="adj" fmla="val 2127"/>
            </a:avLst>
          </a:prstGeom>
          <a:solidFill>
            <a:srgbClr val="EB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084" y="3062507"/>
            <a:ext cx="291667" cy="291667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752" y="3033340"/>
            <a:ext cx="3937509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関係性・結合の成立性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585" y="3266674"/>
            <a:ext cx="4054176" cy="3937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正しいキー・条件・粒度で紐付けられるか</a:t>
            </a:r>
          </a:p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例：部品⇔工程⇔WPS⇔図面、JOIN重複、部品番号だけで足りるか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168" y="3777092"/>
            <a:ext cx="4579177" cy="700002"/>
          </a:xfrm>
          <a:prstGeom prst="roundRect">
            <a:avLst>
              <a:gd name="adj" fmla="val 2083"/>
            </a:avLst>
          </a:prstGeom>
          <a:solidFill>
            <a:srgbClr val="EB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2084" y="3850009"/>
            <a:ext cx="291667" cy="291667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752" y="3820842"/>
            <a:ext cx="3937509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版・適用の判定可能性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585" y="4054176"/>
            <a:ext cx="4054176" cy="3937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最新版・適用対象を判断できるか</a:t>
            </a:r>
          </a:p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例：REV、発効日、号機、適用/非適用/判定不能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168" y="4564594"/>
            <a:ext cx="4579177" cy="700002"/>
          </a:xfrm>
          <a:prstGeom prst="roundRect">
            <a:avLst>
              <a:gd name="adj" fmla="val 2083"/>
            </a:avLst>
          </a:prstGeom>
          <a:solidFill>
            <a:srgbClr val="EB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084" y="4637511"/>
            <a:ext cx="291667" cy="291667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752" y="4608344"/>
            <a:ext cx="3937509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抽出・トレーサビリティの成立性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585" y="4841678"/>
            <a:ext cx="4054176" cy="3937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文書から正しく抽出し、原本へ戻れるか</a:t>
            </a:r>
          </a:p>
          <a:p>
            <a:pPr algn="l" marL="145834" indent="-145834">
              <a:lnSpc>
                <a:spcPts val="145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例：見出し、ページ、シート/セル、文書番号、元ファイルパス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2435422" y="5337512"/>
            <a:ext cx="277084" cy="218751"/>
          </a:xfrm>
          <a:prstGeom prst="downArrow">
            <a:avLst/>
          </a:prstGeom>
          <a:solidFill>
            <a:srgbClr val="7A8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0834" y="5527096"/>
            <a:ext cx="4710428" cy="1064586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875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5417" y="5527096"/>
            <a:ext cx="977086" cy="218751"/>
          </a:xfrm>
          <a:prstGeom prst="roundRect">
            <a:avLst>
              <a:gd name="adj" fmla="val 10000"/>
            </a:avLst>
          </a:prstGeom>
          <a:solidFill>
            <a:srgbClr val="3E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5：総合確認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168" y="5745847"/>
            <a:ext cx="4579177" cy="787502"/>
          </a:xfrm>
          <a:prstGeom prst="roundRect">
            <a:avLst>
              <a:gd name="adj" fmla="val 1851"/>
            </a:avLst>
          </a:prstGeom>
          <a:solidFill>
            <a:srgbClr val="EB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084" y="5818764"/>
            <a:ext cx="291667" cy="291667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169" y="5804180"/>
            <a:ext cx="3937509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検索単位として成立するか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169" y="6037514"/>
            <a:ext cx="4083343" cy="4812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①～④を満たしたうえで、1件だけを見れば「何についての、</a:t>
            </a:r>
            <a:br/>
            <a:r>
              <a:rPr sz="10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どの工程で、何をする情報で、どの版・対象に使えるか」が分かり、</a:t>
            </a:r>
            <a:br/>
            <a:r>
              <a:rPr sz="10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かつ元データまで辿れるか。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3762" y="1881254"/>
            <a:ext cx="6701057" cy="4725011"/>
          </a:xfrm>
          <a:prstGeom prst="rect">
            <a:avLst/>
          </a:prstGeom>
          <a:solidFill>
            <a:srgbClr val="FFFFFF"/>
          </a:solidFill>
          <a:ln w="8750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93762" y="1560420"/>
            <a:ext cx="6701057" cy="320834"/>
          </a:xfrm>
          <a:prstGeom prst="rect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54179" y="1560420"/>
            <a:ext cx="6416682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  Gate 1をどう進めるか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39596" y="2005213"/>
            <a:ext cx="787502" cy="350001"/>
          </a:xfrm>
          <a:prstGeom prst="roundRect">
            <a:avLst>
              <a:gd name="adj" fmla="val 4166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85431" y="1954171"/>
            <a:ext cx="5600013" cy="670835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 w="8750">
            <a:solidFill>
              <a:srgbClr val="D0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39596" y="2814590"/>
            <a:ext cx="787502" cy="350001"/>
          </a:xfrm>
          <a:prstGeom prst="roundRect">
            <a:avLst>
              <a:gd name="adj" fmla="val 4166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5431" y="2800007"/>
            <a:ext cx="5600013" cy="641668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8750">
            <a:solidFill>
              <a:srgbClr val="D0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39596" y="3645842"/>
            <a:ext cx="787502" cy="350001"/>
          </a:xfrm>
          <a:prstGeom prst="roundRect">
            <a:avLst>
              <a:gd name="adj" fmla="val 4166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5431" y="3631258"/>
            <a:ext cx="5600013" cy="1035419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 w="8750">
            <a:solidFill>
              <a:srgbClr val="D0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39596" y="4885428"/>
            <a:ext cx="787502" cy="350001"/>
          </a:xfrm>
          <a:prstGeom prst="roundRect">
            <a:avLst>
              <a:gd name="adj" fmla="val 4166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 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5431" y="4870845"/>
            <a:ext cx="5600013" cy="539585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8750">
            <a:solidFill>
              <a:srgbClr val="D0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39596" y="5592721"/>
            <a:ext cx="787502" cy="350001"/>
          </a:xfrm>
          <a:prstGeom prst="roundRect">
            <a:avLst>
              <a:gd name="adj" fmla="val 4166"/>
            </a:avLst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STEP 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85431" y="5578138"/>
            <a:ext cx="5600013" cy="962502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8750">
            <a:solidFill>
              <a:srgbClr val="D0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8465645" y="2646881"/>
            <a:ext cx="189584" cy="145834"/>
          </a:xfrm>
          <a:prstGeom prst="downArrow">
            <a:avLst/>
          </a:prstGeom>
          <a:solidFill>
            <a:srgbClr val="7A8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8465645" y="3456258"/>
            <a:ext cx="189584" cy="145834"/>
          </a:xfrm>
          <a:prstGeom prst="downArrow">
            <a:avLst/>
          </a:prstGeom>
          <a:solidFill>
            <a:srgbClr val="7A8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8465645" y="4681261"/>
            <a:ext cx="189584" cy="145834"/>
          </a:xfrm>
          <a:prstGeom prst="downArrow">
            <a:avLst/>
          </a:prstGeom>
          <a:solidFill>
            <a:srgbClr val="7A8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8465645" y="5425013"/>
            <a:ext cx="189584" cy="145834"/>
          </a:xfrm>
          <a:prstGeom prst="downArrow">
            <a:avLst/>
          </a:prstGeom>
          <a:solidFill>
            <a:srgbClr val="7A8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7515" y="1997921"/>
            <a:ext cx="3062507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代表質問を選ぶ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87515" y="2245839"/>
            <a:ext cx="3062507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UC1・UC2から20～30問程度を先行選定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22939" y="1983338"/>
            <a:ext cx="2304172" cy="612501"/>
          </a:xfrm>
          <a:prstGeom prst="roundRect">
            <a:avLst>
              <a:gd name="adj" fmla="val 3571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39606" y="1997921"/>
            <a:ext cx="729168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（例）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8772" y="2143755"/>
            <a:ext cx="2114588" cy="4375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150"/>
              </a:lnSpc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部品AのTOSを確認したい</a:t>
            </a:r>
          </a:p>
          <a:p>
            <a:pPr algn="l" marL="145834" indent="-145834">
              <a:lnSpc>
                <a:spcPts val="1150"/>
              </a:lnSpc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類似工程を探したい</a:t>
            </a:r>
          </a:p>
          <a:p>
            <a:pPr algn="l" marL="145834" indent="-145834">
              <a:lnSpc>
                <a:spcPts val="1150"/>
              </a:lnSpc>
              <a:buFont typeface="Arial"/>
              <a:buChar char="•"/>
            </a:pPr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該当箇所と最新版を確認したい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87515" y="2836465"/>
            <a:ext cx="3062507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必要データを逆算する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87515" y="3084382"/>
            <a:ext cx="3208341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必要情報 → 元データ → 結合キー → 検索単位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22939" y="2829173"/>
            <a:ext cx="2304172" cy="583335"/>
          </a:xfrm>
          <a:prstGeom prst="roundRect">
            <a:avLst>
              <a:gd name="adj" fmla="val 3750"/>
            </a:avLst>
          </a:prstGeom>
          <a:solidFill>
            <a:srgbClr val="F0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39606" y="2872923"/>
            <a:ext cx="729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（例）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95856" y="3047924"/>
            <a:ext cx="2216672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部品AのTOS → 作業内容・工程・WPS・履歴</a:t>
            </a:r>
          </a:p>
          <a:p>
            <a:pPr algn="l">
              <a:lnSpc>
                <a:spcPts val="1250"/>
              </a:lnSpc>
            </a:pPr>
            <a:r>
              <a:rPr sz="8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→ 作業工程/部品/WPS/履歴 → TOS検索単位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87515" y="3667717"/>
            <a:ext cx="3208341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実データで成立条件を確認する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7939" y="3689592"/>
            <a:ext cx="2070838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※左の①～④をここで確認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72931" y="3944801"/>
            <a:ext cx="2625006" cy="233334"/>
          </a:xfrm>
          <a:prstGeom prst="rect">
            <a:avLst/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N-PLUS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72931" y="4178135"/>
            <a:ext cx="2625006" cy="422918"/>
          </a:xfrm>
          <a:prstGeom prst="rect">
            <a:avLst/>
          </a:prstGeom>
          <a:solidFill>
            <a:srgbClr val="FFFFFF"/>
          </a:solidFill>
          <a:ln w="8750">
            <a:solidFill>
              <a:srgbClr val="D0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475015" y="4287510"/>
            <a:ext cx="189584" cy="189584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93766" y="4287510"/>
            <a:ext cx="510418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必要情報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218767" y="4382302"/>
            <a:ext cx="116667" cy="0"/>
          </a:xfrm>
          <a:prstGeom prst="line">
            <a:avLst/>
          </a:prstGeom>
          <a:ln w="10208">
            <a:solidFill>
              <a:srgbClr val="4A5C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7379184" y="4287510"/>
            <a:ext cx="189584" cy="189584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97934" y="4287510"/>
            <a:ext cx="408334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紐付け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020852" y="4382302"/>
            <a:ext cx="116667" cy="0"/>
          </a:xfrm>
          <a:prstGeom prst="line">
            <a:avLst/>
          </a:prstGeom>
          <a:ln w="10208">
            <a:solidFill>
              <a:srgbClr val="4A5C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8181269" y="4287510"/>
            <a:ext cx="189584" cy="189584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00020" y="4287510"/>
            <a:ext cx="510418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版・適用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85438" y="3944801"/>
            <a:ext cx="2741673" cy="233334"/>
          </a:xfrm>
          <a:prstGeom prst="rect">
            <a:avLst/>
          </a:prstGeom>
          <a:solidFill>
            <a:srgbClr val="DDE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共有文書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85438" y="4178135"/>
            <a:ext cx="2741673" cy="422918"/>
          </a:xfrm>
          <a:prstGeom prst="rect">
            <a:avLst/>
          </a:prstGeom>
          <a:solidFill>
            <a:srgbClr val="FFFFFF"/>
          </a:solidFill>
          <a:ln w="8750">
            <a:solidFill>
              <a:srgbClr val="D0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187521" y="4287510"/>
            <a:ext cx="189584" cy="189584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06272" y="4287510"/>
            <a:ext cx="510418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必要情報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931273" y="4382302"/>
            <a:ext cx="116667" cy="0"/>
          </a:xfrm>
          <a:prstGeom prst="line">
            <a:avLst/>
          </a:prstGeom>
          <a:ln w="10208">
            <a:solidFill>
              <a:srgbClr val="4A5C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10091690" y="4287510"/>
            <a:ext cx="189584" cy="189584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10441" y="4287510"/>
            <a:ext cx="612501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抽出・追跡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0937525" y="4382302"/>
            <a:ext cx="116667" cy="0"/>
          </a:xfrm>
          <a:prstGeom prst="line">
            <a:avLst/>
          </a:prstGeom>
          <a:ln w="10208">
            <a:solidFill>
              <a:srgbClr val="4A5C7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11097942" y="4287510"/>
            <a:ext cx="189584" cy="189584"/>
          </a:xfrm>
          <a:prstGeom prst="ellipse">
            <a:avLst/>
          </a:prstGeom>
          <a:solidFill>
            <a:srgbClr val="1B3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316693" y="4287510"/>
            <a:ext cx="510418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版・適用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87515" y="4900011"/>
            <a:ext cx="3500008" cy="2479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検索単位として成立するか確認する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43773" y="4921886"/>
            <a:ext cx="1925004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0" i="0">
                <a:solidFill>
                  <a:srgbClr val="1F5FB8"/>
                </a:solidFill>
                <a:latin typeface="Meiryo"/>
                <a:ea typeface="Meiryo"/>
                <a:cs typeface="Meiryo"/>
              </a:rPr>
              <a:t>※左の⑤をここで確認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58348" y="5147929"/>
            <a:ext cx="5512513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・必要な文脈が揃うか  ／  根拠が揃うか  ／  元データまで辿れるか  ／  欠損を無理に補完していないか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72931" y="5600013"/>
            <a:ext cx="1458337" cy="233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判定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72931" y="5847930"/>
            <a:ext cx="1735421" cy="627085"/>
          </a:xfrm>
          <a:prstGeom prst="rect">
            <a:avLst/>
          </a:prstGeom>
          <a:solidFill>
            <a:srgbClr val="F7FBF9"/>
          </a:solidFill>
          <a:ln w="875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72931" y="5847930"/>
            <a:ext cx="1735421" cy="233334"/>
          </a:xfrm>
          <a:prstGeom prst="rect">
            <a:avLst/>
          </a:prstGeom>
          <a:solidFill>
            <a:srgbClr val="D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1E7A4A"/>
                </a:solidFill>
                <a:latin typeface="Meiryo"/>
                <a:ea typeface="Meiryo"/>
                <a:cs typeface="Meiryo"/>
              </a:rPr>
              <a:t>成立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72931" y="6095848"/>
            <a:ext cx="1735421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00"/>
              </a:lnSpc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必要情報が存在し、</a:t>
            </a:r>
          </a:p>
          <a:p>
            <a:pPr algn="ctr">
              <a:lnSpc>
                <a:spcPts val="1300"/>
              </a:lnSpc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結合キーで根拠まで到達できる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10436" y="5847930"/>
            <a:ext cx="1793754" cy="627085"/>
          </a:xfrm>
          <a:prstGeom prst="rect">
            <a:avLst/>
          </a:prstGeom>
          <a:solidFill>
            <a:srgbClr val="FFFCF6"/>
          </a:solidFill>
          <a:ln w="875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10436" y="5847930"/>
            <a:ext cx="1793754" cy="233334"/>
          </a:xfrm>
          <a:prstGeom prst="rect">
            <a:avLst/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8A6212"/>
                </a:solidFill>
                <a:latin typeface="Meiryo"/>
                <a:ea typeface="Meiryo"/>
                <a:cs typeface="Meiryo"/>
              </a:rPr>
              <a:t>条件付き成立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10436" y="6095848"/>
            <a:ext cx="1793754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00"/>
              </a:lnSpc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補正・除外・追加提供・</a:t>
            </a:r>
          </a:p>
          <a:p>
            <a:pPr algn="ctr">
              <a:lnSpc>
                <a:spcPts val="1300"/>
              </a:lnSpc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対象制限で評価可能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91690" y="5847930"/>
            <a:ext cx="1735421" cy="627085"/>
          </a:xfrm>
          <a:prstGeom prst="rect">
            <a:avLst/>
          </a:prstGeom>
          <a:solidFill>
            <a:srgbClr val="FFF8F9"/>
          </a:solidFill>
          <a:ln w="875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91690" y="5847930"/>
            <a:ext cx="1735421" cy="233334"/>
          </a:xfrm>
          <a:prstGeom prst="rect">
            <a:avLst/>
          </a:prstGeom>
          <a:solidFill>
            <a:srgbClr val="FB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50" b="1" i="0">
                <a:solidFill>
                  <a:srgbClr val="A03040"/>
                </a:solidFill>
                <a:latin typeface="Meiryo"/>
                <a:ea typeface="Meiryo"/>
                <a:cs typeface="Meiryo"/>
              </a:rPr>
              <a:t>不成立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91690" y="6095848"/>
            <a:ext cx="1735421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300"/>
              </a:lnSpc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必須情報がなく、</a:t>
            </a:r>
          </a:p>
          <a:p>
            <a:pPr algn="ctr">
              <a:lnSpc>
                <a:spcPts val="1300"/>
              </a:lnSpc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要求自体を評価できない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8751" y="6650015"/>
            <a:ext cx="11433360" cy="1895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6251" y="6650015"/>
            <a:ext cx="11229193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補足：診断後は、元データ欠損・矛盾などの「データ起因」と、抽出・結合・検索・生成などの「方式起因」を切り分け、改善対象を特定する。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695861" y="6650015"/>
            <a:ext cx="291667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6B7385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
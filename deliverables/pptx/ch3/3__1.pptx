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_svg1.svg" ContentType="image/svg+xml"/>
  <Override PartName="/ppt/media/icon_svg10.svg" ContentType="image/svg+xml"/>
  <Override PartName="/ppt/media/icon_svg11.svg" ContentType="image/svg+xml"/>
  <Override PartName="/ppt/media/icon_svg12.svg" ContentType="image/svg+xml"/>
  <Override PartName="/ppt/media/icon_svg13.svg" ContentType="image/svg+xml"/>
  <Override PartName="/ppt/media/icon_svg14.svg" ContentType="image/svg+xml"/>
  <Override PartName="/ppt/media/icon_svg2.svg" ContentType="image/svg+xml"/>
  <Override PartName="/ppt/media/icon_svg3.svg" ContentType="image/svg+xml"/>
  <Override PartName="/ppt/media/icon_svg4.svg" ContentType="image/svg+xml"/>
  <Override PartName="/ppt/media/icon_svg5.svg" ContentType="image/svg+xml"/>
  <Override PartName="/ppt/media/icon_svg6.svg" ContentType="image/svg+xml"/>
  <Override PartName="/ppt/media/icon_svg7.svg" ContentType="image/svg+xml"/>
  <Override PartName="/ppt/media/icon_svg8.svg" ContentType="image/svg+xml"/>
  <Override PartName="/ppt/media/icon_svg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6147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on_svg1.svg"/><Relationship Id="rId5" Type="http://schemas.openxmlformats.org/officeDocument/2006/relationships/image" Target="../media/image3.png"/><Relationship Id="rId6" Type="http://schemas.openxmlformats.org/officeDocument/2006/relationships/image" Target="../media/icon_svg2.svg"/><Relationship Id="rId7" Type="http://schemas.openxmlformats.org/officeDocument/2006/relationships/image" Target="../media/icon_svg3.svg"/><Relationship Id="rId8" Type="http://schemas.openxmlformats.org/officeDocument/2006/relationships/image" Target="../media/icon_svg4.svg"/><Relationship Id="rId9" Type="http://schemas.openxmlformats.org/officeDocument/2006/relationships/image" Target="../media/image4.png"/><Relationship Id="rId10" Type="http://schemas.openxmlformats.org/officeDocument/2006/relationships/image" Target="../media/icon_svg5.svg"/><Relationship Id="rId11" Type="http://schemas.openxmlformats.org/officeDocument/2006/relationships/image" Target="../media/icon_svg6.svg"/><Relationship Id="rId12" Type="http://schemas.openxmlformats.org/officeDocument/2006/relationships/image" Target="../media/icon_svg7.svg"/><Relationship Id="rId13" Type="http://schemas.openxmlformats.org/officeDocument/2006/relationships/image" Target="../media/image5.png"/><Relationship Id="rId14" Type="http://schemas.openxmlformats.org/officeDocument/2006/relationships/image" Target="../media/icon_svg8.svg"/><Relationship Id="rId15" Type="http://schemas.openxmlformats.org/officeDocument/2006/relationships/image" Target="../media/image6.png"/><Relationship Id="rId16" Type="http://schemas.openxmlformats.org/officeDocument/2006/relationships/image" Target="../media/icon_svg9.svg"/><Relationship Id="rId17" Type="http://schemas.openxmlformats.org/officeDocument/2006/relationships/image" Target="../media/image7.png"/><Relationship Id="rId18" Type="http://schemas.openxmlformats.org/officeDocument/2006/relationships/image" Target="../media/icon_svg10.svg"/><Relationship Id="rId19" Type="http://schemas.openxmlformats.org/officeDocument/2006/relationships/image" Target="../media/image8.png"/><Relationship Id="rId20" Type="http://schemas.openxmlformats.org/officeDocument/2006/relationships/image" Target="../media/icon_svg11.svg"/><Relationship Id="rId21" Type="http://schemas.openxmlformats.org/officeDocument/2006/relationships/image" Target="../media/icon_svg12.svg"/><Relationship Id="rId22" Type="http://schemas.openxmlformats.org/officeDocument/2006/relationships/image" Target="../media/image9.png"/><Relationship Id="rId23" Type="http://schemas.openxmlformats.org/officeDocument/2006/relationships/image" Target="../media/icon_svg13.svg"/><Relationship Id="rId24" Type="http://schemas.openxmlformats.org/officeDocument/2006/relationships/image" Target="../media/icon_svg14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1250"/>
            <a:ext cx="189584" cy="379168"/>
          </a:xfrm>
          <a:prstGeom prst="rect">
            <a:avLst/>
          </a:prstGeom>
          <a:solidFill>
            <a:srgbClr val="1835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35417" y="87500"/>
            <a:ext cx="5979181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24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検索に使えるデータへどう整えるか</a:t>
            </a:r>
          </a:p>
        </p:txBody>
      </p:sp>
      <p:pic>
        <p:nvPicPr>
          <p:cNvPr id="4" name="logo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5026" y="87500"/>
            <a:ext cx="1064586" cy="24791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175000" y="612501"/>
            <a:ext cx="11841694" cy="597918"/>
          </a:xfrm>
          <a:prstGeom prst="roundRect">
            <a:avLst>
              <a:gd name="adj" fmla="val 7317"/>
            </a:avLst>
          </a:prstGeom>
          <a:solidFill>
            <a:srgbClr val="EDEE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9168" y="670835"/>
            <a:ext cx="11520860" cy="495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2A3550"/>
                </a:solidFill>
                <a:latin typeface="Meiryo"/>
                <a:ea typeface="Meiryo"/>
                <a:cs typeface="Meiryo"/>
              </a:rPr>
              <a:t>N-PLUSと共有文書をそのまま検索するのではなく、業務上意味のある「検索単位」に加工する。</a:t>
            </a:r>
          </a:p>
          <a:p>
            <a:pPr algn="l">
              <a:lnSpc>
                <a:spcPts val="1950"/>
              </a:lnSpc>
            </a:pPr>
            <a:r>
              <a:rPr sz="1300" b="0" i="0">
                <a:solidFill>
                  <a:srgbClr val="2A3550"/>
                </a:solidFill>
                <a:latin typeface="Meiryo"/>
                <a:ea typeface="Meiryo"/>
                <a:cs typeface="Meiryo"/>
              </a:rPr>
              <a:t>検索に必要な情報だけでなく、版・適用・根拠まで紐付け、正確検索と類似検索の双方で利用できる状態にする。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2292" y="1647920"/>
            <a:ext cx="3879176" cy="4914595"/>
          </a:xfrm>
          <a:prstGeom prst="roundRect">
            <a:avLst>
              <a:gd name="adj" fmla="val 751"/>
            </a:avLst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2292" y="1312503"/>
            <a:ext cx="3879176" cy="335417"/>
          </a:xfrm>
          <a:prstGeom prst="rect">
            <a:avLst/>
          </a:prstGeom>
          <a:solidFill>
            <a:srgbClr val="17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06251" y="1356253"/>
            <a:ext cx="247917" cy="2479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173A6E"/>
                </a:solidFill>
                <a:latin typeface="Meiryo"/>
                <a:ea typeface="Meiryo"/>
                <a:cs typeface="Meiryo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4376" y="1312503"/>
            <a:ext cx="3397925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現状の課題</a:t>
            </a:r>
            <a:r>
              <a:rPr sz="8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— 元データのままでは検索に使いにくい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63551" y="1647920"/>
            <a:ext cx="3886467" cy="4914595"/>
          </a:xfrm>
          <a:prstGeom prst="roundRect">
            <a:avLst>
              <a:gd name="adj" fmla="val 750"/>
            </a:avLst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63551" y="1312503"/>
            <a:ext cx="3886467" cy="335417"/>
          </a:xfrm>
          <a:prstGeom prst="rect">
            <a:avLst/>
          </a:prstGeom>
          <a:solidFill>
            <a:srgbClr val="17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87510" y="1356253"/>
            <a:ext cx="247917" cy="2479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173A6E"/>
                </a:solidFill>
                <a:latin typeface="Meiryo"/>
                <a:ea typeface="Meiryo"/>
                <a:cs typeface="Meiryo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5636" y="1312503"/>
            <a:ext cx="3405216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どう整えるか</a:t>
            </a:r>
            <a:r>
              <a:rPr sz="85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— 業務上の意味が通る検索単位を作る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2102" y="1647920"/>
            <a:ext cx="3864592" cy="4914595"/>
          </a:xfrm>
          <a:prstGeom prst="roundRect">
            <a:avLst>
              <a:gd name="adj" fmla="val 754"/>
            </a:avLst>
          </a:prstGeom>
          <a:solidFill>
            <a:srgbClr val="FFFFFF"/>
          </a:solidFill>
          <a:ln w="8750">
            <a:solidFill>
              <a:srgbClr val="D6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2102" y="1312503"/>
            <a:ext cx="3864592" cy="335417"/>
          </a:xfrm>
          <a:prstGeom prst="rect">
            <a:avLst/>
          </a:prstGeom>
          <a:solidFill>
            <a:srgbClr val="173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76061" y="1356253"/>
            <a:ext cx="247917" cy="247917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173A6E"/>
                </a:solidFill>
                <a:latin typeface="Meiryo"/>
                <a:ea typeface="Meiryo"/>
                <a:cs typeface="Meiry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04187" y="1312503"/>
            <a:ext cx="3383341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検索基盤でどう保持するか</a:t>
            </a:r>
            <a:r>
              <a:rPr sz="700" b="0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 — 検索情報と根拠情報をセットで持つ</a:t>
            </a:r>
          </a:p>
        </p:txBody>
      </p:sp>
      <p:sp>
        <p:nvSpPr>
          <p:cNvPr id="19" name="Chevron 18"/>
          <p:cNvSpPr/>
          <p:nvPr/>
        </p:nvSpPr>
        <p:spPr>
          <a:xfrm>
            <a:off x="4017718" y="3098966"/>
            <a:ext cx="175000" cy="452084"/>
          </a:xfrm>
          <a:prstGeom prst="chevron">
            <a:avLst>
              <a:gd name="adj" fmla="val 25806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4017718" y="5271887"/>
            <a:ext cx="175000" cy="452084"/>
          </a:xfrm>
          <a:prstGeom prst="chevron">
            <a:avLst>
              <a:gd name="adj" fmla="val 25806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8064602" y="3098966"/>
            <a:ext cx="175000" cy="452084"/>
          </a:xfrm>
          <a:prstGeom prst="chevron">
            <a:avLst>
              <a:gd name="adj" fmla="val 25806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Chevron 21"/>
          <p:cNvSpPr/>
          <p:nvPr/>
        </p:nvSpPr>
        <p:spPr>
          <a:xfrm>
            <a:off x="8064602" y="5271887"/>
            <a:ext cx="175000" cy="452084"/>
          </a:xfrm>
          <a:prstGeom prst="chevron">
            <a:avLst>
              <a:gd name="adj" fmla="val 25806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2501" y="1750004"/>
            <a:ext cx="3718759" cy="2814590"/>
          </a:xfrm>
          <a:prstGeom prst="roundRect">
            <a:avLst>
              <a:gd name="adj" fmla="val 155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62501" y="1750004"/>
            <a:ext cx="3718759" cy="320834"/>
          </a:xfrm>
          <a:prstGeom prst="roundRect">
            <a:avLst>
              <a:gd name="adj" fmla="val 13636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9168" y="1750004"/>
            <a:ext cx="2916673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N-PLUS（構造化データ）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251" y="2143755"/>
            <a:ext cx="1735421" cy="277084"/>
          </a:xfrm>
          <a:prstGeom prst="roundRect">
            <a:avLst>
              <a:gd name="adj" fmla="val 5263"/>
            </a:avLst>
          </a:prstGeom>
          <a:solidFill>
            <a:srgbClr val="DC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6251" y="2143755"/>
            <a:ext cx="1735421" cy="2770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0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情報が複数テーブルに分散</a:t>
            </a:r>
          </a:p>
        </p:txBody>
      </p:sp>
      <p:pic>
        <p:nvPicPr>
          <p:cNvPr id="28" name="icon material:database-fill" descr="image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0834" y="2975007"/>
            <a:ext cx="583335" cy="583335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1064586" y="2501047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66669" y="2501047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64586" y="2701569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66669" y="2701569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作業工程（TOS）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4586" y="2902090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66669" y="2902090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WPS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64586" y="3102611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66669" y="3102611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作業工程履歴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064586" y="3303133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66669" y="3303133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ロードセンター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4586" y="3503654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66669" y="3503654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図面／ドキュメント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64586" y="3704175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66669" y="3704175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版・適用情報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64586" y="3904697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66669" y="3904697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MBOM／EBOM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4586" y="4105218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6669" y="4105218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CSC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4586" y="4305739"/>
            <a:ext cx="97708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66669" y="4305739"/>
            <a:ext cx="87500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…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58338" y="2143755"/>
            <a:ext cx="1779171" cy="2362505"/>
          </a:xfrm>
          <a:prstGeom prst="roundRect">
            <a:avLst>
              <a:gd name="adj" fmla="val 1639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275005" y="2231255"/>
            <a:ext cx="1647920" cy="2260422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31250" indent="-131250">
              <a:lnSpc>
                <a:spcPts val="140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部品・作業工程・WPS・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履歴・図面・MBOM等が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別テーブルに分散</a:t>
            </a:r>
          </a:p>
          <a:p>
            <a:pPr algn="l" marL="131250" indent="-131250">
              <a:lnSpc>
                <a:spcPts val="1400"/>
              </a:lnSpc>
              <a:spcBef>
                <a:spcPts val="500"/>
              </a:spcBef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1レコードだけでは「どの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部品の、どの工程で、何を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するのか」が揃わない</a:t>
            </a:r>
          </a:p>
          <a:p>
            <a:pPr algn="l" marL="131250" indent="-131250">
              <a:lnSpc>
                <a:spcPts val="1400"/>
              </a:lnSpc>
              <a:spcBef>
                <a:spcPts val="500"/>
              </a:spcBef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コード値や関連情報を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横断しないと意味が分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からない</a:t>
            </a:r>
          </a:p>
          <a:p>
            <a:pPr algn="l" marL="131250" indent="-131250">
              <a:lnSpc>
                <a:spcPts val="1400"/>
              </a:lnSpc>
              <a:spcBef>
                <a:spcPts val="500"/>
              </a:spcBef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REV・適用号機等は、現時点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の定義書では所在が確認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できないものがある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262501" y="4666678"/>
            <a:ext cx="3718759" cy="1822921"/>
          </a:xfrm>
          <a:prstGeom prst="roundRect">
            <a:avLst>
              <a:gd name="adj" fmla="val 2400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91667" y="4703136"/>
            <a:ext cx="1764587" cy="510418"/>
          </a:xfrm>
          <a:prstGeom prst="roundRect">
            <a:avLst>
              <a:gd name="adj" fmla="val 5714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79168" y="4725011"/>
            <a:ext cx="1677087" cy="4666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850"/>
              </a:lnSpc>
            </a:pPr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共有文書</a:t>
            </a:r>
          </a:p>
          <a:p>
            <a:pPr algn="l">
              <a:lnSpc>
                <a:spcPts val="1850"/>
              </a:lnSpc>
            </a:pPr>
            <a:r>
              <a:rPr sz="115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（Word／Excel／PDF）</a:t>
            </a:r>
          </a:p>
        </p:txBody>
      </p:sp>
      <p:pic>
        <p:nvPicPr>
          <p:cNvPr id="54" name="icon lucide:file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22918" y="5454179"/>
            <a:ext cx="393751" cy="437501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422918" y="5570846"/>
            <a:ext cx="393751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W</a:t>
            </a:r>
          </a:p>
        </p:txBody>
      </p:sp>
      <p:pic>
        <p:nvPicPr>
          <p:cNvPr id="56" name="icon lucide:file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20836" y="5454179"/>
            <a:ext cx="393751" cy="437501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1020836" y="5570846"/>
            <a:ext cx="393751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2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X</a:t>
            </a:r>
          </a:p>
        </p:txBody>
      </p:sp>
      <p:pic>
        <p:nvPicPr>
          <p:cNvPr id="58" name="icon lucide:file" descr="image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60420" y="5454179"/>
            <a:ext cx="393751" cy="437501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1560420" y="5570846"/>
            <a:ext cx="393751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11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⅄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08334" y="5964597"/>
            <a:ext cx="1750004" cy="437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形式・構成がバラバラで、</a:t>
            </a:r>
          </a:p>
          <a:p>
            <a:pPr algn="l">
              <a:lnSpc>
                <a:spcPts val="16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必要箇所の特定が難しい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58338" y="4725011"/>
            <a:ext cx="1779171" cy="1720837"/>
          </a:xfrm>
          <a:prstGeom prst="roundRect">
            <a:avLst>
              <a:gd name="adj" fmla="val 1694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275005" y="4812511"/>
            <a:ext cx="1647920" cy="160417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31250" indent="-131250">
              <a:lnSpc>
                <a:spcPts val="1400"/>
              </a:lnSpc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Word／Excel／PDFなど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形式が異なる</a:t>
            </a:r>
          </a:p>
          <a:p>
            <a:pPr algn="l" marL="131250" indent="-131250">
              <a:lnSpc>
                <a:spcPts val="1400"/>
              </a:lnSpc>
              <a:spcBef>
                <a:spcPts val="500"/>
              </a:spcBef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文書全体をそのまま検索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単位にすると、必要箇所を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特定しづらい</a:t>
            </a:r>
          </a:p>
          <a:p>
            <a:pPr algn="l" marL="131250" indent="-131250">
              <a:lnSpc>
                <a:spcPts val="1400"/>
              </a:lnSpc>
              <a:spcBef>
                <a:spcPts val="500"/>
              </a:spcBef>
              <a:buFont typeface="Arial"/>
              <a:buChar char="•"/>
            </a:pPr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表・見出し・ページ等の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構造を失うと、根拠箇所</a:t>
            </a:r>
            <a:br/>
            <a:r>
              <a:rPr sz="9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まで戻れない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4229176" y="1750004"/>
            <a:ext cx="3747925" cy="2508339"/>
          </a:xfrm>
          <a:prstGeom prst="roundRect">
            <a:avLst>
              <a:gd name="adj" fmla="val 174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4229176" y="1750004"/>
            <a:ext cx="3747925" cy="320834"/>
          </a:xfrm>
          <a:prstGeom prst="roundRect">
            <a:avLst>
              <a:gd name="adj" fmla="val 13636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45843" y="1750004"/>
            <a:ext cx="3572925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N-PLUSを統合し、TOSを起点とした検索単位に加工</a:t>
            </a:r>
          </a:p>
        </p:txBody>
      </p:sp>
      <p:pic>
        <p:nvPicPr>
          <p:cNvPr id="66" name="icon material:database-fill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0427" y="2275005"/>
            <a:ext cx="379168" cy="379168"/>
          </a:xfrm>
          <a:prstGeom prst="rect">
            <a:avLst/>
          </a:prstGeom>
        </p:spPr>
      </p:pic>
      <p:pic>
        <p:nvPicPr>
          <p:cNvPr id="67" name="icon material:database-fill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60427" y="2843757"/>
            <a:ext cx="379168" cy="379168"/>
          </a:xfrm>
          <a:prstGeom prst="rect">
            <a:avLst/>
          </a:prstGeom>
        </p:spPr>
      </p:pic>
      <p:pic>
        <p:nvPicPr>
          <p:cNvPr id="68" name="icon material:database-fill" descr="image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60427" y="3485425"/>
            <a:ext cx="379168" cy="379168"/>
          </a:xfrm>
          <a:prstGeom prst="rect">
            <a:avLst/>
          </a:prstGeom>
        </p:spPr>
      </p:pic>
      <p:sp>
        <p:nvSpPr>
          <p:cNvPr id="69" name="Rounded Rectangle 68"/>
          <p:cNvSpPr/>
          <p:nvPr/>
        </p:nvSpPr>
        <p:spPr>
          <a:xfrm>
            <a:off x="4783344" y="2180213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85428" y="2180213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783344" y="2386568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85428" y="2386568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作業工程（TOS）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4783344" y="2592923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885428" y="2592923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WPS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783344" y="2799277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85428" y="2799277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作業工程履歴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783344" y="3005632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85428" y="3005632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ロードセンター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783344" y="3211987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885428" y="3211987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図面／ドキュメント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783344" y="3418341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85428" y="3418341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MBOM／EBOM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783344" y="3624696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885428" y="3624696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CSC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4783344" y="3831051"/>
            <a:ext cx="933336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885428" y="3831051"/>
            <a:ext cx="831252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…</a:t>
            </a:r>
          </a:p>
        </p:txBody>
      </p:sp>
      <p:sp>
        <p:nvSpPr>
          <p:cNvPr id="87" name="Freeform 86"/>
          <p:cNvSpPr/>
          <p:nvPr/>
        </p:nvSpPr>
        <p:spPr>
          <a:xfrm>
            <a:off x="5731263" y="2304172"/>
            <a:ext cx="58334" cy="1604170"/>
          </a:xfrm>
          <a:custGeom>
            <a:avLst/>
            <a:gdLst/>
            <a:ahLst/>
            <a:cxnLst/>
            <a:rect l="l" t="t" r="r" b="b"/>
            <a:pathLst>
              <a:path w="58334" h="1604170">
                <a:moveTo>
                  <a:pt x="0" y="0"/>
                </a:moveTo>
                <a:lnTo>
                  <a:pt x="58334" y="29167"/>
                </a:lnTo>
                <a:lnTo>
                  <a:pt x="58334" y="1575004"/>
                </a:lnTo>
                <a:lnTo>
                  <a:pt x="0" y="1604170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8" name="Connector 87"/>
          <p:cNvCxnSpPr/>
          <p:nvPr/>
        </p:nvCxnSpPr>
        <p:spPr>
          <a:xfrm>
            <a:off x="5789597" y="3106257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ounded Rectangle 88"/>
          <p:cNvSpPr/>
          <p:nvPr/>
        </p:nvSpPr>
        <p:spPr>
          <a:xfrm>
            <a:off x="5891680" y="2770840"/>
            <a:ext cx="554168" cy="729168"/>
          </a:xfrm>
          <a:prstGeom prst="roundRect">
            <a:avLst>
              <a:gd name="adj" fmla="val 7894"/>
            </a:avLst>
          </a:prstGeom>
          <a:solidFill>
            <a:srgbClr val="2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0" name="icon lucide:file-text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022931" y="2829173"/>
            <a:ext cx="291667" cy="291667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891680" y="3135424"/>
            <a:ext cx="554168" cy="335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TOS</a:t>
            </a:r>
          </a:p>
          <a:p>
            <a:pPr algn="ctr">
              <a:lnSpc>
                <a:spcPts val="12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検索単位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6475015" y="2129172"/>
            <a:ext cx="1487503" cy="2085422"/>
          </a:xfrm>
          <a:prstGeom prst="roundRect">
            <a:avLst>
              <a:gd name="adj" fmla="val 196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6547932" y="2158338"/>
            <a:ext cx="1429170" cy="20416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30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作業工程を起点に関連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テーブルをJOIN</a:t>
            </a:r>
          </a:p>
          <a:p>
            <a:pPr algn="l" marL="116667" indent="-116667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部品番号・工程番号等の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キーで、部品／WPS／履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歴／図面／MBOM等を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紐付け</a:t>
            </a:r>
          </a:p>
          <a:p>
            <a:pPr algn="l" marL="116667" indent="-116667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コードを業務名称へ変換</a:t>
            </a:r>
          </a:p>
          <a:p>
            <a:pPr algn="l" marL="116667" indent="-116667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部品・工程・作業内容・職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場・WPS・変更履歴等を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1つの文脈に統合</a:t>
            </a:r>
          </a:p>
          <a:p>
            <a:pPr algn="l" marL="116667" indent="-116667">
              <a:lnSpc>
                <a:spcPts val="1300"/>
              </a:lnSpc>
              <a:spcBef>
                <a:spcPts val="350"/>
              </a:spcBef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基本は「作業工程1行＝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1検索候補」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229176" y="4360427"/>
            <a:ext cx="3747925" cy="2129172"/>
          </a:xfrm>
          <a:prstGeom prst="roundRect">
            <a:avLst>
              <a:gd name="adj" fmla="val 2054"/>
            </a:avLst>
          </a:prstGeom>
          <a:solidFill>
            <a:srgbClr val="F7FA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4229176" y="4360427"/>
            <a:ext cx="3747925" cy="320834"/>
          </a:xfrm>
          <a:prstGeom prst="roundRect">
            <a:avLst>
              <a:gd name="adj" fmla="val 13636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45843" y="4360427"/>
            <a:ext cx="3572925" cy="32083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0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共有文書を意味のある単位に分割し、メタデータを付与</a:t>
            </a:r>
          </a:p>
        </p:txBody>
      </p:sp>
      <p:pic>
        <p:nvPicPr>
          <p:cNvPr id="97" name="icon lucide:file-text" descr="image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89594" y="5031262"/>
            <a:ext cx="277084" cy="306251"/>
          </a:xfrm>
          <a:prstGeom prst="rect">
            <a:avLst/>
          </a:prstGeom>
        </p:spPr>
      </p:pic>
      <p:sp>
        <p:nvSpPr>
          <p:cNvPr id="98" name="TextBox 97"/>
          <p:cNvSpPr txBox="1"/>
          <p:nvPr/>
        </p:nvSpPr>
        <p:spPr>
          <a:xfrm>
            <a:off x="4316677" y="5322929"/>
            <a:ext cx="437501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Word</a:t>
            </a:r>
          </a:p>
        </p:txBody>
      </p:sp>
      <p:pic>
        <p:nvPicPr>
          <p:cNvPr id="99" name="icon lucide:file-spreadsheet" descr="image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404177" y="5497929"/>
            <a:ext cx="247917" cy="277084"/>
          </a:xfrm>
          <a:prstGeom prst="rect">
            <a:avLst/>
          </a:prstGeom>
        </p:spPr>
      </p:pic>
      <p:sp>
        <p:nvSpPr>
          <p:cNvPr id="100" name="TextBox 99"/>
          <p:cNvSpPr txBox="1"/>
          <p:nvPr/>
        </p:nvSpPr>
        <p:spPr>
          <a:xfrm>
            <a:off x="4316677" y="5745847"/>
            <a:ext cx="437501" cy="13125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70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Excel</a:t>
            </a:r>
          </a:p>
        </p:txBody>
      </p:sp>
      <p:pic>
        <p:nvPicPr>
          <p:cNvPr id="101" name="icon lucide:file" descr="image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404177" y="5920847"/>
            <a:ext cx="247917" cy="27708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4316677" y="6197931"/>
            <a:ext cx="437501" cy="16041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sz="850" b="1" i="0">
                <a:solidFill>
                  <a:srgbClr val="1F3F7A"/>
                </a:solidFill>
                <a:latin typeface="Meiryo"/>
                <a:ea typeface="Meiryo"/>
                <a:cs typeface="Meiryo"/>
              </a:rPr>
              <a:t>PDF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4863553" y="4900011"/>
            <a:ext cx="0" cy="1334378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863553" y="4907303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5060428" y="4819803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5162512" y="4819803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章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4863553" y="5128241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Rounded Rectangle 107"/>
          <p:cNvSpPr/>
          <p:nvPr/>
        </p:nvSpPr>
        <p:spPr>
          <a:xfrm>
            <a:off x="5060428" y="5040741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162512" y="5040741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節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4863553" y="5349179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Rounded Rectangle 110"/>
          <p:cNvSpPr/>
          <p:nvPr/>
        </p:nvSpPr>
        <p:spPr>
          <a:xfrm>
            <a:off x="5060428" y="5261679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162512" y="5261679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項番</a:t>
            </a:r>
          </a:p>
        </p:txBody>
      </p:sp>
      <p:cxnSp>
        <p:nvCxnSpPr>
          <p:cNvPr id="113" name="Connector 112"/>
          <p:cNvCxnSpPr/>
          <p:nvPr/>
        </p:nvCxnSpPr>
        <p:spPr>
          <a:xfrm>
            <a:off x="4863553" y="5570117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Rounded Rectangle 113"/>
          <p:cNvSpPr/>
          <p:nvPr/>
        </p:nvSpPr>
        <p:spPr>
          <a:xfrm>
            <a:off x="5060428" y="5482617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162512" y="5482617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表（行単位）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4863553" y="5791055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060428" y="5703555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162512" y="5703555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図・図面</a:t>
            </a:r>
          </a:p>
        </p:txBody>
      </p:sp>
      <p:cxnSp>
        <p:nvCxnSpPr>
          <p:cNvPr id="119" name="Connector 118"/>
          <p:cNvCxnSpPr/>
          <p:nvPr/>
        </p:nvCxnSpPr>
        <p:spPr>
          <a:xfrm>
            <a:off x="4863553" y="6011993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ounded Rectangle 119"/>
          <p:cNvSpPr/>
          <p:nvPr/>
        </p:nvSpPr>
        <p:spPr>
          <a:xfrm>
            <a:off x="5060428" y="5924493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5162512" y="5924493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1ページ</a:t>
            </a:r>
          </a:p>
        </p:txBody>
      </p:sp>
      <p:cxnSp>
        <p:nvCxnSpPr>
          <p:cNvPr id="122" name="Connector 121"/>
          <p:cNvCxnSpPr/>
          <p:nvPr/>
        </p:nvCxnSpPr>
        <p:spPr>
          <a:xfrm>
            <a:off x="4863553" y="6232931"/>
            <a:ext cx="167709" cy="0"/>
          </a:xfrm>
          <a:prstGeom prst="line">
            <a:avLst/>
          </a:prstGeom>
          <a:ln w="9479">
            <a:solidFill>
              <a:srgbClr val="5A7196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ounded Rectangle 122"/>
          <p:cNvSpPr/>
          <p:nvPr/>
        </p:nvSpPr>
        <p:spPr>
          <a:xfrm>
            <a:off x="5060428" y="6145431"/>
            <a:ext cx="656252" cy="175000"/>
          </a:xfrm>
          <a:prstGeom prst="roundRect">
            <a:avLst>
              <a:gd name="adj" fmla="val 8333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162512" y="6145431"/>
            <a:ext cx="554168" cy="1750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85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…</a:t>
            </a:r>
          </a:p>
        </p:txBody>
      </p:sp>
      <p:sp>
        <p:nvSpPr>
          <p:cNvPr id="125" name="Freeform 124"/>
          <p:cNvSpPr/>
          <p:nvPr/>
        </p:nvSpPr>
        <p:spPr>
          <a:xfrm>
            <a:off x="5731263" y="4943761"/>
            <a:ext cx="58334" cy="1254170"/>
          </a:xfrm>
          <a:custGeom>
            <a:avLst/>
            <a:gdLst/>
            <a:ahLst/>
            <a:cxnLst/>
            <a:rect l="l" t="t" r="r" b="b"/>
            <a:pathLst>
              <a:path w="58334" h="1254170">
                <a:moveTo>
                  <a:pt x="0" y="0"/>
                </a:moveTo>
                <a:lnTo>
                  <a:pt x="58334" y="29167"/>
                </a:lnTo>
                <a:lnTo>
                  <a:pt x="58334" y="1225003"/>
                </a:lnTo>
                <a:lnTo>
                  <a:pt x="0" y="1254170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6" name="Connector 125"/>
          <p:cNvCxnSpPr/>
          <p:nvPr/>
        </p:nvCxnSpPr>
        <p:spPr>
          <a:xfrm>
            <a:off x="5789597" y="5570846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ounded Rectangle 126"/>
          <p:cNvSpPr/>
          <p:nvPr/>
        </p:nvSpPr>
        <p:spPr>
          <a:xfrm>
            <a:off x="5891680" y="5206262"/>
            <a:ext cx="554168" cy="685418"/>
          </a:xfrm>
          <a:prstGeom prst="roundRect">
            <a:avLst>
              <a:gd name="adj" fmla="val 7894"/>
            </a:avLst>
          </a:prstGeom>
          <a:solidFill>
            <a:srgbClr val="2E5A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icon lucide:file-text" descr="image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022931" y="5264596"/>
            <a:ext cx="291667" cy="291667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5891680" y="5570846"/>
            <a:ext cx="554168" cy="291667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ctr">
              <a:lnSpc>
                <a:spcPts val="12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文書</a:t>
            </a:r>
          </a:p>
          <a:p>
            <a:pPr algn="ctr">
              <a:lnSpc>
                <a:spcPts val="1200"/>
              </a:lnSpc>
            </a:pPr>
            <a:r>
              <a:rPr sz="900" b="1" i="0">
                <a:solidFill>
                  <a:srgbClr val="FFFFFF"/>
                </a:solidFill>
                <a:latin typeface="Meiryo"/>
                <a:ea typeface="Meiryo"/>
                <a:cs typeface="Meiryo"/>
              </a:rPr>
              <a:t>検索単位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6475015" y="4739594"/>
            <a:ext cx="1487503" cy="1720837"/>
          </a:xfrm>
          <a:prstGeom prst="roundRect">
            <a:avLst>
              <a:gd name="adj" fmla="val 1960"/>
            </a:avLst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6547932" y="4754178"/>
            <a:ext cx="1429170" cy="1691671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algn="l" marL="116667" indent="-116667">
              <a:lnSpc>
                <a:spcPts val="125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章・節・項番の階層を保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持して分割</a:t>
            </a:r>
          </a:p>
          <a:p>
            <a:pPr algn="l" marL="116667" indent="-116667">
              <a:lnSpc>
                <a:spcPts val="125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表はヘッダと各行の関係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を保持</a:t>
            </a:r>
          </a:p>
          <a:p>
            <a:pPr algn="l" marL="116667" indent="-116667">
              <a:lnSpc>
                <a:spcPts val="125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Excelはシート・セル、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Wordは表番号、PDFは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ページを保持</a:t>
            </a:r>
          </a:p>
          <a:p>
            <a:pPr algn="l" marL="116667" indent="-116667">
              <a:lnSpc>
                <a:spcPts val="125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文書番号・REV・発効日・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取得元等を付与</a:t>
            </a:r>
          </a:p>
          <a:p>
            <a:pPr algn="l" marL="116667" indent="-116667">
              <a:lnSpc>
                <a:spcPts val="1250"/>
              </a:lnSpc>
              <a:buFont typeface="Arial"/>
              <a:buChar char="•"/>
            </a:pPr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「意味が通る文書チャンク」</a:t>
            </a:r>
            <a:br/>
            <a:r>
              <a:rPr sz="900" b="0" i="0">
                <a:solidFill>
                  <a:srgbClr val="1F2F4F"/>
                </a:solidFill>
                <a:latin typeface="Meiryo"/>
                <a:ea typeface="Meiryo"/>
                <a:cs typeface="Meiryo"/>
              </a:rPr>
              <a:t>を検索単位として作る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268769" y="1750004"/>
            <a:ext cx="3660425" cy="262501"/>
          </a:xfrm>
          <a:prstGeom prst="roundRect">
            <a:avLst>
              <a:gd name="adj" fmla="val 11111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85436" y="1750004"/>
            <a:ext cx="3500008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TOS検索単位（構造化データ）</a:t>
            </a:r>
          </a:p>
        </p:txBody>
      </p:sp>
      <p:pic>
        <p:nvPicPr>
          <p:cNvPr id="134" name="icon lucide:file-text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341686" y="2654173"/>
            <a:ext cx="612501" cy="612501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012521" y="2019796"/>
          <a:ext cx="2041671" cy="19337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2918"/>
                <a:gridCol w="1268753"/>
              </a:tblGrid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A12345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部品名称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ブラケット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材質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Ti合金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工程番号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LC001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工程名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バリ取り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作業内容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機械加工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WPS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W-55 Rev.C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図面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D-12345 Rev.C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上位組立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A320 001～050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変更日／理由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2025-06／治具変更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版・適用情報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REV B、001～050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元テーブル/PK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作業工程 (A,10)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9012521" y="3953551"/>
          <a:ext cx="2916673" cy="16114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2918"/>
                <a:gridCol w="2143755"/>
              </a:tblGrid>
              <a:tr h="161146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検索用テキスト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部品A ブラケット(SUS) の工程10…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37" name="Freeform 136"/>
          <p:cNvSpPr/>
          <p:nvPr/>
        </p:nvSpPr>
        <p:spPr>
          <a:xfrm>
            <a:off x="11083359" y="2085422"/>
            <a:ext cx="58334" cy="889585"/>
          </a:xfrm>
          <a:custGeom>
            <a:avLst/>
            <a:gdLst/>
            <a:ahLst/>
            <a:cxnLst/>
            <a:rect l="l" t="t" r="r" b="b"/>
            <a:pathLst>
              <a:path w="58334" h="889585">
                <a:moveTo>
                  <a:pt x="0" y="0"/>
                </a:moveTo>
                <a:lnTo>
                  <a:pt x="58334" y="29166"/>
                </a:lnTo>
                <a:lnTo>
                  <a:pt x="58334" y="860418"/>
                </a:lnTo>
                <a:lnTo>
                  <a:pt x="0" y="889585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1141693" y="2530214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/>
          <p:cNvSpPr txBox="1"/>
          <p:nvPr/>
        </p:nvSpPr>
        <p:spPr>
          <a:xfrm>
            <a:off x="11272943" y="2347922"/>
            <a:ext cx="802085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業務情報</a:t>
            </a:r>
          </a:p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（検索に使う）</a:t>
            </a:r>
          </a:p>
        </p:txBody>
      </p:sp>
      <p:sp>
        <p:nvSpPr>
          <p:cNvPr id="140" name="Freeform 139"/>
          <p:cNvSpPr/>
          <p:nvPr/>
        </p:nvSpPr>
        <p:spPr>
          <a:xfrm>
            <a:off x="11083359" y="3047924"/>
            <a:ext cx="58334" cy="816668"/>
          </a:xfrm>
          <a:custGeom>
            <a:avLst/>
            <a:gdLst/>
            <a:ahLst/>
            <a:cxnLst/>
            <a:rect l="l" t="t" r="r" b="b"/>
            <a:pathLst>
              <a:path w="58334" h="816668">
                <a:moveTo>
                  <a:pt x="0" y="0"/>
                </a:moveTo>
                <a:lnTo>
                  <a:pt x="58334" y="29166"/>
                </a:lnTo>
                <a:lnTo>
                  <a:pt x="58334" y="787502"/>
                </a:lnTo>
                <a:lnTo>
                  <a:pt x="0" y="816668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11141693" y="3456258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11272943" y="3339591"/>
            <a:ext cx="802085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根拠情報</a:t>
            </a:r>
          </a:p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（元データへ戻る）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8268769" y="4302093"/>
            <a:ext cx="3660425" cy="262501"/>
          </a:xfrm>
          <a:prstGeom prst="roundRect">
            <a:avLst>
              <a:gd name="adj" fmla="val 11111"/>
            </a:avLst>
          </a:prstGeom>
          <a:solidFill>
            <a:srgbClr val="E6EE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8385436" y="4302093"/>
            <a:ext cx="3500008" cy="262501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sz="11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文書検索単位（非構造化データ）</a:t>
            </a:r>
          </a:p>
        </p:txBody>
      </p:sp>
      <p:pic>
        <p:nvPicPr>
          <p:cNvPr id="145" name="icon lucide:file-text" descr="image.png"/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341686" y="5060428"/>
            <a:ext cx="612501" cy="612501"/>
          </a:xfrm>
          <a:prstGeom prst="rect">
            <a:avLst/>
          </a:prstGeom>
        </p:spPr>
      </p:pic>
      <p:graphicFrame>
        <p:nvGraphicFramePr>
          <p:cNvPr id="146" name="Table 145"/>
          <p:cNvGraphicFramePr>
            <a:graphicFrameLocks noGrp="1"/>
          </p:cNvGraphicFramePr>
          <p:nvPr/>
        </p:nvGraphicFramePr>
        <p:xfrm>
          <a:off x="9012521" y="4586469"/>
          <a:ext cx="2041671" cy="167709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2918"/>
                <a:gridCol w="1268753"/>
              </a:tblGrid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本文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作業手順として…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見出しパス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第3章 ＞3.2 ＞注意事項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文書番号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D-12345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REV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B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発効日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2024-06-01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ページ／項番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p.15 ／ 第3章 3.2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シート／セル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Sheet1 ／ B5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ファイルパス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/folder/…/作業手順書.pdf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抽出方式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章・節・項番で分割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抽出品質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正常（表構造保持）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147" name="Table 146"/>
          <p:cNvGraphicFramePr>
            <a:graphicFrameLocks noGrp="1"/>
          </p:cNvGraphicFramePr>
          <p:nvPr/>
        </p:nvGraphicFramePr>
        <p:xfrm>
          <a:off x="9012521" y="6263556"/>
          <a:ext cx="2916673" cy="167709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772918"/>
                <a:gridCol w="2143755"/>
              </a:tblGrid>
              <a:tr h="167709"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検索用テキスト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  <a:tc>
                  <a:txBody>
                    <a:bodyPr wrap="square" lIns="0" tIns="0" rIns="0" bIns="0" anchor="ctr">
                      <a:noAutofit/>
                    </a:bodyPr>
                    <a:lstStyle/>
                    <a:p>
                      <a:pPr algn="l"/>
                      <a:r>
                        <a:rPr sz="750" b="0" i="0">
                          <a:solidFill>
                            <a:srgbClr val="1F2F4F"/>
                          </a:solidFill>
                          <a:latin typeface="Meiryo"/>
                          <a:ea typeface="Meiryo"/>
                          <a:cs typeface="Meiryo"/>
                        </a:rPr>
                        <a:t>穴あけ加工時の注意事項…</a:t>
                      </a:r>
                    </a:p>
                  </a:txBody>
                  <a:tcPr marL="36458" marT="14583" marR="36458" marB="14583" anchor="ctr">
                    <a:lnB w="7292">
                      <a:solidFill>
                        <a:srgbClr val="DDE5EF"/>
                      </a:solidFill>
                    </a:lnB>
                    <a:lnT w="7292">
                      <a:solidFill>
                        <a:srgbClr val="DDE5EF"/>
                      </a:solidFill>
                    </a:lnT>
                    <a:lnR w="7292">
                      <a:solidFill>
                        <a:srgbClr val="DDE5EF"/>
                      </a:solidFill>
                    </a:lnR>
                    <a:lnL w="7292">
                      <a:solidFill>
                        <a:srgbClr val="DDE5EF"/>
                      </a:solidFill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148" name="Freeform 147"/>
          <p:cNvSpPr/>
          <p:nvPr/>
        </p:nvSpPr>
        <p:spPr>
          <a:xfrm>
            <a:off x="11097942" y="4622927"/>
            <a:ext cx="58334" cy="860419"/>
          </a:xfrm>
          <a:custGeom>
            <a:avLst/>
            <a:gdLst/>
            <a:ahLst/>
            <a:cxnLst/>
            <a:rect l="l" t="t" r="r" b="b"/>
            <a:pathLst>
              <a:path w="58334" h="860419">
                <a:moveTo>
                  <a:pt x="0" y="0"/>
                </a:moveTo>
                <a:lnTo>
                  <a:pt x="58334" y="29167"/>
                </a:lnTo>
                <a:lnTo>
                  <a:pt x="58334" y="831252"/>
                </a:lnTo>
                <a:lnTo>
                  <a:pt x="0" y="860419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>
            <a:off x="11156276" y="5053137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11272943" y="4885428"/>
            <a:ext cx="802085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業務情報</a:t>
            </a:r>
          </a:p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（検索に使う）</a:t>
            </a:r>
          </a:p>
        </p:txBody>
      </p:sp>
      <p:sp>
        <p:nvSpPr>
          <p:cNvPr id="151" name="Freeform 150"/>
          <p:cNvSpPr/>
          <p:nvPr/>
        </p:nvSpPr>
        <p:spPr>
          <a:xfrm>
            <a:off x="11097942" y="5614596"/>
            <a:ext cx="58334" cy="714585"/>
          </a:xfrm>
          <a:custGeom>
            <a:avLst/>
            <a:gdLst/>
            <a:ahLst/>
            <a:cxnLst/>
            <a:rect l="l" t="t" r="r" b="b"/>
            <a:pathLst>
              <a:path w="58334" h="714585">
                <a:moveTo>
                  <a:pt x="0" y="0"/>
                </a:moveTo>
                <a:lnTo>
                  <a:pt x="58334" y="29167"/>
                </a:lnTo>
                <a:lnTo>
                  <a:pt x="58334" y="685419"/>
                </a:lnTo>
                <a:lnTo>
                  <a:pt x="0" y="714585"/>
                </a:lnTo>
              </a:path>
            </a:pathLst>
          </a:custGeom>
          <a:noFill/>
          <a:ln w="10938">
            <a:solidFill>
              <a:srgbClr val="5A71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2" name="Connector 151"/>
          <p:cNvCxnSpPr/>
          <p:nvPr/>
        </p:nvCxnSpPr>
        <p:spPr>
          <a:xfrm>
            <a:off x="11156276" y="5971889"/>
            <a:ext cx="58333" cy="0"/>
          </a:xfrm>
          <a:prstGeom prst="line">
            <a:avLst/>
          </a:prstGeom>
          <a:ln w="10938">
            <a:solidFill>
              <a:srgbClr val="5A71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11272943" y="5833347"/>
            <a:ext cx="802085" cy="379168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sz="1050" b="1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根拠情報</a:t>
            </a:r>
          </a:p>
          <a:p>
            <a:pPr algn="l">
              <a:lnSpc>
                <a:spcPts val="1500"/>
              </a:lnSpc>
            </a:pPr>
            <a:r>
              <a:rPr sz="900" b="0" i="0">
                <a:solidFill>
                  <a:srgbClr val="1F3A6E"/>
                </a:solidFill>
                <a:latin typeface="Meiryo"/>
                <a:ea typeface="Meiryo"/>
                <a:cs typeface="Meiryo"/>
              </a:rPr>
              <a:t>（元文書へ戻る）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1666694" y="6606265"/>
            <a:ext cx="320834" cy="189584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r>
              <a:rPr sz="800" b="0" i="0">
                <a:solidFill>
                  <a:srgbClr val="6B7385"/>
                </a:solidFill>
                <a:latin typeface="Meiryo"/>
                <a:ea typeface="Meiryo"/>
                <a:cs typeface="Meiryo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
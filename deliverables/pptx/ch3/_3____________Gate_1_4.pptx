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43750"/>
            <a:ext cx="9479189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5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表3-2　不足情報リスト</a:t>
            </a:r>
            <a:r>
              <a:rPr sz="2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（現時点の定義にない／根拠が薄い項目）</a:t>
            </a:r>
          </a:p>
        </p:txBody>
      </p:sp>
      <p:graphicFrame>
        <p:nvGraphicFramePr>
          <p:cNvPr id="3" name="shortage-table"/>
          <p:cNvGraphicFramePr>
            <a:graphicFrameLocks noGrp="1"/>
          </p:cNvGraphicFramePr>
          <p:nvPr/>
        </p:nvGraphicFramePr>
        <p:xfrm>
          <a:off x="131250" y="525001"/>
          <a:ext cx="11936486" cy="583334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8964"/>
                <a:gridCol w="3332299"/>
                <a:gridCol w="3507300"/>
                <a:gridCol w="2697923"/>
              </a:tblGrid>
              <a:tr h="4812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不足情報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B65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影響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（何ができない／どのようなリスクがあるか）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B65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Gate 1で確認すること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（確認内容・論点）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B65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未確認時の扱い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（PoCでの方針）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02B65"/>
                    </a:solidFill>
                  </a:tcPr>
                </a:tc>
              </a:tr>
              <a:tr h="794794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REV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（改訂版）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最新版の特定ができず、古い工程・図面・WPS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を参照するリスクがある。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変更差分の追跡や類似検索の精度が低下する。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各テーブルでのREVの有無と定義・採番ルール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関連テーブル間のREVの紐付け方法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最新版の判定ロジック（最大値？有効日？ステータス？）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REVを前提とした絞り込みは</a:t>
                      </a:r>
                      <a:br/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行わない。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検索結果に版の情報を付与できない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旨を明示し、要確認として扱う。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  <a:tr h="831252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ED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（設計変更）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設計変更の反映状況が分からず、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適用外のデータを提示する可能性がある。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変更影響の分析（過去→現行）ができない。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EDの項目有無、管理テーブル・採番ルール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対象データ（部品／工程／図面／WPS等）との紐付け方法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有効期間・適用範囲との関係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EDを考慮したフィルタリングは</a:t>
                      </a:r>
                      <a:br/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行わない。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該当有無は不明として、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結果に注意書きを付与する。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  <a:tr h="845835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適用単位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（機体・型式・号機など）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データの適用範囲が不明で、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特定機体・型式向けかの判断ができない。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類似工程の検索時に誤った候補を提示する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リスクがある。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適用単位の項目有無（機体／型式／号機／ブロック等）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管理テーブル・コード体系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工程・図面・WPSとの紐付け方法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適用範囲の優先順位・判定ロジック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適用単位による絞り込みは行わない。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適用範囲は不明として、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結果に注意書きを付与する。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  <a:tr h="729168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文書の有効日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（発行日・有効開始／終了日）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文書が現行有効か判断できず、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失効した図面・WPS・SPECを参照する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可能性がある。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各文書の有効日項目の有無・定義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有効開始日・終了日の管理方法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日付に基づく検索・フィルタの可否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有効日を考慮した絞り込みは行わない。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文書の有効性は不明として、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結果に注意書きを付与する。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  <a:tr h="794794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文書のステータス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（作成中・承認・発行・廃止等）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承認前や廃止済みの文書を提示する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リスクがある。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業務で使用できないドキュメントを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参照する可能性がある。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ステータスの項目有無・ステータス区分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承認フローとの関係（承認者・承認日等）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ステータスによる検索・フィルタ条件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ステータスによる絞り込みは行わない。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文書の状態は不明として、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結果に注意書きを付与する。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  <a:tr h="627085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正本ソース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（正本データの所在）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どのシステム／テーブルの情報を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正とするか不明で、データの不整合や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重複が発生する。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各項目の正本ソース（テーブル・システム）の特定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同一情報の重複管理の有無と優先順位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マスタとトランザクションの役割分担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正本の断定は行わない。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複数ソースが存在する場合は、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出典を併記し、要確認として扱う。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  <a:tr h="729168">
                <a:tc>
                  <a:txBody>
                    <a:bodyPr wrap="square" lIns="685418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更新条件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7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（データ更新のタイミング・ルール）</a:t>
                      </a:r>
                    </a:p>
                  </a:txBody>
                  <a:tcPr marL="685418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9F5FD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データの鮮度が不明で、最新情報を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反映できない可能性がある。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更新差分の取り込みタイミングを誤ると、</a:t>
                      </a:r>
                      <a:br/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検索結果の信頼性が低下する。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31250" tIns="14583" rIns="29167" bIns="14583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各テーブルの更新頻度・トリガー条件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バッチ更新／リアルタイム更新の別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更新履歴の取得可否</a:t>
                      </a:r>
                    </a:p>
                    <a:p>
                      <a:pPr algn="l" marL="145834" indent="-145834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PoC期間中のデータ更新の扱い</a:t>
                      </a:r>
                    </a:p>
                  </a:txBody>
                  <a:tcPr marL="13125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2041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1" i="0">
                          <a:solidFill>
                            <a:srgbClr val="D82030"/>
                          </a:solidFill>
                          <a:latin typeface="Meiryo"/>
                          <a:ea typeface="Meiryo"/>
                          <a:cs typeface="Meiryo"/>
                        </a:rPr>
                        <a:t>更新の前提は置かない。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取得時点のデータでの検索に限定し、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鮮度に関する注意書きを付与する。</a:t>
                      </a:r>
                    </a:p>
                  </a:txBody>
                  <a:tcPr marL="204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F1FC"/>
                    </a:solidFill>
                  </a:tcPr>
                </a:tc>
              </a:tr>
            </a:tbl>
          </a:graphicData>
        </a:graphic>
      </p:graphicFrame>
      <p:pic>
        <p:nvPicPr>
          <p:cNvPr id="4" name="icon lucide:file-text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084" y="1199482"/>
            <a:ext cx="408334" cy="4083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8334" y="1432816"/>
            <a:ext cx="277084" cy="145834"/>
          </a:xfrm>
          <a:prstGeom prst="roundRect">
            <a:avLst>
              <a:gd name="adj" fmla="val 45000"/>
            </a:avLst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REV</a:t>
            </a:r>
          </a:p>
        </p:txBody>
      </p:sp>
      <p:pic>
        <p:nvPicPr>
          <p:cNvPr id="6" name="icon lucide:fil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084" y="2012505"/>
            <a:ext cx="408334" cy="408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7084" y="2129172"/>
            <a:ext cx="408334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ED</a:t>
            </a:r>
          </a:p>
        </p:txBody>
      </p:sp>
      <p:pic>
        <p:nvPicPr>
          <p:cNvPr id="8" name="icon material:flight-fill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084" y="2851048"/>
            <a:ext cx="408334" cy="408334"/>
          </a:xfrm>
          <a:prstGeom prst="rect">
            <a:avLst/>
          </a:prstGeom>
        </p:spPr>
      </p:pic>
      <p:pic>
        <p:nvPicPr>
          <p:cNvPr id="9" name="icon lucide:calendar-days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7084" y="3638550"/>
            <a:ext cx="408334" cy="408334"/>
          </a:xfrm>
          <a:prstGeom prst="rect">
            <a:avLst/>
          </a:prstGeom>
        </p:spPr>
      </p:pic>
      <p:pic>
        <p:nvPicPr>
          <p:cNvPr id="10" name="icon lucide:file-search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7084" y="4400531"/>
            <a:ext cx="408334" cy="408334"/>
          </a:xfrm>
          <a:prstGeom prst="rect">
            <a:avLst/>
          </a:prstGeom>
        </p:spPr>
      </p:pic>
      <p:pic>
        <p:nvPicPr>
          <p:cNvPr id="11" name="icon material:database-fill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084" y="5111470"/>
            <a:ext cx="408334" cy="408334"/>
          </a:xfrm>
          <a:prstGeom prst="rect">
            <a:avLst/>
          </a:prstGeom>
        </p:spPr>
      </p:pic>
      <p:pic>
        <p:nvPicPr>
          <p:cNvPr id="12" name="icon lucide:refresh-cw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7084" y="5789597"/>
            <a:ext cx="408334" cy="4083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31250" y="6409390"/>
            <a:ext cx="11936486" cy="422918"/>
          </a:xfrm>
          <a:prstGeom prst="roundRect">
            <a:avLst>
              <a:gd name="adj" fmla="val 10344"/>
            </a:avLst>
          </a:prstGeom>
          <a:solidFill>
            <a:srgbClr val="FDEEF1"/>
          </a:solidFill>
          <a:ln w="10938">
            <a:solidFill>
              <a:srgbClr val="E05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material:error-fill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8751" y="6416682"/>
            <a:ext cx="408334" cy="4083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2085" y="6423973"/>
            <a:ext cx="11156276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10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上記項目が未確認の場合、検索結果について版・適用範囲・有効性等を断定せず、「要確認」として扱う。</a:t>
            </a:r>
          </a:p>
          <a:p>
            <a:pPr algn="l">
              <a:lnSpc>
                <a:spcPts val="1500"/>
              </a:lnSpc>
            </a:pPr>
            <a:r>
              <a:rPr sz="110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Gate 1にて必要な項目の有無・テーブル定義・取得方法を確認し、TOS検索単位および文書チャンクの構築方針を確定する。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
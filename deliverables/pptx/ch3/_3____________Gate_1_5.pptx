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con_svg6.svg"/><Relationship Id="rId13" Type="http://schemas.openxmlformats.org/officeDocument/2006/relationships/image" Target="../media/image6.png"/><Relationship Id="rId14" Type="http://schemas.openxmlformats.org/officeDocument/2006/relationships/image" Target="../media/icon_svg7.svg"/><Relationship Id="rId15" Type="http://schemas.openxmlformats.org/officeDocument/2006/relationships/image" Target="../media/image7.png"/><Relationship Id="rId16" Type="http://schemas.openxmlformats.org/officeDocument/2006/relationships/image" Target="../media/icon_svg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43750"/>
            <a:ext cx="9479189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表3-3　Gate 1 診断項目 × 確認方法 × 成果物 × 判定</a:t>
            </a:r>
          </a:p>
        </p:txBody>
      </p:sp>
      <p:graphicFrame>
        <p:nvGraphicFramePr>
          <p:cNvPr id="3" name="gate1-table"/>
          <p:cNvGraphicFramePr>
            <a:graphicFrameLocks noGrp="1"/>
          </p:cNvGraphicFramePr>
          <p:nvPr/>
        </p:nvGraphicFramePr>
        <p:xfrm>
          <a:off x="131250" y="539585"/>
          <a:ext cx="11936486" cy="58187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7501"/>
                <a:gridCol w="2209380"/>
                <a:gridCol w="2661465"/>
                <a:gridCol w="2165630"/>
                <a:gridCol w="1903129"/>
                <a:gridCol w="2559381"/>
              </a:tblGrid>
              <a:tr h="4666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診断項目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（確認内容）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確認方法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（サンプル確認・分析方法）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成果物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（Gate 1での提出物）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判定基準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判定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（成立／条件付き／不成立）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5306E"/>
                    </a:solidFill>
                  </a:tcPr>
                </a:tc>
              </a:tr>
              <a:tr h="70729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12テーブルの基本情報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7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（件数・NULL率・PK/結合キー）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各テーブルの件数、NULL率、データ型を取得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PK/結合キーの定義を確認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サンプルデータで内容を確認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テーブル別データプロファイル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（件数・NULL率・主要項目）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PK/結合キー一覧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全12テーブルの情報が取得できる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PK/結合キーが特定できる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75833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JOIN到達率とキー一意性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（テーブル間の関連性）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定義に基づくJOINを実行し到達率を測定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キーの一意性（重複の有無）を確認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サンプル部品でエンドツーエンドの結合確認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テーブル結合図（ER図の実データ検証）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JOIN到達率レポート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キー一意性チェック結果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主要なテーブル結合が可能（例：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部品→作業工程→WPS→文書）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キーの一意性が確保されている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97708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REV・ED・適用情報の有無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（定義・取得方法・根拠）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各テーブルの項目にREV・ED・適用号機等の</a:t>
                      </a:r>
                      <a:br/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情報があるか確認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情報の意味・採番ルール・更新ルールをヒアリング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サンプルデータで実在性を確認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REV・ED・適用情報 一覧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取得方法・項目定義書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サンプルデータ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REV・ED・適用情報の有無と意味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が明確である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業務で利用可能な根拠がある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75104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過去版本文の取得可否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（版管理・履歴の参照）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過去版の文書・WPS等が取得できるか確認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版の履歴・格納場所・アクセス方法を調査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サンプルで複数版の取得を検証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過去版取得検証結果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版管理の仕組み整理資料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過去版の本文が取得できる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版の対応関係が特定できる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78021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工程名と工程タイトルの対応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（マスタ一致性）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作業工程の工程名とロードセンターの工程</a:t>
                      </a:r>
                      <a:br/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タイトルの対応関係を確認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コード→名称変換のルールを検証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サンプルで不一致データの有無を確認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工程名－工程タイトル 対応表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コード変換ルール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不一致データの一覧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工程名と工程タイトルの対応が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明確である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コード→名称変換が可能である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70000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文書ファイルパス実体と</a:t>
                      </a:r>
                      <a:br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抽出精度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7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（図面・WPS・SPEC 等）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ファイルパスの実体（ファイルの存在）を確認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ファイルの種別・リビジョン・ステータスを確認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抽出処理の精度をサンプルで検証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ファイルパス検証結果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文書メタデータ抽出精度レポート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アクセス可否一覧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ファイルが実在しアクセス可能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タイトル・リビジョン等の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メタデータが正しく抽出できる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  <a:tr h="67812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4EDF2"/>
                    </a:solidFill>
                  </a:tcPr>
                </a:tc>
                <a:tc>
                  <a:txBody>
                    <a:bodyPr wrap="square" lIns="583335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4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代表質問の期待候補・</a:t>
                      </a:r>
                      <a:br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必要根拠の存在</a:t>
                      </a:r>
                    </a:p>
                    <a:p>
                      <a:pPr algn="l">
                        <a:lnSpc>
                          <a:spcPts val="140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（検索成立性の確認）</a:t>
                      </a:r>
                    </a:p>
                  </a:txBody>
                  <a:tcPr marL="583335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EF5FA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代表質問（例：部品Aの工程10、WPS番号、</a:t>
                      </a:r>
                      <a:br/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図面番号 等）を実際に実行</a:t>
                      </a:r>
                    </a:p>
                    <a:p>
                      <a:pPr algn="l" marL="131250" indent="-131250">
                        <a:lnSpc>
                          <a:spcPts val="1300"/>
                        </a:lnSpc>
                        <a:buFont typeface="Arial"/>
                        <a:buChar char="•"/>
                      </a:pPr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期待される候補と必要な根拠情報の取得可否</a:t>
                      </a:r>
                      <a:br/>
                      <a:r>
                        <a:rPr sz="80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を確認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代表質問の実行結果一覧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候補データと根拠情報の取得状況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検索成立性の評価レポート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87500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想定する候補が取得できる</a:t>
                      </a:r>
                    </a:p>
                    <a:p>
                      <a:pPr algn="l" marL="131250" indent="-131250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必要な根拠情報（作業内容・版・</a:t>
                      </a:r>
                      <a:br/>
                      <a:r>
                        <a:rPr sz="750" b="0" i="0">
                          <a:solidFill>
                            <a:srgbClr val="1E2440"/>
                          </a:solidFill>
                          <a:latin typeface="Meiryo"/>
                          <a:ea typeface="Meiryo"/>
                          <a:cs typeface="Meiryo"/>
                        </a:rPr>
                        <a:t>文書リンク等）が揃っている</a:t>
                      </a:r>
                    </a:p>
                  </a:txBody>
                  <a:tcPr marL="87500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BF3F8"/>
                    </a:solidFill>
                  </a:tcPr>
                </a:tc>
              </a:tr>
            </a:tbl>
          </a:graphicData>
        </a:graphic>
      </p:graphicFrame>
      <p:pic>
        <p:nvPicPr>
          <p:cNvPr id="4" name="icon material:database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68" y="1155732"/>
            <a:ext cx="408334" cy="408334"/>
          </a:xfrm>
          <a:prstGeom prst="rect">
            <a:avLst/>
          </a:prstGeom>
        </p:spPr>
      </p:pic>
      <p:pic>
        <p:nvPicPr>
          <p:cNvPr id="5" name="icon lucide:network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668" y="1888546"/>
            <a:ext cx="408334" cy="408334"/>
          </a:xfrm>
          <a:prstGeom prst="rect">
            <a:avLst/>
          </a:prstGeom>
        </p:spPr>
      </p:pic>
      <p:pic>
        <p:nvPicPr>
          <p:cNvPr id="6" name="icon lucide:file-tex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668" y="2756256"/>
            <a:ext cx="408334" cy="4083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335" y="2989590"/>
            <a:ext cx="291667" cy="145834"/>
          </a:xfrm>
          <a:prstGeom prst="roundRect">
            <a:avLst>
              <a:gd name="adj" fmla="val 45000"/>
            </a:avLst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REV</a:t>
            </a:r>
          </a:p>
        </p:txBody>
      </p:sp>
      <p:pic>
        <p:nvPicPr>
          <p:cNvPr id="8" name="icon lucide:copy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668" y="3620321"/>
            <a:ext cx="408334" cy="408334"/>
          </a:xfrm>
          <a:prstGeom prst="rect">
            <a:avLst/>
          </a:prstGeom>
        </p:spPr>
      </p:pic>
      <p:pic>
        <p:nvPicPr>
          <p:cNvPr id="9" name="icon material:settings-fill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668" y="4385948"/>
            <a:ext cx="408334" cy="408334"/>
          </a:xfrm>
          <a:prstGeom prst="rect">
            <a:avLst/>
          </a:prstGeom>
        </p:spPr>
      </p:pic>
      <p:pic>
        <p:nvPicPr>
          <p:cNvPr id="10" name="icon lucide:file-tex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668" y="5126054"/>
            <a:ext cx="408334" cy="408334"/>
          </a:xfrm>
          <a:prstGeom prst="rect">
            <a:avLst/>
          </a:prstGeom>
        </p:spPr>
      </p:pic>
      <p:pic>
        <p:nvPicPr>
          <p:cNvPr id="11" name="icon lucide:search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668" y="5815118"/>
            <a:ext cx="408334" cy="40833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581272" y="1053138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2524" y="1045846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全項目を確認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81272" y="1272399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2524" y="1265107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一部不明だが代替可能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81272" y="1491660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2524" y="1484368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主要テーブルが取得不可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1272" y="1770129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2524" y="1762837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想定通り結合可能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1272" y="2005213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2524" y="1997921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一部結合不可（代替案あり）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1272" y="2240297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2524" y="2233005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主要な結合ができない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81272" y="2530214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2524" y="2522923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情報あり・業務利用可能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81272" y="2763548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12524" y="2756256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一部情報のみ（代替案あり）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1272" y="3011465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2524" y="2996882"/>
            <a:ext cx="1633337" cy="4520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情報なし</a:t>
            </a:r>
          </a:p>
          <a:p>
            <a:pPr algn="l">
              <a:lnSpc>
                <a:spcPts val="1150"/>
              </a:lnSpc>
            </a:pPr>
            <a:r>
              <a:rPr sz="90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→ F-09/12.2 評価不可</a:t>
            </a:r>
          </a:p>
          <a:p>
            <a:pPr algn="l">
              <a:lnSpc>
                <a:spcPts val="1150"/>
              </a:lnSpc>
            </a:pPr>
            <a:r>
              <a:rPr sz="90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（範囲縮小・中止協議）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81272" y="3504164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524" y="3496873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過去版を取得可能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1272" y="3736988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2524" y="3729696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一部のみ取得可能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1272" y="3969811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2524" y="3962520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過去版が取得できない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81272" y="4260749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2524" y="4253458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対応関係が明確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81272" y="4502615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2524" y="4495323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一部不一致（対応ルールあり）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81272" y="4744480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2524" y="4737188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対応関係が不明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81272" y="5025720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12524" y="5018428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実在・抽出精度良好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81272" y="5242721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12524" y="5235429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一部欠損（影響限定的）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81272" y="5459721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2524" y="5452429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ファイル未存在が多い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81272" y="5721565"/>
            <a:ext cx="700002" cy="182292"/>
          </a:xfrm>
          <a:prstGeom prst="rect">
            <a:avLst/>
          </a:prstGeom>
          <a:solidFill>
            <a:srgbClr val="61B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12524" y="5714274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主要な質問で取得可能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81272" y="5931785"/>
            <a:ext cx="700002" cy="182292"/>
          </a:xfrm>
          <a:prstGeom prst="rect">
            <a:avLst/>
          </a:prstGeom>
          <a:solidFill>
            <a:srgbClr val="F9D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3A2E00"/>
                </a:solidFill>
                <a:latin typeface="Meiryo"/>
                <a:ea typeface="Meiryo"/>
                <a:cs typeface="Meiryo"/>
              </a:rPr>
              <a:t>条件付き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2524" y="5924493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一部質問で不足（代替案あり）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1272" y="6142004"/>
            <a:ext cx="700002" cy="182292"/>
          </a:xfrm>
          <a:prstGeom prst="rect">
            <a:avLst/>
          </a:prstGeom>
          <a:solidFill>
            <a:srgbClr val="FC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C0303A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12524" y="6134712"/>
            <a:ext cx="1633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E2440"/>
                </a:solidFill>
                <a:latin typeface="Meiryo"/>
                <a:ea typeface="Meiryo"/>
                <a:cs typeface="Meiryo"/>
              </a:rPr>
              <a:t>候補・根拠が取得できない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250" y="6394807"/>
            <a:ext cx="11936486" cy="437501"/>
          </a:xfrm>
          <a:prstGeom prst="roundRect">
            <a:avLst>
              <a:gd name="adj" fmla="val 10000"/>
            </a:avLst>
          </a:prstGeom>
          <a:solidFill>
            <a:srgbClr val="FDEEF1"/>
          </a:solidFill>
          <a:ln w="10938">
            <a:solidFill>
              <a:srgbClr val="E05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icon material:error-fill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8751" y="6409390"/>
            <a:ext cx="422918" cy="42291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0419" y="6409390"/>
            <a:ext cx="11156276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REV・ED・適用情報が確認できない場合、要求仕様の F-09（版・適用の追跡）および 12.2（適用範囲を考慮した検索・提示）を評価できないため、</a:t>
            </a:r>
          </a:p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D82030"/>
                </a:solidFill>
                <a:latin typeface="Meiryo"/>
                <a:ea typeface="Meiryo"/>
                <a:cs typeface="Meiryo"/>
              </a:rPr>
              <a:t>PoC の範囲縮小または中止について協議する。その他の項目も、不成立の場合は代替案の検討または範囲の見直しを行う。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
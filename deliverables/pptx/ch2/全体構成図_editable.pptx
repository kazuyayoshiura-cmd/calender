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10.svg" ContentType="image/svg+xml"/>
  <Override PartName="/ppt/media/icon_svg11.svg" ContentType="image/svg+xml"/>
  <Override PartName="/ppt/media/icon_svg12.svg" ContentType="image/svg+xml"/>
  <Override PartName="/ppt/media/icon_svg13.svg" ContentType="image/svg+xml"/>
  <Override PartName="/ppt/media/icon_svg14.svg" ContentType="image/svg+xml"/>
  <Override PartName="/ppt/media/icon_svg15.svg" ContentType="image/svg+xml"/>
  <Override PartName="/ppt/media/icon_svg16.svg" ContentType="image/svg+xml"/>
  <Override PartName="/ppt/media/icon_svg17.svg" ContentType="image/svg+xml"/>
  <Override PartName="/ppt/media/icon_svg18.svg" ContentType="image/svg+xml"/>
  <Override PartName="/ppt/media/icon_svg19.svg" ContentType="image/svg+xml"/>
  <Override PartName="/ppt/media/icon_svg2.svg" ContentType="image/svg+xml"/>
  <Override PartName="/ppt/media/icon_svg20.svg" ContentType="image/svg+xml"/>
  <Override PartName="/ppt/media/icon_svg21.svg" ContentType="image/svg+xml"/>
  <Override PartName="/ppt/media/icon_svg22.svg" ContentType="image/svg+xml"/>
  <Override PartName="/ppt/media/icon_svg23.svg" ContentType="image/svg+xml"/>
  <Override PartName="/ppt/media/icon_svg24.svg" ContentType="image/svg+xml"/>
  <Override PartName="/ppt/media/icon_svg25.svg" ContentType="image/svg+xml"/>
  <Override PartName="/ppt/media/icon_svg26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media/icon_svg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mage3.png"/><Relationship Id="rId7" Type="http://schemas.openxmlformats.org/officeDocument/2006/relationships/image" Target="../media/icon_svg3.svg"/><Relationship Id="rId8" Type="http://schemas.openxmlformats.org/officeDocument/2006/relationships/image" Target="../media/image4.png"/><Relationship Id="rId9" Type="http://schemas.openxmlformats.org/officeDocument/2006/relationships/image" Target="../media/icon_svg4.svg"/><Relationship Id="rId10" Type="http://schemas.openxmlformats.org/officeDocument/2006/relationships/image" Target="../media/image5.png"/><Relationship Id="rId11" Type="http://schemas.openxmlformats.org/officeDocument/2006/relationships/image" Target="../media/icon_svg5.svg"/><Relationship Id="rId12" Type="http://schemas.openxmlformats.org/officeDocument/2006/relationships/image" Target="../media/image6.png"/><Relationship Id="rId13" Type="http://schemas.openxmlformats.org/officeDocument/2006/relationships/image" Target="../media/icon_svg6.svg"/><Relationship Id="rId14" Type="http://schemas.openxmlformats.org/officeDocument/2006/relationships/image" Target="../media/image7.png"/><Relationship Id="rId15" Type="http://schemas.openxmlformats.org/officeDocument/2006/relationships/image" Target="../media/icon_svg7.svg"/><Relationship Id="rId16" Type="http://schemas.openxmlformats.org/officeDocument/2006/relationships/image" Target="../media/icon_svg8.svg"/><Relationship Id="rId17" Type="http://schemas.openxmlformats.org/officeDocument/2006/relationships/image" Target="../media/image8.png"/><Relationship Id="rId18" Type="http://schemas.openxmlformats.org/officeDocument/2006/relationships/image" Target="../media/icon_svg9.svg"/><Relationship Id="rId19" Type="http://schemas.openxmlformats.org/officeDocument/2006/relationships/image" Target="../media/image9.png"/><Relationship Id="rId20" Type="http://schemas.openxmlformats.org/officeDocument/2006/relationships/image" Target="../media/icon_svg10.svg"/><Relationship Id="rId21" Type="http://schemas.openxmlformats.org/officeDocument/2006/relationships/image" Target="../media/image10.png"/><Relationship Id="rId22" Type="http://schemas.openxmlformats.org/officeDocument/2006/relationships/image" Target="../media/icon_svg11.svg"/><Relationship Id="rId23" Type="http://schemas.openxmlformats.org/officeDocument/2006/relationships/image" Target="../media/image11.png"/><Relationship Id="rId24" Type="http://schemas.openxmlformats.org/officeDocument/2006/relationships/image" Target="../media/icon_svg12.svg"/><Relationship Id="rId25" Type="http://schemas.openxmlformats.org/officeDocument/2006/relationships/image" Target="../media/image12.png"/><Relationship Id="rId26" Type="http://schemas.openxmlformats.org/officeDocument/2006/relationships/image" Target="../media/icon_svg13.svg"/><Relationship Id="rId27" Type="http://schemas.openxmlformats.org/officeDocument/2006/relationships/image" Target="../media/icon_svg14.svg"/><Relationship Id="rId28" Type="http://schemas.openxmlformats.org/officeDocument/2006/relationships/image" Target="../media/image13.png"/><Relationship Id="rId29" Type="http://schemas.openxmlformats.org/officeDocument/2006/relationships/image" Target="../media/icon_svg15.svg"/><Relationship Id="rId30" Type="http://schemas.openxmlformats.org/officeDocument/2006/relationships/image" Target="../media/image14.png"/><Relationship Id="rId31" Type="http://schemas.openxmlformats.org/officeDocument/2006/relationships/image" Target="../media/icon_svg16.svg"/><Relationship Id="rId32" Type="http://schemas.openxmlformats.org/officeDocument/2006/relationships/image" Target="../media/image15.png"/><Relationship Id="rId33" Type="http://schemas.openxmlformats.org/officeDocument/2006/relationships/image" Target="../media/icon_svg17.svg"/><Relationship Id="rId34" Type="http://schemas.openxmlformats.org/officeDocument/2006/relationships/image" Target="../media/image16.png"/><Relationship Id="rId35" Type="http://schemas.openxmlformats.org/officeDocument/2006/relationships/image" Target="../media/icon_svg18.svg"/><Relationship Id="rId36" Type="http://schemas.openxmlformats.org/officeDocument/2006/relationships/image" Target="../media/image17.png"/><Relationship Id="rId37" Type="http://schemas.openxmlformats.org/officeDocument/2006/relationships/image" Target="../media/icon_svg19.svg"/><Relationship Id="rId38" Type="http://schemas.openxmlformats.org/officeDocument/2006/relationships/image" Target="../media/image18.png"/><Relationship Id="rId39" Type="http://schemas.openxmlformats.org/officeDocument/2006/relationships/image" Target="../media/icon_svg20.svg"/><Relationship Id="rId40" Type="http://schemas.openxmlformats.org/officeDocument/2006/relationships/image" Target="../media/image19.png"/><Relationship Id="rId41" Type="http://schemas.openxmlformats.org/officeDocument/2006/relationships/image" Target="../media/icon_svg21.svg"/><Relationship Id="rId42" Type="http://schemas.openxmlformats.org/officeDocument/2006/relationships/image" Target="../media/image20.png"/><Relationship Id="rId43" Type="http://schemas.openxmlformats.org/officeDocument/2006/relationships/image" Target="../media/icon_svg22.svg"/><Relationship Id="rId44" Type="http://schemas.openxmlformats.org/officeDocument/2006/relationships/image" Target="../media/image21.png"/><Relationship Id="rId45" Type="http://schemas.openxmlformats.org/officeDocument/2006/relationships/image" Target="../media/icon_svg23.svg"/><Relationship Id="rId46" Type="http://schemas.openxmlformats.org/officeDocument/2006/relationships/image" Target="../media/image22.png"/><Relationship Id="rId47" Type="http://schemas.openxmlformats.org/officeDocument/2006/relationships/image" Target="../media/icon_svg24.svg"/><Relationship Id="rId48" Type="http://schemas.openxmlformats.org/officeDocument/2006/relationships/image" Target="../media/image23.png"/><Relationship Id="rId49" Type="http://schemas.openxmlformats.org/officeDocument/2006/relationships/image" Target="../media/icon_svg25.svg"/><Relationship Id="rId50" Type="http://schemas.openxmlformats.org/officeDocument/2006/relationships/image" Target="../media/image24.png"/><Relationship Id="rId51" Type="http://schemas.openxmlformats.org/officeDocument/2006/relationships/image" Target="../media/icon_svg26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apter-band"/>
          <p:cNvSpPr/>
          <p:nvPr/>
        </p:nvSpPr>
        <p:spPr>
          <a:xfrm>
            <a:off x="0" y="0"/>
            <a:ext cx="12191695" cy="269792"/>
          </a:xfrm>
          <a:prstGeom prst="rect">
            <a:avLst/>
          </a:prstGeom>
          <a:gradFill rotWithShape="1">
            <a:gsLst>
              <a:gs pos="0">
                <a:srgbClr val="D3E5F6"/>
              </a:gs>
              <a:gs pos="100000">
                <a:srgbClr val="EEF5FB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5000" cy="269792"/>
          </a:xfrm>
          <a:prstGeom prst="rect">
            <a:avLst/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7084" y="21875"/>
            <a:ext cx="4666678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D3A64"/>
                </a:solidFill>
                <a:latin typeface="Meiryo"/>
                <a:ea typeface="Meiryo"/>
                <a:cs typeface="Meiryo"/>
              </a:rPr>
              <a:t>第2章 ｜ 全体/ユースケースごとのアーキテクチャ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62501" y="320834"/>
            <a:ext cx="3208341" cy="4229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750" b="1" i="0">
                <a:solidFill>
                  <a:srgbClr val="0B1F4F"/>
                </a:solidFill>
                <a:latin typeface="Meiryo"/>
                <a:ea typeface="Meiryo"/>
                <a:cs typeface="Meiryo"/>
              </a:rPr>
              <a:t>図2-1 全体構成図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1459" y="823960"/>
            <a:ext cx="1378128" cy="539585"/>
          </a:xfrm>
          <a:prstGeom prst="roundRect">
            <a:avLst>
              <a:gd name="adj" fmla="val 13513"/>
            </a:avLst>
          </a:prstGeom>
          <a:solidFill>
            <a:srgbClr val="F4F9FD"/>
          </a:solidFill>
          <a:ln w="14583">
            <a:solidFill>
              <a:srgbClr val="6A87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01" y="933336"/>
            <a:ext cx="306251" cy="3208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8751" y="875002"/>
            <a:ext cx="991669" cy="437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生産技術部員</a:t>
            </a:r>
          </a:p>
          <a:p>
            <a:pPr algn="ctr"/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（ブラウザ）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18754" y="1093753"/>
            <a:ext cx="218750" cy="0"/>
          </a:xfrm>
          <a:prstGeom prst="line">
            <a:avLst/>
          </a:prstGeom>
          <a:ln w="36458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-1"/>
          <p:cNvSpPr/>
          <p:nvPr/>
        </p:nvSpPr>
        <p:spPr>
          <a:xfrm>
            <a:off x="1691671" y="802085"/>
            <a:ext cx="1203128" cy="583335"/>
          </a:xfrm>
          <a:prstGeom prst="homePlate">
            <a:avLst>
              <a:gd name="adj" fmla="val 31250"/>
            </a:avLst>
          </a:prstGeom>
          <a:gradFill rotWithShape="1">
            <a:gsLst>
              <a:gs pos="0">
                <a:srgbClr val="D2E6F8"/>
              </a:gs>
              <a:gs pos="100000">
                <a:srgbClr val="E8F2FC"/>
              </a:gs>
            </a:gsLst>
            <a:lin scaled="0" ang="0"/>
          </a:gra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60417" tIns="0" rIns="72917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Dify UI</a:t>
            </a:r>
          </a:p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ワークフロー</a:t>
            </a:r>
          </a:p>
        </p:txBody>
      </p:sp>
      <p:sp>
        <p:nvSpPr>
          <p:cNvPr id="11" name="flow-2"/>
          <p:cNvSpPr/>
          <p:nvPr/>
        </p:nvSpPr>
        <p:spPr>
          <a:xfrm>
            <a:off x="2712506" y="802085"/>
            <a:ext cx="1297920" cy="583335"/>
          </a:xfrm>
          <a:prstGeom prst="chevron">
            <a:avLst>
              <a:gd name="adj" fmla="val 31250"/>
            </a:avLst>
          </a:prstGeom>
          <a:gradFill rotWithShape="1">
            <a:gsLst>
              <a:gs pos="0">
                <a:srgbClr val="D2E6F8"/>
              </a:gs>
              <a:gs pos="100000">
                <a:srgbClr val="E8F2FC"/>
              </a:gs>
            </a:gsLst>
            <a:lin scaled="0" ang="0"/>
          </a:gra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60417" tIns="0" rIns="72917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質問解釈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（LLM抽出＋検証）</a:t>
            </a:r>
          </a:p>
        </p:txBody>
      </p:sp>
      <p:sp>
        <p:nvSpPr>
          <p:cNvPr id="12" name="flow-3"/>
          <p:cNvSpPr/>
          <p:nvPr/>
        </p:nvSpPr>
        <p:spPr>
          <a:xfrm>
            <a:off x="3828134" y="802085"/>
            <a:ext cx="1166669" cy="583335"/>
          </a:xfrm>
          <a:prstGeom prst="chevron">
            <a:avLst>
              <a:gd name="adj" fmla="val 31250"/>
            </a:avLst>
          </a:prstGeom>
          <a:gradFill rotWithShape="1">
            <a:gsLst>
              <a:gs pos="0">
                <a:srgbClr val="D2E6F8"/>
              </a:gs>
              <a:gs pos="100000">
                <a:srgbClr val="E8F2FC"/>
              </a:gs>
            </a:gsLst>
            <a:lin scaled="0" ang="0"/>
          </a:gra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60417" tIns="0" rIns="72917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辞書・正規化</a:t>
            </a:r>
          </a:p>
        </p:txBody>
      </p:sp>
      <p:sp>
        <p:nvSpPr>
          <p:cNvPr id="13" name="flow-4"/>
          <p:cNvSpPr/>
          <p:nvPr/>
        </p:nvSpPr>
        <p:spPr>
          <a:xfrm>
            <a:off x="4812511" y="802085"/>
            <a:ext cx="1130211" cy="583335"/>
          </a:xfrm>
          <a:prstGeom prst="chevron">
            <a:avLst>
              <a:gd name="adj" fmla="val 31250"/>
            </a:avLst>
          </a:prstGeom>
          <a:gradFill rotWithShape="1">
            <a:gsLst>
              <a:gs pos="0">
                <a:srgbClr val="D2E6F8"/>
              </a:gs>
              <a:gs pos="100000">
                <a:srgbClr val="E8F2FC"/>
              </a:gs>
            </a:gsLst>
            <a:lin scaled="0" ang="0"/>
          </a:gra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60417" tIns="0" rIns="72917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ルーティング</a:t>
            </a:r>
          </a:p>
        </p:txBody>
      </p:sp>
      <p:sp>
        <p:nvSpPr>
          <p:cNvPr id="14" name="flow-5"/>
          <p:cNvSpPr/>
          <p:nvPr/>
        </p:nvSpPr>
        <p:spPr>
          <a:xfrm>
            <a:off x="5760430" y="802085"/>
            <a:ext cx="1385420" cy="583335"/>
          </a:xfrm>
          <a:prstGeom prst="chevron">
            <a:avLst>
              <a:gd name="adj" fmla="val 31250"/>
            </a:avLst>
          </a:prstGeom>
          <a:gradFill rotWithShape="1">
            <a:gsLst>
              <a:gs pos="0">
                <a:srgbClr val="D2E6F8"/>
              </a:gs>
              <a:gs pos="100000">
                <a:srgbClr val="E8F2FC"/>
              </a:gs>
            </a:gsLst>
            <a:lin scaled="0" ang="0"/>
          </a:gra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60417" tIns="0" rIns="72917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構造化検索SQL</a:t>
            </a:r>
          </a:p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全文検索BM25</a:t>
            </a:r>
          </a:p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ベクトル検索</a:t>
            </a:r>
          </a:p>
        </p:txBody>
      </p:sp>
      <p:sp>
        <p:nvSpPr>
          <p:cNvPr id="15" name="flow-6"/>
          <p:cNvSpPr/>
          <p:nvPr/>
        </p:nvSpPr>
        <p:spPr>
          <a:xfrm>
            <a:off x="6963558" y="802085"/>
            <a:ext cx="1276045" cy="583335"/>
          </a:xfrm>
          <a:prstGeom prst="chevron">
            <a:avLst>
              <a:gd name="adj" fmla="val 31250"/>
            </a:avLst>
          </a:prstGeom>
          <a:gradFill rotWithShape="1">
            <a:gsLst>
              <a:gs pos="0">
                <a:srgbClr val="D2E6F8"/>
              </a:gs>
              <a:gs pos="100000">
                <a:srgbClr val="E8F2FC"/>
              </a:gs>
            </a:gsLst>
            <a:lin scaled="0" ang="0"/>
          </a:gra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60417" tIns="0" rIns="72917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RRF＋必須条件</a:t>
            </a:r>
          </a:p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フィルタ（統合）</a:t>
            </a:r>
          </a:p>
        </p:txBody>
      </p:sp>
      <p:sp>
        <p:nvSpPr>
          <p:cNvPr id="16" name="flow-7"/>
          <p:cNvSpPr/>
          <p:nvPr/>
        </p:nvSpPr>
        <p:spPr>
          <a:xfrm>
            <a:off x="8057310" y="802085"/>
            <a:ext cx="1166669" cy="583335"/>
          </a:xfrm>
          <a:prstGeom prst="chevron">
            <a:avLst>
              <a:gd name="adj" fmla="val 31250"/>
            </a:avLst>
          </a:prstGeom>
          <a:gradFill rotWithShape="1">
            <a:gsLst>
              <a:gs pos="0">
                <a:srgbClr val="D2E6F8"/>
              </a:gs>
              <a:gs pos="100000">
                <a:srgbClr val="E8F2FC"/>
              </a:gs>
            </a:gsLst>
            <a:lin scaled="0" ang="0"/>
          </a:gra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60417" tIns="0" rIns="72917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版・適用判定</a:t>
            </a:r>
          </a:p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ルール</a:t>
            </a:r>
          </a:p>
        </p:txBody>
      </p:sp>
      <p:sp>
        <p:nvSpPr>
          <p:cNvPr id="17" name="flow-8"/>
          <p:cNvSpPr/>
          <p:nvPr/>
        </p:nvSpPr>
        <p:spPr>
          <a:xfrm>
            <a:off x="9041688" y="802085"/>
            <a:ext cx="1312503" cy="583335"/>
          </a:xfrm>
          <a:prstGeom prst="chevron">
            <a:avLst>
              <a:gd name="adj" fmla="val 31250"/>
            </a:avLst>
          </a:prstGeom>
          <a:gradFill rotWithShape="1">
            <a:gsLst>
              <a:gs pos="0">
                <a:srgbClr val="D2E6F8"/>
              </a:gs>
              <a:gs pos="100000">
                <a:srgbClr val="E8F2FC"/>
              </a:gs>
            </a:gsLst>
            <a:lin scaled="0" ang="0"/>
          </a:gradFill>
          <a:ln w="21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60417" tIns="0" rIns="72917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根拠アセンブリ</a:t>
            </a:r>
          </a:p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source_ref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54191" y="802085"/>
            <a:ext cx="1662504" cy="583335"/>
          </a:xfrm>
          <a:prstGeom prst="rect">
            <a:avLst/>
          </a:prstGeom>
          <a:solidFill>
            <a:srgbClr val="ED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0463566" y="1093753"/>
            <a:ext cx="240626" cy="0"/>
          </a:xfrm>
          <a:prstGeom prst="line">
            <a:avLst/>
          </a:prstGeom>
          <a:ln w="36458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77108" y="962502"/>
            <a:ext cx="1166669" cy="26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Difyで結果表示</a:t>
            </a:r>
          </a:p>
        </p:txBody>
      </p:sp>
      <p:sp>
        <p:nvSpPr>
          <p:cNvPr id="21" name="frame"/>
          <p:cNvSpPr/>
          <p:nvPr/>
        </p:nvSpPr>
        <p:spPr>
          <a:xfrm>
            <a:off x="218751" y="1509379"/>
            <a:ext cx="11776069" cy="4345843"/>
          </a:xfrm>
          <a:custGeom>
            <a:avLst/>
            <a:gdLst/>
            <a:ahLst/>
            <a:cxnLst/>
            <a:rect l="l" t="t" r="r" b="b"/>
            <a:pathLst>
              <a:path w="11776069" h="4345843">
                <a:moveTo>
                  <a:pt x="87500" y="0"/>
                </a:moveTo>
                <a:lnTo>
                  <a:pt x="10295857" y="0"/>
                </a:lnTo>
                <a:lnTo>
                  <a:pt x="10295857" y="678126"/>
                </a:lnTo>
                <a:lnTo>
                  <a:pt x="10383357" y="758335"/>
                </a:lnTo>
                <a:lnTo>
                  <a:pt x="11688568" y="758335"/>
                </a:lnTo>
                <a:lnTo>
                  <a:pt x="11776069" y="845835"/>
                </a:lnTo>
                <a:lnTo>
                  <a:pt x="11776069" y="4258343"/>
                </a:lnTo>
                <a:lnTo>
                  <a:pt x="11688568" y="4345843"/>
                </a:lnTo>
                <a:lnTo>
                  <a:pt x="87500" y="4345843"/>
                </a:lnTo>
                <a:lnTo>
                  <a:pt x="0" y="4258343"/>
                </a:lnTo>
                <a:lnTo>
                  <a:pt x="0" y="87500"/>
                </a:lnTo>
                <a:lnTo>
                  <a:pt x="87500" y="0"/>
                </a:lnTo>
              </a:path>
            </a:pathLst>
          </a:custGeom>
          <a:noFill/>
          <a:ln w="21875">
            <a:solidFill>
              <a:srgbClr val="1B3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gx-band"/>
          <p:cNvSpPr/>
          <p:nvPr/>
        </p:nvSpPr>
        <p:spPr>
          <a:xfrm>
            <a:off x="262501" y="1538545"/>
            <a:ext cx="6773974" cy="379168"/>
          </a:xfrm>
          <a:prstGeom prst="rect">
            <a:avLst/>
          </a:prstGeom>
          <a:gradFill rotWithShape="1">
            <a:gsLst>
              <a:gs pos="0">
                <a:srgbClr val="0E2858"/>
              </a:gs>
              <a:gs pos="100000">
                <a:srgbClr val="2C528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con lucide:server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251" y="1567712"/>
            <a:ext cx="350001" cy="3208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33336" y="1560420"/>
            <a:ext cx="4083343" cy="335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DGX Spark 1台（オンプレミス）</a:t>
            </a:r>
          </a:p>
        </p:txBody>
      </p:sp>
      <p:pic>
        <p:nvPicPr>
          <p:cNvPr id="25" name="icon lucide:ban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8767" y="1589587"/>
            <a:ext cx="335417" cy="33541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641684" y="1582295"/>
            <a:ext cx="2843757" cy="335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1" i="0">
                <a:solidFill>
                  <a:srgbClr val="E01A1A"/>
                </a:solidFill>
                <a:latin typeface="Meiryo"/>
                <a:ea typeface="Meiryo"/>
                <a:cs typeface="Meiryo"/>
              </a:rPr>
              <a:t>外部通信なし ｜ 外部通信遮断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72941" y="1750004"/>
            <a:ext cx="218751" cy="0"/>
          </a:xfrm>
          <a:prstGeom prst="line">
            <a:avLst/>
          </a:prstGeom>
          <a:ln w="21875">
            <a:solidFill>
              <a:srgbClr val="E0202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con lucide:globe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35442" y="1618754"/>
            <a:ext cx="291667" cy="291667"/>
          </a:xfrm>
          <a:prstGeom prst="rect">
            <a:avLst/>
          </a:prstGeom>
        </p:spPr>
      </p:pic>
      <p:pic>
        <p:nvPicPr>
          <p:cNvPr id="29" name="icon lucide:ban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10442" y="1822921"/>
            <a:ext cx="160417" cy="16041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85443" y="1589587"/>
            <a:ext cx="991669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8A94A6"/>
                </a:solidFill>
                <a:latin typeface="Meiryo"/>
                <a:ea typeface="Meiryo"/>
                <a:cs typeface="Meiryo"/>
              </a:rPr>
              <a:t>インターネット</a:t>
            </a:r>
          </a:p>
          <a:p>
            <a:pPr algn="l"/>
            <a:r>
              <a:rPr sz="900" b="0" i="0">
                <a:solidFill>
                  <a:srgbClr val="8A94A6"/>
                </a:solidFill>
                <a:latin typeface="Meiryo"/>
                <a:ea typeface="Meiryo"/>
                <a:cs typeface="Meiryo"/>
              </a:rPr>
              <a:t>（外部システム）</a:t>
            </a:r>
          </a:p>
        </p:txBody>
      </p:sp>
      <p:grpSp>
        <p:nvGrpSpPr>
          <p:cNvPr id="31" name="layer1-label"/>
          <p:cNvGrpSpPr/>
          <p:nvPr/>
        </p:nvGrpSpPr>
        <p:grpSpPr>
          <a:xfrm>
            <a:off x="320834" y="1983338"/>
            <a:ext cx="1698962" cy="393751"/>
            <a:chOff x="320834" y="1983338"/>
            <a:chExt cx="1698962" cy="393751"/>
          </a:xfrm>
        </p:grpSpPr>
        <p:sp>
          <p:nvSpPr>
            <p:cNvPr id="32" name="Rounded Rectangle 31"/>
            <p:cNvSpPr/>
            <p:nvPr/>
          </p:nvSpPr>
          <p:spPr>
            <a:xfrm>
              <a:off x="320834" y="1983338"/>
              <a:ext cx="1698962" cy="393751"/>
            </a:xfrm>
            <a:prstGeom prst="roundRect">
              <a:avLst>
                <a:gd name="adj" fmla="val 7407"/>
              </a:avLst>
            </a:prstGeom>
            <a:solidFill>
              <a:srgbClr val="1B3F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22918" y="2041671"/>
              <a:ext cx="277084" cy="277084"/>
            </a:xfrm>
            <a:prstGeom prst="roundRect">
              <a:avLst>
                <a:gd name="adj" fmla="val 10526"/>
              </a:avLst>
            </a:prstGeom>
            <a:solidFill>
              <a:srgbClr val="3A7B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tIns="0" rIns="0" bIns="0">
              <a:noAutofit/>
            </a:bodyPr>
            <a:lstStyle/>
            <a:p>
              <a:pPr algn="ctr"/>
              <a:r>
                <a:rPr sz="1700" b="1" i="0">
                  <a:solidFill>
                    <a:srgbClr val="FFFFFF"/>
                  </a:solidFill>
                  <a:latin typeface="Meiryo"/>
                  <a:ea typeface="Meiryo"/>
                  <a:cs typeface="Meiryo"/>
                </a:rPr>
                <a:t>1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2085" y="1983338"/>
              <a:ext cx="1203128" cy="39375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FFFFFF"/>
                  </a:solidFill>
                  <a:latin typeface="Meiryo"/>
                  <a:ea typeface="Meiryo"/>
                  <a:cs typeface="Meiryo"/>
                </a:rPr>
                <a:t>利用者層</a:t>
              </a:r>
            </a:p>
          </p:txBody>
        </p:sp>
      </p:grpSp>
      <p:grpSp>
        <p:nvGrpSpPr>
          <p:cNvPr id="35" name="layer2-label"/>
          <p:cNvGrpSpPr/>
          <p:nvPr/>
        </p:nvGrpSpPr>
        <p:grpSpPr>
          <a:xfrm>
            <a:off x="320834" y="2552089"/>
            <a:ext cx="1698962" cy="503126"/>
            <a:chOff x="320834" y="2552089"/>
            <a:chExt cx="1698962" cy="503126"/>
          </a:xfrm>
        </p:grpSpPr>
        <p:sp>
          <p:nvSpPr>
            <p:cNvPr id="36" name="Rounded Rectangle 35"/>
            <p:cNvSpPr/>
            <p:nvPr/>
          </p:nvSpPr>
          <p:spPr>
            <a:xfrm>
              <a:off x="320834" y="2552089"/>
              <a:ext cx="1698962" cy="503126"/>
            </a:xfrm>
            <a:prstGeom prst="roundRect">
              <a:avLst>
                <a:gd name="adj" fmla="val 5797"/>
              </a:avLst>
            </a:prstGeom>
            <a:solidFill>
              <a:srgbClr val="1B3F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422918" y="2665110"/>
              <a:ext cx="277084" cy="277084"/>
            </a:xfrm>
            <a:prstGeom prst="roundRect">
              <a:avLst>
                <a:gd name="adj" fmla="val 10526"/>
              </a:avLst>
            </a:prstGeom>
            <a:solidFill>
              <a:srgbClr val="3A7B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tIns="0" rIns="0" bIns="0">
              <a:noAutofit/>
            </a:bodyPr>
            <a:lstStyle/>
            <a:p>
              <a:pPr algn="ctr"/>
              <a:r>
                <a:rPr sz="1700" b="1" i="0">
                  <a:solidFill>
                    <a:srgbClr val="FFFFFF"/>
                  </a:solidFill>
                  <a:latin typeface="Meiryo"/>
                  <a:ea typeface="Meiryo"/>
                  <a:cs typeface="Meiryo"/>
                </a:rPr>
                <a:t>2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02085" y="2552089"/>
              <a:ext cx="1203128" cy="50312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FFFFFF"/>
                  </a:solidFill>
                  <a:latin typeface="Meiryo"/>
                  <a:ea typeface="Meiryo"/>
                  <a:cs typeface="Meiryo"/>
                </a:rPr>
                <a:t>部員が触る層</a:t>
              </a:r>
            </a:p>
          </p:txBody>
        </p:sp>
      </p:grpSp>
      <p:grpSp>
        <p:nvGrpSpPr>
          <p:cNvPr id="39" name="layer3-label"/>
          <p:cNvGrpSpPr/>
          <p:nvPr/>
        </p:nvGrpSpPr>
        <p:grpSpPr>
          <a:xfrm>
            <a:off x="320834" y="3339591"/>
            <a:ext cx="1698962" cy="1064586"/>
            <a:chOff x="320834" y="3339591"/>
            <a:chExt cx="1698962" cy="1064586"/>
          </a:xfrm>
        </p:grpSpPr>
        <p:sp>
          <p:nvSpPr>
            <p:cNvPr id="40" name="Rounded Rectangle 39"/>
            <p:cNvSpPr/>
            <p:nvPr/>
          </p:nvSpPr>
          <p:spPr>
            <a:xfrm>
              <a:off x="320834" y="3339591"/>
              <a:ext cx="1698962" cy="1064586"/>
            </a:xfrm>
            <a:prstGeom prst="roundRect">
              <a:avLst>
                <a:gd name="adj" fmla="val 2739"/>
              </a:avLst>
            </a:prstGeom>
            <a:solidFill>
              <a:srgbClr val="1B3F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22918" y="3733342"/>
              <a:ext cx="277084" cy="277084"/>
            </a:xfrm>
            <a:prstGeom prst="roundRect">
              <a:avLst>
                <a:gd name="adj" fmla="val 10526"/>
              </a:avLst>
            </a:prstGeom>
            <a:solidFill>
              <a:srgbClr val="3A7B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tIns="0" rIns="0" bIns="0">
              <a:noAutofit/>
            </a:bodyPr>
            <a:lstStyle/>
            <a:p>
              <a:pPr algn="ctr"/>
              <a:r>
                <a:rPr sz="1700" b="1" i="0">
                  <a:solidFill>
                    <a:srgbClr val="FFFFFF"/>
                  </a:solidFill>
                  <a:latin typeface="Meiryo"/>
                  <a:ea typeface="Meiryo"/>
                  <a:cs typeface="Meiryo"/>
                </a:rPr>
                <a:t>3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02085" y="3339591"/>
              <a:ext cx="1203128" cy="106458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00" b="1" i="0">
                  <a:solidFill>
                    <a:srgbClr val="FFFFFF"/>
                  </a:solidFill>
                  <a:latin typeface="Meiryo"/>
                  <a:ea typeface="Meiryo"/>
                  <a:cs typeface="Meiryo"/>
                </a:rPr>
                <a:t>開発者が守る層</a:t>
              </a:r>
            </a:p>
          </p:txBody>
        </p:sp>
      </p:grpSp>
      <p:grpSp>
        <p:nvGrpSpPr>
          <p:cNvPr id="43" name="layer4-label"/>
          <p:cNvGrpSpPr/>
          <p:nvPr/>
        </p:nvGrpSpPr>
        <p:grpSpPr>
          <a:xfrm>
            <a:off x="320834" y="4506260"/>
            <a:ext cx="1698962" cy="554168"/>
            <a:chOff x="320834" y="4506260"/>
            <a:chExt cx="1698962" cy="554168"/>
          </a:xfrm>
        </p:grpSpPr>
        <p:sp>
          <p:nvSpPr>
            <p:cNvPr id="44" name="Rounded Rectangle 43"/>
            <p:cNvSpPr/>
            <p:nvPr/>
          </p:nvSpPr>
          <p:spPr>
            <a:xfrm>
              <a:off x="320834" y="4506260"/>
              <a:ext cx="1698962" cy="554168"/>
            </a:xfrm>
            <a:prstGeom prst="roundRect">
              <a:avLst>
                <a:gd name="adj" fmla="val 5263"/>
              </a:avLst>
            </a:prstGeom>
            <a:solidFill>
              <a:srgbClr val="1B3F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422918" y="4644802"/>
              <a:ext cx="277084" cy="277084"/>
            </a:xfrm>
            <a:prstGeom prst="roundRect">
              <a:avLst>
                <a:gd name="adj" fmla="val 10526"/>
              </a:avLst>
            </a:prstGeom>
            <a:solidFill>
              <a:srgbClr val="3A7B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tIns="0" rIns="0" bIns="0">
              <a:noAutofit/>
            </a:bodyPr>
            <a:lstStyle/>
            <a:p>
              <a:pPr algn="ctr"/>
              <a:r>
                <a:rPr sz="1700" b="1" i="0">
                  <a:solidFill>
                    <a:srgbClr val="FFFFFF"/>
                  </a:solidFill>
                  <a:latin typeface="Meiryo"/>
                  <a:ea typeface="Meiryo"/>
                  <a:cs typeface="Meiryo"/>
                </a:rPr>
                <a:t>4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02085" y="4506260"/>
              <a:ext cx="1203128" cy="55416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250" b="1" i="0">
                  <a:solidFill>
                    <a:srgbClr val="FFFFFF"/>
                  </a:solidFill>
                  <a:latin typeface="Meiryo"/>
                  <a:ea typeface="Meiryo"/>
                  <a:cs typeface="Meiryo"/>
                </a:rPr>
                <a:t>モデル層</a:t>
              </a:r>
            </a:p>
          </p:txBody>
        </p:sp>
      </p:grpSp>
      <p:grpSp>
        <p:nvGrpSpPr>
          <p:cNvPr id="47" name="layer5-label"/>
          <p:cNvGrpSpPr/>
          <p:nvPr/>
        </p:nvGrpSpPr>
        <p:grpSpPr>
          <a:xfrm>
            <a:off x="320834" y="5191679"/>
            <a:ext cx="1698962" cy="576043"/>
            <a:chOff x="320834" y="5191679"/>
            <a:chExt cx="1698962" cy="576043"/>
          </a:xfrm>
        </p:grpSpPr>
        <p:sp>
          <p:nvSpPr>
            <p:cNvPr id="48" name="Rounded Rectangle 47"/>
            <p:cNvSpPr/>
            <p:nvPr/>
          </p:nvSpPr>
          <p:spPr>
            <a:xfrm>
              <a:off x="320834" y="5191679"/>
              <a:ext cx="1698962" cy="576043"/>
            </a:xfrm>
            <a:prstGeom prst="roundRect">
              <a:avLst>
                <a:gd name="adj" fmla="val 5063"/>
              </a:avLst>
            </a:prstGeom>
            <a:solidFill>
              <a:srgbClr val="1B3F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422918" y="5341158"/>
              <a:ext cx="277084" cy="277084"/>
            </a:xfrm>
            <a:prstGeom prst="roundRect">
              <a:avLst>
                <a:gd name="adj" fmla="val 10526"/>
              </a:avLst>
            </a:prstGeom>
            <a:solidFill>
              <a:srgbClr val="3A7B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none" lIns="0" tIns="0" rIns="0" bIns="0">
              <a:noAutofit/>
            </a:bodyPr>
            <a:lstStyle/>
            <a:p>
              <a:pPr algn="ctr"/>
              <a:r>
                <a:rPr sz="1700" b="1" i="0">
                  <a:solidFill>
                    <a:srgbClr val="FFFFFF"/>
                  </a:solidFill>
                  <a:latin typeface="Meiryo"/>
                  <a:ea typeface="Meiryo"/>
                  <a:cs typeface="Meiryo"/>
                </a:rPr>
                <a:t>5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02085" y="5191679"/>
              <a:ext cx="1203128" cy="57604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1100" b="1" i="0">
                  <a:solidFill>
                    <a:srgbClr val="FFFFFF"/>
                  </a:solidFill>
                  <a:latin typeface="Meiryo"/>
                  <a:ea typeface="Meiryo"/>
                  <a:cs typeface="Meiryo"/>
                </a:rPr>
                <a:t>データ・検索基盤</a:t>
              </a:r>
            </a:p>
          </p:txBody>
        </p:sp>
      </p:grpSp>
      <p:sp>
        <p:nvSpPr>
          <p:cNvPr id="51" name="Rounded Rectangle 50"/>
          <p:cNvSpPr/>
          <p:nvPr/>
        </p:nvSpPr>
        <p:spPr>
          <a:xfrm>
            <a:off x="2100005" y="1983338"/>
            <a:ext cx="8268769" cy="364584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 w="10938">
            <a:solidFill>
              <a:srgbClr val="BF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icon lucide:laptop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54178" y="1997921"/>
            <a:ext cx="408334" cy="33541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293762" y="2041671"/>
            <a:ext cx="1750004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生産技術部員のブラウザ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58350" y="2070838"/>
            <a:ext cx="802085" cy="189584"/>
          </a:xfrm>
          <a:prstGeom prst="roundRect">
            <a:avLst>
              <a:gd name="adj" fmla="val 15384"/>
            </a:avLst>
          </a:prstGeom>
          <a:solidFill>
            <a:srgbClr val="DC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0" i="0">
                <a:solidFill>
                  <a:srgbClr val="5A7BA8"/>
                </a:solidFill>
                <a:latin typeface="Meiryo"/>
                <a:ea typeface="Meiryo"/>
                <a:cs typeface="Meiryo"/>
              </a:rPr>
              <a:t>PC／Browser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213554" y="2347922"/>
            <a:ext cx="0" cy="240626"/>
          </a:xfrm>
          <a:prstGeom prst="line">
            <a:avLst/>
          </a:prstGeom>
          <a:ln w="36458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395846" y="2391672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質問・検索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6912516" y="2347922"/>
            <a:ext cx="0" cy="240626"/>
          </a:xfrm>
          <a:prstGeom prst="line">
            <a:avLst/>
          </a:prstGeom>
          <a:ln w="36458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94808" y="2391672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回答表示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29172" y="2595839"/>
            <a:ext cx="8297936" cy="422918"/>
          </a:xfrm>
          <a:prstGeom prst="roundRect">
            <a:avLst>
              <a:gd name="adj" fmla="val 13793"/>
            </a:avLst>
          </a:prstGeom>
          <a:solidFill>
            <a:srgbClr val="E3F0FB"/>
          </a:solidFill>
          <a:ln w="14583">
            <a:solidFill>
              <a:srgbClr val="5B9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icon simple:docker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04172" y="2683340"/>
            <a:ext cx="350001" cy="23333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2741673" y="2668756"/>
            <a:ext cx="1779171" cy="277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Dify CE（Docker）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20844" y="2654173"/>
            <a:ext cx="1516670" cy="320834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0938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チャットUI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70848" y="2654173"/>
            <a:ext cx="1859379" cy="320834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0938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0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ワークフローDSL</a:t>
            </a:r>
          </a:p>
          <a:p>
            <a:pPr algn="ctr">
              <a:lnSpc>
                <a:spcPct val="90000"/>
              </a:lnSpc>
            </a:pPr>
            <a:r>
              <a:rPr sz="7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（分岐・文言・表示項目）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56269" y="2654173"/>
            <a:ext cx="1866671" cy="320834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0938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90000"/>
              </a:lnSpc>
            </a:pPr>
            <a:r>
              <a:rPr sz="10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検索API呼び出し</a:t>
            </a:r>
          </a:p>
          <a:p>
            <a:pPr algn="ctr">
              <a:lnSpc>
                <a:spcPct val="90000"/>
              </a:lnSpc>
            </a:pPr>
            <a:r>
              <a:rPr sz="7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（OpenAPI）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066681" y="2814590"/>
            <a:ext cx="182292" cy="0"/>
          </a:xfrm>
          <a:prstGeom prst="line">
            <a:avLst/>
          </a:prstGeom>
          <a:ln w="29167">
            <a:solidFill>
              <a:srgbClr val="2A86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152102" y="2814590"/>
            <a:ext cx="182292" cy="0"/>
          </a:xfrm>
          <a:prstGeom prst="line">
            <a:avLst/>
          </a:prstGeom>
          <a:ln w="29167">
            <a:solidFill>
              <a:srgbClr val="2A86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322929" y="3047924"/>
            <a:ext cx="0" cy="328126"/>
          </a:xfrm>
          <a:prstGeom prst="line">
            <a:avLst/>
          </a:prstGeom>
          <a:ln w="36458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483346" y="3062507"/>
            <a:ext cx="1166669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検索リクエスト</a:t>
            </a:r>
          </a:p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（質問・条件）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7364600" y="3033340"/>
            <a:ext cx="0" cy="342710"/>
          </a:xfrm>
          <a:prstGeom prst="line">
            <a:avLst/>
          </a:prstGeom>
          <a:ln w="36458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597934" y="3062507"/>
            <a:ext cx="1239586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検索結果</a:t>
            </a:r>
          </a:p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（根拠付き回答）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129172" y="3390633"/>
            <a:ext cx="8327103" cy="1013544"/>
          </a:xfrm>
          <a:prstGeom prst="roundRect">
            <a:avLst>
              <a:gd name="adj" fmla="val 5755"/>
            </a:avLst>
          </a:prstGeom>
          <a:solidFill>
            <a:srgbClr val="EAF3FC"/>
          </a:solidFill>
          <a:ln w="14583">
            <a:solidFill>
              <a:srgbClr val="5B9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icon simple:docker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04172" y="3441675"/>
            <a:ext cx="350001" cy="23333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814590" y="3412508"/>
            <a:ext cx="2406256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検索API FastAPI（Docker）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223964" y="3696884"/>
            <a:ext cx="838544" cy="61250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0938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質問解釈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LLM抽出＋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コード検証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52091" y="3696884"/>
            <a:ext cx="831252" cy="61250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0938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用語辞書・</a:t>
            </a:r>
          </a:p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正規化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72927" y="3696884"/>
            <a:ext cx="831252" cy="61250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0938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ルーティング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301054" y="3558342"/>
            <a:ext cx="1633337" cy="831252"/>
          </a:xfrm>
          <a:prstGeom prst="roundRect">
            <a:avLst>
              <a:gd name="adj" fmla="val 3508"/>
            </a:avLst>
          </a:prstGeom>
          <a:noFill/>
          <a:ln w="8750">
            <a:solidFill>
              <a:srgbClr val="7A93B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395846" y="3609383"/>
            <a:ext cx="1429170" cy="211459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75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icon material:database-fill" descr="image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56263" y="3638550"/>
            <a:ext cx="160417" cy="160417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818764" y="3609383"/>
            <a:ext cx="947919" cy="2114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構造化検索SQL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395846" y="3871884"/>
            <a:ext cx="1429170" cy="211459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75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icon lucide:search" descr="image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56263" y="3901051"/>
            <a:ext cx="160417" cy="160417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818764" y="3871884"/>
            <a:ext cx="947919" cy="2114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全文検索BM25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395846" y="4127093"/>
            <a:ext cx="1429170" cy="211459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750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icon lucide:atom" descr="image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556263" y="4156260"/>
            <a:ext cx="160417" cy="160417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5818764" y="4127093"/>
            <a:ext cx="947919" cy="21145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ベクトル検索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102100" y="3696884"/>
            <a:ext cx="1064586" cy="61250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0938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RRF＋必須条件</a:t>
            </a:r>
          </a:p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フィルタ</a:t>
            </a:r>
          </a:p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（統合）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63561" y="3696884"/>
            <a:ext cx="794794" cy="61250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0938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版・適用判定</a:t>
            </a:r>
          </a:p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ルール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347938" y="3696884"/>
            <a:ext cx="1035419" cy="612501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0938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根拠アセンブリ</a:t>
            </a:r>
          </a:p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source_ref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069799" y="4003134"/>
            <a:ext cx="167709" cy="0"/>
          </a:xfrm>
          <a:prstGeom prst="line">
            <a:avLst/>
          </a:prstGeom>
          <a:ln w="29167">
            <a:solidFill>
              <a:srgbClr val="2A86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090635" y="4003134"/>
            <a:ext cx="167708" cy="0"/>
          </a:xfrm>
          <a:prstGeom prst="line">
            <a:avLst/>
          </a:prstGeom>
          <a:ln w="29167">
            <a:solidFill>
              <a:srgbClr val="2A86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11470" y="4003134"/>
            <a:ext cx="175001" cy="0"/>
          </a:xfrm>
          <a:prstGeom prst="line">
            <a:avLst/>
          </a:prstGeom>
          <a:ln w="29167">
            <a:solidFill>
              <a:srgbClr val="2A86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941683" y="4003134"/>
            <a:ext cx="145833" cy="0"/>
          </a:xfrm>
          <a:prstGeom prst="line">
            <a:avLst/>
          </a:prstGeom>
          <a:ln w="29167">
            <a:solidFill>
              <a:srgbClr val="2A86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173977" y="4003134"/>
            <a:ext cx="175001" cy="0"/>
          </a:xfrm>
          <a:prstGeom prst="line">
            <a:avLst/>
          </a:prstGeom>
          <a:ln w="29167">
            <a:solidFill>
              <a:srgbClr val="2A86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65646" y="4003134"/>
            <a:ext cx="167709" cy="0"/>
          </a:xfrm>
          <a:prstGeom prst="line">
            <a:avLst/>
          </a:prstGeom>
          <a:ln w="29167">
            <a:solidFill>
              <a:srgbClr val="2A86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2136463" y="4520844"/>
            <a:ext cx="3164591" cy="525001"/>
          </a:xfrm>
          <a:prstGeom prst="roundRect">
            <a:avLst>
              <a:gd name="adj" fmla="val 5555"/>
            </a:avLst>
          </a:prstGeom>
          <a:solidFill>
            <a:srgbClr val="F7FAFD"/>
          </a:solidFill>
          <a:ln w="10938">
            <a:solidFill>
              <a:srgbClr val="6F9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icon lucide:brain" descr="image.png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347922" y="4564594"/>
            <a:ext cx="364584" cy="364584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2829173" y="4535427"/>
            <a:ext cx="2406256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5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LLM </a:t>
            </a:r>
            <a:r>
              <a:rPr sz="11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(vLLM / llama.cpp)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843757" y="4790636"/>
            <a:ext cx="1925004" cy="204167"/>
          </a:xfrm>
          <a:prstGeom prst="roundRect">
            <a:avLst>
              <a:gd name="adj" fmla="val 14285"/>
            </a:avLst>
          </a:prstGeom>
          <a:solidFill>
            <a:srgbClr val="DD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0" i="0">
                <a:solidFill>
                  <a:srgbClr val="33507A"/>
                </a:solidFill>
                <a:latin typeface="Meiryo"/>
                <a:ea typeface="Meiryo"/>
                <a:cs typeface="Meiryo"/>
              </a:rPr>
              <a:t>質問解釈／根拠付き説明生成のみ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381263" y="4520844"/>
            <a:ext cx="2508339" cy="525001"/>
          </a:xfrm>
          <a:prstGeom prst="roundRect">
            <a:avLst>
              <a:gd name="adj" fmla="val 5555"/>
            </a:avLst>
          </a:prstGeom>
          <a:solidFill>
            <a:srgbClr val="F7FAFD"/>
          </a:solidFill>
          <a:ln w="10938">
            <a:solidFill>
              <a:srgbClr val="6F9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icon lucide:cpu" descr="image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570846" y="4557302"/>
            <a:ext cx="335417" cy="335417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6008347" y="4550011"/>
            <a:ext cx="1458337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Embedding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022931" y="4790636"/>
            <a:ext cx="911460" cy="204167"/>
          </a:xfrm>
          <a:prstGeom prst="roundRect">
            <a:avLst>
              <a:gd name="adj" fmla="val 14285"/>
            </a:avLst>
          </a:prstGeom>
          <a:solidFill>
            <a:srgbClr val="DD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0" i="0">
                <a:solidFill>
                  <a:srgbClr val="33507A"/>
                </a:solidFill>
                <a:latin typeface="Meiryo"/>
                <a:ea typeface="Meiryo"/>
                <a:cs typeface="Meiryo"/>
              </a:rPr>
              <a:t>ベクトル検索用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977102" y="4520844"/>
            <a:ext cx="2464589" cy="525001"/>
          </a:xfrm>
          <a:prstGeom prst="roundRect">
            <a:avLst>
              <a:gd name="adj" fmla="val 5555"/>
            </a:avLst>
          </a:prstGeom>
          <a:solidFill>
            <a:srgbClr val="F7FAFD"/>
          </a:solidFill>
          <a:ln w="10938">
            <a:solidFill>
              <a:srgbClr val="6F95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icon lucide:cpu" descr="image.png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195852" y="4557302"/>
            <a:ext cx="335417" cy="335417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8618770" y="4550011"/>
            <a:ext cx="816669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Reranker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450022" y="4586469"/>
            <a:ext cx="641668" cy="175000"/>
          </a:xfrm>
          <a:prstGeom prst="roundRect">
            <a:avLst>
              <a:gd name="adj" fmla="val 16666"/>
            </a:avLst>
          </a:prstGeom>
          <a:solidFill>
            <a:srgbClr val="DD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50" b="0" i="0">
                <a:solidFill>
                  <a:srgbClr val="33507A"/>
                </a:solidFill>
                <a:latin typeface="Meiryo"/>
                <a:ea typeface="Meiryo"/>
                <a:cs typeface="Meiryo"/>
              </a:rPr>
              <a:t>任意接続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647937" y="4790636"/>
            <a:ext cx="700002" cy="204167"/>
          </a:xfrm>
          <a:prstGeom prst="roundRect">
            <a:avLst>
              <a:gd name="adj" fmla="val 14285"/>
            </a:avLst>
          </a:prstGeom>
          <a:solidFill>
            <a:srgbClr val="DD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0" i="0">
                <a:solidFill>
                  <a:srgbClr val="33507A"/>
                </a:solidFill>
                <a:latin typeface="Meiryo"/>
                <a:ea typeface="Meiryo"/>
                <a:cs typeface="Meiryo"/>
              </a:rPr>
              <a:t>任意接続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4637511" y="5133345"/>
            <a:ext cx="4593760" cy="0"/>
          </a:xfrm>
          <a:prstGeom prst="line">
            <a:avLst/>
          </a:prstGeom>
          <a:ln w="21875">
            <a:solidFill>
              <a:srgbClr val="1F6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4637511" y="5133345"/>
            <a:ext cx="0" cy="116667"/>
          </a:xfrm>
          <a:prstGeom prst="line">
            <a:avLst/>
          </a:prstGeom>
          <a:ln w="21875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231271" y="5133345"/>
            <a:ext cx="0" cy="131251"/>
          </a:xfrm>
          <a:prstGeom prst="line">
            <a:avLst/>
          </a:prstGeom>
          <a:ln w="21875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723972" y="5053137"/>
            <a:ext cx="0" cy="80208"/>
          </a:xfrm>
          <a:prstGeom prst="line">
            <a:avLst/>
          </a:prstGeom>
          <a:ln w="21875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6416682" y="5053137"/>
            <a:ext cx="0" cy="80208"/>
          </a:xfrm>
          <a:prstGeom prst="line">
            <a:avLst/>
          </a:prstGeom>
          <a:ln w="21875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/>
          <p:cNvSpPr/>
          <p:nvPr/>
        </p:nvSpPr>
        <p:spPr>
          <a:xfrm>
            <a:off x="2143755" y="5177095"/>
            <a:ext cx="8312519" cy="605210"/>
          </a:xfrm>
          <a:prstGeom prst="roundRect">
            <a:avLst>
              <a:gd name="adj" fmla="val 9638"/>
            </a:avLst>
          </a:prstGeom>
          <a:solidFill>
            <a:srgbClr val="EAF3FC"/>
          </a:solidFill>
          <a:ln w="14583">
            <a:solidFill>
              <a:srgbClr val="5B9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2260422" y="5264596"/>
            <a:ext cx="4345843" cy="481251"/>
          </a:xfrm>
          <a:prstGeom prst="roundRect">
            <a:avLst>
              <a:gd name="adj" fmla="val 6060"/>
            </a:avLst>
          </a:prstGeom>
          <a:solidFill>
            <a:srgbClr val="F7FAFD"/>
          </a:solidFill>
          <a:ln w="10938">
            <a:solidFill>
              <a:srgbClr val="7A9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6" name="icon material:database-fill" descr="image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450006" y="5293762"/>
            <a:ext cx="408334" cy="422918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2989590" y="5308346"/>
            <a:ext cx="2333339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PostgreSQL 中間DB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989590" y="5534388"/>
            <a:ext cx="306250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33507A"/>
                </a:solidFill>
                <a:latin typeface="Meiryo"/>
                <a:ea typeface="Meiryo"/>
                <a:cs typeface="Meiryo"/>
              </a:rPr>
              <a:t>TOS検索単位／文書メタ／版適用／辞書／ログ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693766" y="5264596"/>
            <a:ext cx="3660425" cy="481251"/>
          </a:xfrm>
          <a:prstGeom prst="roundRect">
            <a:avLst>
              <a:gd name="adj" fmla="val 6060"/>
            </a:avLst>
          </a:prstGeom>
          <a:solidFill>
            <a:srgbClr val="F7FAFD"/>
          </a:solidFill>
          <a:ln w="10938">
            <a:solidFill>
              <a:srgbClr val="7A9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icon material:stacks-fill" descr="image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320850" y="5279179"/>
            <a:ext cx="437501" cy="437501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7896893" y="5308346"/>
            <a:ext cx="1458337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OpenSearch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896893" y="5534388"/>
            <a:ext cx="145833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33507A"/>
                </a:solidFill>
                <a:latin typeface="Meiryo"/>
                <a:ea typeface="Meiryo"/>
                <a:cs typeface="Meiryo"/>
              </a:rPr>
              <a:t>全文＋ベクトル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572941" y="2420839"/>
            <a:ext cx="141458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横串の共通機能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572941" y="2603131"/>
            <a:ext cx="1414587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（全層に適用）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667733" y="2916673"/>
            <a:ext cx="1225003" cy="597918"/>
          </a:xfrm>
          <a:prstGeom prst="roundRect">
            <a:avLst>
              <a:gd name="adj" fmla="val 7317"/>
            </a:avLst>
          </a:prstGeom>
          <a:solidFill>
            <a:srgbClr val="FAFCFE"/>
          </a:solidFill>
          <a:ln w="10938">
            <a:solidFill>
              <a:srgbClr val="C3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icon material:verified_user-fill" descr="image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762525" y="3062507"/>
            <a:ext cx="306251" cy="306251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1141693" y="2916673"/>
            <a:ext cx="729168" cy="5979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認証・権限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0667733" y="3616675"/>
            <a:ext cx="1225003" cy="612501"/>
          </a:xfrm>
          <a:prstGeom prst="roundRect">
            <a:avLst>
              <a:gd name="adj" fmla="val 7142"/>
            </a:avLst>
          </a:prstGeom>
          <a:solidFill>
            <a:srgbClr val="FAFCFE"/>
          </a:solidFill>
          <a:ln w="10938">
            <a:solidFill>
              <a:srgbClr val="C3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icon material:description-fill" descr="image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762525" y="3769800"/>
            <a:ext cx="306251" cy="306251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1141693" y="3616675"/>
            <a:ext cx="729168" cy="61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監査ログ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0667733" y="4375010"/>
            <a:ext cx="1225003" cy="612501"/>
          </a:xfrm>
          <a:prstGeom prst="roundRect">
            <a:avLst>
              <a:gd name="adj" fmla="val 7142"/>
            </a:avLst>
          </a:prstGeom>
          <a:solidFill>
            <a:srgbClr val="FAFCFE"/>
          </a:solidFill>
          <a:ln w="10938">
            <a:solidFill>
              <a:srgbClr val="C3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2" name="icon lucide:ban" descr="image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762525" y="4528136"/>
            <a:ext cx="306251" cy="306251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11141693" y="4375010"/>
            <a:ext cx="729168" cy="61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85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外部通信遮断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0667733" y="5104179"/>
            <a:ext cx="1225003" cy="612501"/>
          </a:xfrm>
          <a:prstGeom prst="roundRect">
            <a:avLst>
              <a:gd name="adj" fmla="val 7142"/>
            </a:avLst>
          </a:prstGeom>
          <a:solidFill>
            <a:srgbClr val="FAFCFE"/>
          </a:solidFill>
          <a:ln w="10938">
            <a:solidFill>
              <a:srgbClr val="C3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icon lucide:network" descr="image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762525" y="5257304"/>
            <a:ext cx="306251" cy="306251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11141693" y="5104179"/>
            <a:ext cx="729168" cy="61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バージョン</a:t>
            </a:r>
          </a:p>
          <a:p>
            <a:pPr algn="l">
              <a:lnSpc>
                <a:spcPct val="95000"/>
              </a:lnSpc>
            </a:pPr>
            <a:r>
              <a:rPr sz="11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管理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40626" y="5928139"/>
            <a:ext cx="11768777" cy="802085"/>
          </a:xfrm>
          <a:prstGeom prst="roundRect">
            <a:avLst>
              <a:gd name="adj" fmla="val 7272"/>
            </a:avLst>
          </a:prstGeom>
          <a:noFill/>
          <a:ln w="10938">
            <a:solidFill>
              <a:srgbClr val="7A9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icon material:settings-fill" descr="image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64584" y="6197931"/>
            <a:ext cx="320834" cy="320834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772918" y="6212514"/>
            <a:ext cx="1093753" cy="2916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取込バッチ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910421" y="6219806"/>
            <a:ext cx="4389594" cy="408334"/>
          </a:xfrm>
          <a:prstGeom prst="roundRect">
            <a:avLst>
              <a:gd name="adj" fmla="val 10714"/>
            </a:avLst>
          </a:prstGeom>
          <a:solidFill>
            <a:srgbClr val="F4F8FD"/>
          </a:solidFill>
          <a:ln w="10938">
            <a:solidFill>
              <a:srgbClr val="9FB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1" name="icon material:description-fill" descr="image.png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041671" y="6300015"/>
            <a:ext cx="218751" cy="262501"/>
          </a:xfrm>
          <a:prstGeom prst="rect">
            <a:avLst/>
          </a:prstGeom>
        </p:spPr>
      </p:pic>
      <p:pic>
        <p:nvPicPr>
          <p:cNvPr id="142" name="icon lucide:sheet" descr="image.png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289589" y="6314598"/>
            <a:ext cx="233334" cy="233334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2581256" y="6314598"/>
            <a:ext cx="1210419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N-PLUS CSV 12表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3806259" y="6423973"/>
            <a:ext cx="196875" cy="0"/>
          </a:xfrm>
          <a:prstGeom prst="line">
            <a:avLst/>
          </a:prstGeom>
          <a:ln w="36458">
            <a:solidFill>
              <a:srgbClr val="2A86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ounded Rectangle 144"/>
          <p:cNvSpPr/>
          <p:nvPr/>
        </p:nvSpPr>
        <p:spPr>
          <a:xfrm>
            <a:off x="4054176" y="6278140"/>
            <a:ext cx="2114588" cy="29166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938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JOIN・コード変換・文脈化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773974" y="6219806"/>
            <a:ext cx="4929178" cy="408334"/>
          </a:xfrm>
          <a:prstGeom prst="roundRect">
            <a:avLst>
              <a:gd name="adj" fmla="val 10714"/>
            </a:avLst>
          </a:prstGeom>
          <a:solidFill>
            <a:srgbClr val="F4F8FD"/>
          </a:solidFill>
          <a:ln w="10938">
            <a:solidFill>
              <a:srgbClr val="9FB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icon lucide:file-text" descr="image.png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883349" y="6285431"/>
            <a:ext cx="247917" cy="277084"/>
          </a:xfrm>
          <a:prstGeom prst="rect">
            <a:avLst/>
          </a:prstGeom>
        </p:spPr>
      </p:pic>
      <p:pic>
        <p:nvPicPr>
          <p:cNvPr id="148" name="icon lucide:file-spreadsheet" descr="image.png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7145850" y="6285431"/>
            <a:ext cx="247917" cy="277084"/>
          </a:xfrm>
          <a:prstGeom prst="rect">
            <a:avLst/>
          </a:prstGeom>
        </p:spPr>
      </p:pic>
      <p:pic>
        <p:nvPicPr>
          <p:cNvPr id="149" name="icon material:picture_as_pdf-fill" descr="image.png"/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408351" y="6285431"/>
            <a:ext cx="262501" cy="277084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758351" y="6314598"/>
            <a:ext cx="1385420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Word／Excel／PDF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172938" y="6423973"/>
            <a:ext cx="196875" cy="0"/>
          </a:xfrm>
          <a:prstGeom prst="line">
            <a:avLst/>
          </a:prstGeom>
          <a:ln w="36458">
            <a:solidFill>
              <a:srgbClr val="2A86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9420855" y="6278140"/>
            <a:ext cx="2202088" cy="29166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938">
            <a:solidFill>
              <a:srgbClr val="7A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1B2E55"/>
                </a:solidFill>
                <a:latin typeface="Meiryo"/>
                <a:ea typeface="Meiryo"/>
                <a:cs typeface="Meiryo"/>
              </a:rPr>
              <a:t>本文・表抽出・分割・メタ付与</a:t>
            </a:r>
          </a:p>
        </p:txBody>
      </p:sp>
      <p:cxnSp>
        <p:nvCxnSpPr>
          <p:cNvPr id="153" name="Connector 152"/>
          <p:cNvCxnSpPr/>
          <p:nvPr/>
        </p:nvCxnSpPr>
        <p:spPr>
          <a:xfrm flipV="1">
            <a:off x="3842717" y="5804180"/>
            <a:ext cx="0" cy="408334"/>
          </a:xfrm>
          <a:prstGeom prst="line">
            <a:avLst/>
          </a:prstGeom>
          <a:ln w="29167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5301054" y="5804180"/>
            <a:ext cx="0" cy="408334"/>
          </a:xfrm>
          <a:prstGeom prst="line">
            <a:avLst/>
          </a:prstGeom>
          <a:ln w="29167">
            <a:solidFill>
              <a:srgbClr val="4A9B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8210436" y="5804180"/>
            <a:ext cx="0" cy="408334"/>
          </a:xfrm>
          <a:prstGeom prst="line">
            <a:avLst/>
          </a:prstGeom>
          <a:ln w="29167">
            <a:solidFill>
              <a:srgbClr val="1F6FD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646897" y="5804180"/>
            <a:ext cx="0" cy="408334"/>
          </a:xfrm>
          <a:prstGeom prst="line">
            <a:avLst/>
          </a:prstGeom>
          <a:ln w="29167">
            <a:solidFill>
              <a:srgbClr val="4A9B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3981259" y="5891680"/>
            <a:ext cx="1312503" cy="306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1F5FB8"/>
                </a:solidFill>
                <a:latin typeface="Meiryo"/>
                <a:ea typeface="Meiryo"/>
                <a:cs typeface="Meiryo"/>
              </a:rPr>
              <a:t>PostgreSQLへ投入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1F5FB8"/>
                </a:solidFill>
                <a:latin typeface="Meiryo"/>
                <a:ea typeface="Meiryo"/>
                <a:cs typeface="Meiryo"/>
              </a:rPr>
              <a:t>（メタ・辞書 等）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446888" y="5891680"/>
            <a:ext cx="1312503" cy="306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1F5FB8"/>
                </a:solidFill>
                <a:latin typeface="Meiryo"/>
                <a:ea typeface="Meiryo"/>
                <a:cs typeface="Meiryo"/>
              </a:rPr>
              <a:t>OpenSearchへ投入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1F5FB8"/>
                </a:solidFill>
                <a:latin typeface="Meiryo"/>
                <a:ea typeface="Meiryo"/>
                <a:cs typeface="Meiryo"/>
              </a:rPr>
              <a:t>（本文・ベクトル化データ）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56269" y="5891680"/>
            <a:ext cx="1312503" cy="306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1F5FB8"/>
                </a:solidFill>
                <a:latin typeface="Meiryo"/>
                <a:ea typeface="Meiryo"/>
                <a:cs typeface="Meiryo"/>
              </a:rPr>
              <a:t>PostgreSQLへ投入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1F5FB8"/>
                </a:solidFill>
                <a:latin typeface="Meiryo"/>
                <a:ea typeface="Meiryo"/>
                <a:cs typeface="Meiryo"/>
              </a:rPr>
              <a:t>（文書メタ 等）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792731" y="5891680"/>
            <a:ext cx="1312503" cy="306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1F5FB8"/>
                </a:solidFill>
                <a:latin typeface="Meiryo"/>
                <a:ea typeface="Meiryo"/>
                <a:cs typeface="Meiryo"/>
              </a:rPr>
              <a:t>OpenSearchへ投入</a:t>
            </a:r>
          </a:p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1F5FB8"/>
                </a:solidFill>
                <a:latin typeface="Meiryo"/>
                <a:ea typeface="Meiryo"/>
                <a:cs typeface="Meiryo"/>
              </a:rPr>
              <a:t>（本文・ベクトル化データ）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
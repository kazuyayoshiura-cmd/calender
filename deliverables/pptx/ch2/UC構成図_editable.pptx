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15.svg" ContentType="image/svg+xml"/>
  <Override PartName="/ppt/media/icon_svg16.svg" ContentType="image/svg+xml"/>
  <Override PartName="/ppt/media/icon_svg17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mage8.png"/><Relationship Id="rId17" Type="http://schemas.openxmlformats.org/officeDocument/2006/relationships/image" Target="../media/icon_svg8.svg"/><Relationship Id="rId18" Type="http://schemas.openxmlformats.org/officeDocument/2006/relationships/image" Target="../media/image9.png"/><Relationship Id="rId19" Type="http://schemas.openxmlformats.org/officeDocument/2006/relationships/image" Target="../media/icon_svg9.svg"/><Relationship Id="rId20" Type="http://schemas.openxmlformats.org/officeDocument/2006/relationships/image" Target="../media/image10.png"/><Relationship Id="rId21" Type="http://schemas.openxmlformats.org/officeDocument/2006/relationships/image" Target="../media/icon_svg10.svg"/><Relationship Id="rId22" Type="http://schemas.openxmlformats.org/officeDocument/2006/relationships/image" Target="../media/image11.png"/><Relationship Id="rId23" Type="http://schemas.openxmlformats.org/officeDocument/2006/relationships/image" Target="../media/icon_svg11.svg"/><Relationship Id="rId24" Type="http://schemas.openxmlformats.org/officeDocument/2006/relationships/image" Target="../media/image12.png"/><Relationship Id="rId25" Type="http://schemas.openxmlformats.org/officeDocument/2006/relationships/image" Target="../media/icon_svg12.svg"/><Relationship Id="rId26" Type="http://schemas.openxmlformats.org/officeDocument/2006/relationships/image" Target="../media/icon_svg13.svg"/><Relationship Id="rId27" Type="http://schemas.openxmlformats.org/officeDocument/2006/relationships/image" Target="../media/image13.png"/><Relationship Id="rId28" Type="http://schemas.openxmlformats.org/officeDocument/2006/relationships/image" Target="../media/icon_svg14.svg"/><Relationship Id="rId29" Type="http://schemas.openxmlformats.org/officeDocument/2006/relationships/image" Target="../media/image14.png"/><Relationship Id="rId30" Type="http://schemas.openxmlformats.org/officeDocument/2006/relationships/image" Target="../media/icon_svg15.svg"/><Relationship Id="rId31" Type="http://schemas.openxmlformats.org/officeDocument/2006/relationships/image" Target="../media/image15.png"/><Relationship Id="rId32" Type="http://schemas.openxmlformats.org/officeDocument/2006/relationships/image" Target="../media/icon_svg16.svg"/><Relationship Id="rId33" Type="http://schemas.openxmlformats.org/officeDocument/2006/relationships/image" Target="../media/image16.png"/><Relationship Id="rId34" Type="http://schemas.openxmlformats.org/officeDocument/2006/relationships/image" Target="../media/icon_svg17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ame"/>
          <p:cNvSpPr/>
          <p:nvPr/>
        </p:nvSpPr>
        <p:spPr>
          <a:xfrm>
            <a:off x="87500" y="72917"/>
            <a:ext cx="12016695" cy="6708349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0938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c1-header"/>
          <p:cNvSpPr/>
          <p:nvPr/>
        </p:nvSpPr>
        <p:spPr>
          <a:xfrm>
            <a:off x="87500" y="72917"/>
            <a:ext cx="4360427" cy="422918"/>
          </a:xfrm>
          <a:prstGeom prst="roundRect">
            <a:avLst>
              <a:gd name="adj" fmla="val 10344"/>
            </a:avLst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500" y="72917"/>
            <a:ext cx="4360427" cy="422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UC1：確定キーからの構造化検索（N-PLUS／TOS）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7500" y="495834"/>
            <a:ext cx="4360427" cy="816669"/>
          </a:xfrm>
          <a:prstGeom prst="rect">
            <a:avLst/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500" y="568751"/>
            <a:ext cx="4360427" cy="670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部品番号・工程番号などの確定キーから、</a:t>
            </a:r>
          </a:p>
          <a:p>
            <a:pPr algn="ctr">
              <a:lnSpc>
                <a:spcPts val="165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N-PLUSのTOS検索単位1行を構造化検索で取得</a:t>
            </a:r>
          </a:p>
          <a:p>
            <a:pPr algn="ctr">
              <a:lnSpc>
                <a:spcPts val="165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→ 版・適用 → 根拠提示</a:t>
            </a:r>
          </a:p>
        </p:txBody>
      </p:sp>
      <p:sp>
        <p:nvSpPr>
          <p:cNvPr id="7" name="uc2-header"/>
          <p:cNvSpPr/>
          <p:nvPr/>
        </p:nvSpPr>
        <p:spPr>
          <a:xfrm>
            <a:off x="7780226" y="72917"/>
            <a:ext cx="4323968" cy="568751"/>
          </a:xfrm>
          <a:prstGeom prst="roundRect">
            <a:avLst>
              <a:gd name="adj" fmla="val 7692"/>
            </a:avLst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80226" y="102084"/>
            <a:ext cx="4323968" cy="5104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UC2：自然言語からの全文＋ベクトル検索</a:t>
            </a:r>
          </a:p>
          <a:p>
            <a:pPr algn="ctr">
              <a:lnSpc>
                <a:spcPts val="19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（共有文書）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80226" y="641668"/>
            <a:ext cx="4323968" cy="678127"/>
          </a:xfrm>
          <a:prstGeom prst="rect">
            <a:avLst/>
          </a:prstGeom>
          <a:solidFill>
            <a:srgbClr val="EEF5FC"/>
          </a:solidFill>
          <a:ln w="7292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0226" y="729168"/>
            <a:ext cx="4323968" cy="5104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自然言語の問いから、共有文書の見出し付きチャンクを</a:t>
            </a:r>
          </a:p>
          <a:p>
            <a:pPr algn="ctr">
              <a:lnSpc>
                <a:spcPts val="19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全文BM25＋ベクトルで検索 → RRF → 根拠箇所を提示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6262" y="291667"/>
            <a:ext cx="1779171" cy="1144794"/>
          </a:xfrm>
          <a:prstGeom prst="roundRect">
            <a:avLst>
              <a:gd name="adj" fmla="val 7643"/>
            </a:avLst>
          </a:prstGeom>
          <a:solidFill>
            <a:srgbClr val="E3F2FB"/>
          </a:solidFill>
          <a:ln w="10938">
            <a:solidFill>
              <a:srgbClr val="9CC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6262" y="379168"/>
            <a:ext cx="1779171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F5FA8"/>
                </a:solidFill>
                <a:latin typeface="Meiryo"/>
                <a:ea typeface="Meiryo"/>
                <a:cs typeface="Meiryo"/>
              </a:rPr>
              <a:t>利用者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6262" y="612501"/>
            <a:ext cx="177917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（生産技術部員）</a:t>
            </a:r>
          </a:p>
        </p:txBody>
      </p:sp>
      <p:pic>
        <p:nvPicPr>
          <p:cNvPr id="14" name="icon material:groups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2930" y="685418"/>
            <a:ext cx="845835" cy="845835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833347" y="1451045"/>
            <a:ext cx="0" cy="692710"/>
          </a:xfrm>
          <a:prstGeom prst="line">
            <a:avLst/>
          </a:prstGeom>
          <a:ln w="29167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43765" y="1451045"/>
            <a:ext cx="0" cy="692710"/>
          </a:xfrm>
          <a:prstGeom prst="line">
            <a:avLst/>
          </a:prstGeom>
          <a:ln w="29167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66678" y="1553129"/>
            <a:ext cx="1203128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5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確定キーで検索</a:t>
            </a:r>
          </a:p>
          <a:p>
            <a:pPr algn="ctr">
              <a:lnSpc>
                <a:spcPts val="145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（UC1）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098" y="1553129"/>
            <a:ext cx="1093753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5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自然言語で質問</a:t>
            </a:r>
          </a:p>
          <a:p>
            <a:pPr algn="ctr">
              <a:lnSpc>
                <a:spcPts val="145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（UC2）</a:t>
            </a:r>
          </a:p>
        </p:txBody>
      </p:sp>
      <p:sp>
        <p:nvSpPr>
          <p:cNvPr id="19" name="dify"/>
          <p:cNvSpPr/>
          <p:nvPr/>
        </p:nvSpPr>
        <p:spPr>
          <a:xfrm>
            <a:off x="3908342" y="2165630"/>
            <a:ext cx="4375010" cy="1480212"/>
          </a:xfrm>
          <a:prstGeom prst="roundRect">
            <a:avLst>
              <a:gd name="adj" fmla="val 3940"/>
            </a:avLst>
          </a:prstGeom>
          <a:solidFill>
            <a:srgbClr val="F3F9FE"/>
          </a:solidFill>
          <a:ln w="14583">
            <a:solidFill>
              <a:srgbClr val="3F8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08342" y="2165630"/>
            <a:ext cx="4375010" cy="525001"/>
          </a:xfrm>
          <a:prstGeom prst="roundRect">
            <a:avLst>
              <a:gd name="adj" fmla="val 11111"/>
            </a:avLst>
          </a:prstGeom>
          <a:solidFill>
            <a:srgbClr val="166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08342" y="2479172"/>
            <a:ext cx="4375010" cy="211459"/>
          </a:xfrm>
          <a:prstGeom prst="rect">
            <a:avLst/>
          </a:prstGeom>
          <a:solidFill>
            <a:srgbClr val="166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8342" y="2202088"/>
            <a:ext cx="4375010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8342" y="2450006"/>
            <a:ext cx="4375010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（表示・オーケストレーション）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10426" y="2770840"/>
            <a:ext cx="1356253" cy="787502"/>
          </a:xfrm>
          <a:prstGeom prst="roundRect">
            <a:avLst>
              <a:gd name="adj" fmla="val 5555"/>
            </a:avLst>
          </a:prstGeom>
          <a:solidFill>
            <a:srgbClr val="E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lucide:message-square-mor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3552" y="2829173"/>
            <a:ext cx="350001" cy="33541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10426" y="3208341"/>
            <a:ext cx="1356253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ユーザーインターフェース</a:t>
            </a:r>
          </a:p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（入力・結果表示）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3346" y="2770840"/>
            <a:ext cx="1312503" cy="787502"/>
          </a:xfrm>
          <a:prstGeom prst="roundRect">
            <a:avLst>
              <a:gd name="adj" fmla="val 5555"/>
            </a:avLst>
          </a:prstGeom>
          <a:solidFill>
            <a:srgbClr val="E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lucide:network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4597" y="2829173"/>
            <a:ext cx="350001" cy="33541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3346" y="3208341"/>
            <a:ext cx="1312503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ワークフロー制御</a:t>
            </a:r>
          </a:p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（検索・生成の連携）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12516" y="2770840"/>
            <a:ext cx="1297920" cy="787502"/>
          </a:xfrm>
          <a:prstGeom prst="roundRect">
            <a:avLst>
              <a:gd name="adj" fmla="val 5555"/>
            </a:avLst>
          </a:prstGeom>
          <a:solidFill>
            <a:srgbClr val="E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 lucide:file-text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6475" y="2829173"/>
            <a:ext cx="350001" cy="33541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12516" y="3208341"/>
            <a:ext cx="1297920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プロンプト管理</a:t>
            </a:r>
          </a:p>
          <a:p>
            <a:pPr algn="ctr">
              <a:lnSpc>
                <a:spcPts val="1250"/>
              </a:lnSpc>
            </a:pPr>
            <a:r>
              <a:rPr sz="85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（テンプレート・履歴）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848" y="3667717"/>
            <a:ext cx="0" cy="379167"/>
          </a:xfrm>
          <a:prstGeom prst="line">
            <a:avLst/>
          </a:prstGeom>
          <a:ln w="43750">
            <a:solidFill>
              <a:srgbClr val="1665A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earch-api"/>
          <p:cNvSpPr/>
          <p:nvPr/>
        </p:nvSpPr>
        <p:spPr>
          <a:xfrm>
            <a:off x="3908342" y="4068759"/>
            <a:ext cx="4375010" cy="1210419"/>
          </a:xfrm>
          <a:prstGeom prst="roundRect">
            <a:avLst>
              <a:gd name="adj" fmla="val 4819"/>
            </a:avLst>
          </a:prstGeom>
          <a:solidFill>
            <a:srgbClr val="E3F2FC"/>
          </a:solidFill>
          <a:ln w="14583">
            <a:solidFill>
              <a:srgbClr val="3F8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 material:dns-fill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91677" y="4127093"/>
            <a:ext cx="481251" cy="4812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31262" y="4141676"/>
            <a:ext cx="2260422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共通検索API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1262" y="4375010"/>
            <a:ext cx="2260422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（検索・取得・確定処理）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10426" y="4666678"/>
            <a:ext cx="1443753" cy="554168"/>
          </a:xfrm>
          <a:prstGeom prst="roundRect">
            <a:avLst>
              <a:gd name="adj" fmla="val 7894"/>
            </a:avLst>
          </a:prstGeom>
          <a:solidFill>
            <a:srgbClr val="EF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検索処理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（構造化／全文／ベクトル）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8138" y="4666678"/>
            <a:ext cx="1203128" cy="554168"/>
          </a:xfrm>
          <a:prstGeom prst="roundRect">
            <a:avLst>
              <a:gd name="adj" fmla="val 7894"/>
            </a:avLst>
          </a:prstGeom>
          <a:solidFill>
            <a:srgbClr val="EF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RRF による</a:t>
            </a:r>
          </a:p>
          <a:p>
            <a:pPr algn="ctr">
              <a:lnSpc>
                <a:spcPts val="12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結果統合</a:t>
            </a:r>
          </a:p>
          <a:p>
            <a:pPr algn="ctr">
              <a:lnSpc>
                <a:spcPts val="12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（UC2）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97933" y="4666678"/>
            <a:ext cx="1283336" cy="554168"/>
          </a:xfrm>
          <a:prstGeom prst="roundRect">
            <a:avLst>
              <a:gd name="adj" fmla="val 7894"/>
            </a:avLst>
          </a:prstGeom>
          <a:solidFill>
            <a:srgbClr val="EF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確定処理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（版・適用判定 等）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126054" y="5301054"/>
            <a:ext cx="0" cy="218750"/>
          </a:xfrm>
          <a:prstGeom prst="line">
            <a:avLst/>
          </a:prstGeom>
          <a:ln w="36458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094808" y="5301054"/>
            <a:ext cx="0" cy="218750"/>
          </a:xfrm>
          <a:prstGeom prst="line">
            <a:avLst/>
          </a:prstGeom>
          <a:ln w="36458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ata-sources"/>
          <p:cNvSpPr/>
          <p:nvPr/>
        </p:nvSpPr>
        <p:spPr>
          <a:xfrm>
            <a:off x="3915634" y="5541680"/>
            <a:ext cx="4411469" cy="1181253"/>
          </a:xfrm>
          <a:prstGeom prst="roundRect">
            <a:avLst>
              <a:gd name="adj" fmla="val 4938"/>
            </a:avLst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5009" y="5570846"/>
            <a:ext cx="2187505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データソース（保存単位）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5009" y="5818764"/>
            <a:ext cx="2070838" cy="8312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 material:database-fill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7093" y="5891680"/>
            <a:ext cx="379168" cy="3937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462510" y="5862514"/>
            <a:ext cx="1633337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N-PLUS／TOS</a:t>
            </a:r>
          </a:p>
          <a:p>
            <a:pPr algn="ctr">
              <a:lnSpc>
                <a:spcPts val="15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（構造化データ）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5009" y="6285431"/>
            <a:ext cx="207083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保存単位：テーブルの1行</a:t>
            </a:r>
          </a:p>
          <a:p>
            <a:pPr algn="ctr">
              <a:lnSpc>
                <a:spcPts val="1200"/>
              </a:lnSpc>
            </a:pPr>
            <a:r>
              <a:rPr sz="80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（部品、工程、版、適用 など）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05223" y="5818764"/>
            <a:ext cx="2012505" cy="8312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icon material:file_copy-fill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07306" y="5891680"/>
            <a:ext cx="379168" cy="3937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42724" y="5862514"/>
            <a:ext cx="1575004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共有ファイル／JP 等</a:t>
            </a:r>
          </a:p>
          <a:p>
            <a:pPr algn="ctr">
              <a:lnSpc>
                <a:spcPts val="15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（非構造化データ）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5223" y="6285431"/>
            <a:ext cx="2012505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保存単位：ドキュメント</a:t>
            </a:r>
          </a:p>
          <a:p>
            <a:pPr algn="ctr">
              <a:lnSpc>
                <a:spcPts val="1200"/>
              </a:lnSpc>
            </a:pPr>
            <a:r>
              <a:rPr sz="800" b="0" i="0">
                <a:solidFill>
                  <a:srgbClr val="2F4468"/>
                </a:solidFill>
                <a:latin typeface="Meiryo"/>
                <a:ea typeface="Meiryo"/>
                <a:cs typeface="Meiryo"/>
              </a:rPr>
              <a:t>（ファイル、ページ、見出し、段落）</a:t>
            </a:r>
          </a:p>
        </p:txBody>
      </p:sp>
      <p:sp>
        <p:nvSpPr>
          <p:cNvPr id="53" name="uc1-input"/>
          <p:cNvSpPr/>
          <p:nvPr/>
        </p:nvSpPr>
        <p:spPr>
          <a:xfrm>
            <a:off x="320834" y="1516670"/>
            <a:ext cx="3237508" cy="1225003"/>
          </a:xfrm>
          <a:prstGeom prst="roundRect">
            <a:avLst>
              <a:gd name="adj" fmla="val 4761"/>
            </a:avLst>
          </a:pr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501" y="1575004"/>
            <a:ext cx="2187505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4E8C"/>
                </a:solidFill>
                <a:latin typeface="Meiryo"/>
                <a:ea typeface="Meiryo"/>
                <a:cs typeface="Meiryo"/>
              </a:rPr>
              <a:t>ユーザー入力（確定キー）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2918" y="1881254"/>
            <a:ext cx="568751" cy="72916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icon material:person-fill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2084" y="1968755"/>
            <a:ext cx="510418" cy="525001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239586" y="1873963"/>
            <a:ext cx="2202088" cy="74375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0938">
            <a:solidFill>
              <a:srgbClr val="9DB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56253" y="1939588"/>
            <a:ext cx="2070838" cy="6416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部品番号：12345-678</a:t>
            </a:r>
          </a:p>
          <a:p>
            <a:pPr algn="l">
              <a:lnSpc>
                <a:spcPts val="1600"/>
              </a:lnSpc>
            </a:pPr>
            <a:r>
              <a:rPr sz="10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工程番号：PRC-010</a:t>
            </a:r>
          </a:p>
          <a:p>
            <a:pPr algn="l">
              <a:lnSpc>
                <a:spcPts val="1600"/>
              </a:lnSpc>
            </a:pPr>
            <a:r>
              <a:rPr sz="10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その他の条件（必要に応じて）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54171" y="2756256"/>
            <a:ext cx="0" cy="320834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66668" y="3098966"/>
            <a:ext cx="2989590" cy="758335"/>
          </a:xfrm>
          <a:prstGeom prst="roundRect">
            <a:avLst>
              <a:gd name="adj" fmla="val 7692"/>
            </a:avLst>
          </a:prstGeom>
          <a:solidFill>
            <a:srgbClr val="D9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icon lucide:search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0002" y="3215632"/>
            <a:ext cx="452084" cy="452084"/>
          </a:xfrm>
          <a:prstGeom prst="rect">
            <a:avLst/>
          </a:prstGeom>
        </p:spPr>
      </p:pic>
      <p:pic>
        <p:nvPicPr>
          <p:cNvPr id="62" name="icon material:database-fill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6252" y="3412508"/>
            <a:ext cx="277084" cy="32083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02087" y="3281258"/>
            <a:ext cx="1822921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0"/>
              </a:lnSpc>
            </a:pPr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構造化検索</a:t>
            </a:r>
          </a:p>
          <a:p>
            <a:pPr algn="l">
              <a:lnSpc>
                <a:spcPts val="1650"/>
              </a:lnSpc>
            </a:pPr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（N-PLUS／TOS）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954171" y="3871884"/>
            <a:ext cx="0" cy="182292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668" y="4076051"/>
            <a:ext cx="2989590" cy="758335"/>
          </a:xfrm>
          <a:prstGeom prst="roundRect">
            <a:avLst>
              <a:gd name="adj" fmla="val 7692"/>
            </a:avLst>
          </a:prstGeom>
          <a:solidFill>
            <a:srgbClr val="D9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icon lucide:file-spreadsheet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418" y="4200010"/>
            <a:ext cx="510418" cy="51041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385420" y="4243760"/>
            <a:ext cx="1968755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0"/>
              </a:lnSpc>
            </a:pPr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TOS検索単位 1行を取得</a:t>
            </a:r>
          </a:p>
          <a:p>
            <a:pPr algn="l">
              <a:lnSpc>
                <a:spcPts val="1650"/>
              </a:lnSpc>
            </a:pPr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（構造化データ）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54171" y="4848970"/>
            <a:ext cx="0" cy="291667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uc1-result"/>
          <p:cNvSpPr/>
          <p:nvPr/>
        </p:nvSpPr>
        <p:spPr>
          <a:xfrm>
            <a:off x="306251" y="5162512"/>
            <a:ext cx="3237508" cy="1341670"/>
          </a:xfrm>
          <a:prstGeom prst="roundRect">
            <a:avLst>
              <a:gd name="adj" fmla="val 4347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2918" y="5235429"/>
            <a:ext cx="2187505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結果提示（Dify の画面）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2918" y="5483346"/>
            <a:ext cx="3018757" cy="904169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icon lucide:table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3335" y="5614596"/>
            <a:ext cx="466668" cy="48125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356253" y="5556263"/>
            <a:ext cx="2114588" cy="802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取得した1行の内容</a:t>
            </a:r>
          </a:p>
          <a:p>
            <a:pPr algn="l">
              <a:lnSpc>
                <a:spcPts val="155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版情報・適用情報</a:t>
            </a:r>
          </a:p>
          <a:p>
            <a:pPr algn="l">
              <a:lnSpc>
                <a:spcPts val="155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取得元（システム／テーブル等）</a:t>
            </a:r>
          </a:p>
          <a:p>
            <a:pPr algn="l">
              <a:lnSpc>
                <a:spcPts val="155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根拠の表示</a:t>
            </a:r>
          </a:p>
        </p:txBody>
      </p:sp>
      <p:sp>
        <p:nvSpPr>
          <p:cNvPr id="74" name="Freeform 73"/>
          <p:cNvSpPr/>
          <p:nvPr/>
        </p:nvSpPr>
        <p:spPr>
          <a:xfrm>
            <a:off x="3558342" y="2566673"/>
            <a:ext cx="350000" cy="1968754"/>
          </a:xfrm>
          <a:custGeom>
            <a:avLst/>
            <a:gdLst/>
            <a:ahLst/>
            <a:cxnLst/>
            <a:rect l="l" t="t" r="r" b="b"/>
            <a:pathLst>
              <a:path w="350000" h="1968754">
                <a:moveTo>
                  <a:pt x="350000" y="0"/>
                </a:moveTo>
                <a:lnTo>
                  <a:pt x="189583" y="0"/>
                </a:lnTo>
                <a:lnTo>
                  <a:pt x="189583" y="1968754"/>
                </a:lnTo>
                <a:lnTo>
                  <a:pt x="0" y="1968754"/>
                </a:lnTo>
              </a:path>
            </a:pathLst>
          </a:custGeom>
          <a:noFill/>
          <a:ln w="21875">
            <a:solidFill>
              <a:srgbClr val="1665A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283353" y="2566673"/>
            <a:ext cx="379167" cy="2012504"/>
          </a:xfrm>
          <a:custGeom>
            <a:avLst/>
            <a:gdLst/>
            <a:ahLst/>
            <a:cxnLst/>
            <a:rect l="l" t="t" r="r" b="b"/>
            <a:pathLst>
              <a:path w="379167" h="2012504">
                <a:moveTo>
                  <a:pt x="0" y="0"/>
                </a:moveTo>
                <a:lnTo>
                  <a:pt x="160417" y="0"/>
                </a:lnTo>
                <a:lnTo>
                  <a:pt x="160417" y="2012504"/>
                </a:lnTo>
                <a:lnTo>
                  <a:pt x="379167" y="2012504"/>
                </a:lnTo>
              </a:path>
            </a:pathLst>
          </a:custGeom>
          <a:noFill/>
          <a:ln w="21875">
            <a:solidFill>
              <a:srgbClr val="1665A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uc2-input"/>
          <p:cNvSpPr/>
          <p:nvPr/>
        </p:nvSpPr>
        <p:spPr>
          <a:xfrm>
            <a:off x="8633353" y="1531254"/>
            <a:ext cx="3266674" cy="1166669"/>
          </a:xfrm>
          <a:prstGeom prst="roundRect">
            <a:avLst>
              <a:gd name="adj" fmla="val 5000"/>
            </a:avLst>
          </a:pr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50020" y="1589587"/>
            <a:ext cx="2916673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4E8C"/>
                </a:solidFill>
                <a:latin typeface="Meiryo"/>
                <a:ea typeface="Meiryo"/>
                <a:cs typeface="Meiryo"/>
              </a:rPr>
              <a:t>ユーザー入力（自然言語の問い）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5437" y="1932296"/>
            <a:ext cx="568751" cy="67083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icon material:person-fill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64604" y="1997921"/>
            <a:ext cx="510418" cy="525001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9501064" y="1932296"/>
            <a:ext cx="2289589" cy="6416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938">
            <a:solidFill>
              <a:srgbClr val="9DB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01064" y="1983338"/>
            <a:ext cx="2289589" cy="5395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50"/>
              </a:lnSpc>
            </a:pPr>
            <a:r>
              <a:rPr sz="10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「この部品の過去の不具合事例と</a:t>
            </a:r>
          </a:p>
          <a:p>
            <a:pPr algn="ctr">
              <a:lnSpc>
                <a:spcPts val="1550"/>
              </a:lnSpc>
            </a:pPr>
            <a:r>
              <a:rPr sz="10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対応方法を教えてください」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303149" y="2712506"/>
            <a:ext cx="0" cy="218751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8713562" y="2953132"/>
            <a:ext cx="3186466" cy="1064586"/>
          </a:xfrm>
          <a:prstGeom prst="roundRect">
            <a:avLst>
              <a:gd name="adj" fmla="val 5479"/>
            </a:avLst>
          </a:prstGeom>
          <a:solidFill>
            <a:srgbClr val="D9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13562" y="3033340"/>
            <a:ext cx="3186466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見出し付きチャンクに対する検索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837521" y="3339591"/>
            <a:ext cx="1414587" cy="568751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icon lucide:search" descr="image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983354" y="3441675"/>
            <a:ext cx="379168" cy="37916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362522" y="3427091"/>
            <a:ext cx="889585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全文検索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（BM25）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368774" y="3339591"/>
            <a:ext cx="1414587" cy="568751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icon material:hub-fill" descr="image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514608" y="3441675"/>
            <a:ext cx="379168" cy="379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0893775" y="3427091"/>
            <a:ext cx="889585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ベクトル検索</a:t>
            </a:r>
          </a:p>
          <a:p>
            <a:pPr algn="ctr">
              <a:lnSpc>
                <a:spcPts val="1400"/>
              </a:lnSpc>
            </a:pPr>
            <a:r>
              <a:rPr sz="9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（意味的類似）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0303149" y="4032301"/>
            <a:ext cx="0" cy="196875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8713562" y="4258343"/>
            <a:ext cx="3186466" cy="758335"/>
          </a:xfrm>
          <a:prstGeom prst="roundRect">
            <a:avLst>
              <a:gd name="adj" fmla="val 7692"/>
            </a:avLst>
          </a:prstGeom>
          <a:solidFill>
            <a:srgbClr val="D9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icon lucide:list" descr="image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81271" y="4418760"/>
            <a:ext cx="437501" cy="437501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464605" y="4331260"/>
            <a:ext cx="2333339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RRF による結果統合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64605" y="4564594"/>
            <a:ext cx="2406256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全文検索とベクトル検索の結果を</a:t>
            </a:r>
          </a:p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RRF で統合し、関連度順にランキング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303149" y="5031262"/>
            <a:ext cx="0" cy="204167"/>
          </a:xfrm>
          <a:prstGeom prst="line">
            <a:avLst/>
          </a:prstGeom>
          <a:ln w="21875">
            <a:solidFill>
              <a:srgbClr val="1665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uc2-result"/>
          <p:cNvSpPr/>
          <p:nvPr/>
        </p:nvSpPr>
        <p:spPr>
          <a:xfrm>
            <a:off x="8677103" y="5264596"/>
            <a:ext cx="3237508" cy="1341670"/>
          </a:xfrm>
          <a:prstGeom prst="roundRect">
            <a:avLst>
              <a:gd name="adj" fmla="val 4347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93770" y="5337512"/>
            <a:ext cx="2187505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結果提示（Dify の画面）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79187" y="5600013"/>
            <a:ext cx="3018757" cy="8750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icon lucide:file-text" descr="image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895854" y="5716680"/>
            <a:ext cx="452084" cy="48125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508355" y="5658346"/>
            <a:ext cx="2289589" cy="802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関連する文書の一覧（タイトル・見出し）</a:t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該当箇所の抜粋（ハイライト）</a:t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取得元（ファイル名・パス 等）</a:t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•  根拠箇所の表示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
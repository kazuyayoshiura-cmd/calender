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10.svg" ContentType="image/svg+xml"/>
  <Override PartName="/ppt/media/icon_svg11.svg" ContentType="image/svg+xml"/>
  <Override PartName="/ppt/media/icon_svg12.svg" ContentType="image/svg+xml"/>
  <Override PartName="/ppt/media/icon_svg13.svg" ContentType="image/svg+xml"/>
  <Override PartName="/ppt/media/icon_svg14.svg" ContentType="image/svg+xml"/>
  <Override PartName="/ppt/media/icon_svg15.svg" ContentType="image/svg+xml"/>
  <Override PartName="/ppt/media/icon_svg16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media/icon_svg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mage6.png"/><Relationship Id="rId13" Type="http://schemas.openxmlformats.org/officeDocument/2006/relationships/image" Target="../media/icon_svg6.svg"/><Relationship Id="rId14" Type="http://schemas.openxmlformats.org/officeDocument/2006/relationships/image" Target="../media/image7.png"/><Relationship Id="rId15" Type="http://schemas.openxmlformats.org/officeDocument/2006/relationships/image" Target="../media/icon_svg7.svg"/><Relationship Id="rId16" Type="http://schemas.openxmlformats.org/officeDocument/2006/relationships/image" Target="../media/image8.png"/><Relationship Id="rId17" Type="http://schemas.openxmlformats.org/officeDocument/2006/relationships/image" Target="../media/icon_svg8.svg"/><Relationship Id="rId18" Type="http://schemas.openxmlformats.org/officeDocument/2006/relationships/image" Target="../media/image9.png"/><Relationship Id="rId19" Type="http://schemas.openxmlformats.org/officeDocument/2006/relationships/image" Target="../media/icon_svg9.svg"/><Relationship Id="rId20" Type="http://schemas.openxmlformats.org/officeDocument/2006/relationships/image" Target="../media/image10.png"/><Relationship Id="rId21" Type="http://schemas.openxmlformats.org/officeDocument/2006/relationships/image" Target="../media/icon_svg10.svg"/><Relationship Id="rId22" Type="http://schemas.openxmlformats.org/officeDocument/2006/relationships/image" Target="../media/image11.png"/><Relationship Id="rId23" Type="http://schemas.openxmlformats.org/officeDocument/2006/relationships/image" Target="../media/icon_svg11.svg"/><Relationship Id="rId24" Type="http://schemas.openxmlformats.org/officeDocument/2006/relationships/image" Target="../media/image12.png"/><Relationship Id="rId25" Type="http://schemas.openxmlformats.org/officeDocument/2006/relationships/image" Target="../media/icon_svg12.svg"/><Relationship Id="rId26" Type="http://schemas.openxmlformats.org/officeDocument/2006/relationships/image" Target="../media/icon_svg13.svg"/><Relationship Id="rId27" Type="http://schemas.openxmlformats.org/officeDocument/2006/relationships/image" Target="../media/image13.png"/><Relationship Id="rId28" Type="http://schemas.openxmlformats.org/officeDocument/2006/relationships/image" Target="../media/icon_svg14.svg"/><Relationship Id="rId29" Type="http://schemas.openxmlformats.org/officeDocument/2006/relationships/image" Target="../media/image14.png"/><Relationship Id="rId30" Type="http://schemas.openxmlformats.org/officeDocument/2006/relationships/image" Target="../media/icon_svg15.svg"/><Relationship Id="rId31" Type="http://schemas.openxmlformats.org/officeDocument/2006/relationships/image" Target="../media/image15.png"/><Relationship Id="rId32" Type="http://schemas.openxmlformats.org/officeDocument/2006/relationships/image" Target="../media/icon_svg16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45834" y="29167"/>
            <a:ext cx="3937509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0B1F4F"/>
                </a:solidFill>
                <a:latin typeface="Meiryo"/>
                <a:ea typeface="Meiryo"/>
                <a:cs typeface="Meiryo"/>
              </a:rPr>
              <a:t>表2-1　コンポーネント一覧</a:t>
            </a:r>
          </a:p>
        </p:txBody>
      </p:sp>
      <p:graphicFrame>
        <p:nvGraphicFramePr>
          <p:cNvPr id="3" name="component-table"/>
          <p:cNvGraphicFramePr>
            <a:graphicFrameLocks noGrp="1"/>
          </p:cNvGraphicFramePr>
          <p:nvPr/>
        </p:nvGraphicFramePr>
        <p:xfrm>
          <a:off x="123959" y="422918"/>
          <a:ext cx="11958361" cy="639480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59379"/>
                <a:gridCol w="2858340"/>
                <a:gridCol w="4214593"/>
                <a:gridCol w="3026049"/>
              </a:tblGrid>
              <a:tr h="313542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レイヤ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0275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コンポーネント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0275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0275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代表技術・製品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0275F"/>
                    </a:solidFill>
                  </a:tcPr>
                </a:tc>
              </a:tr>
              <a:tr h="590626">
                <a:tc>
                  <a:txBody>
                    <a:bodyPr wrap="square" lIns="525001" tIns="14583" rIns="7292" bIns="14583" anchor="ctr">
                      <a:noAutofit/>
                    </a:bodyPr>
                    <a:lstStyle/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利用者・対話</a:t>
                      </a:r>
                    </a:p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（生産技術部員）</a:t>
                      </a:r>
                    </a:p>
                  </a:txBody>
                  <a:tcPr marL="525001" marT="14583" marR="7292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0418F"/>
                    </a:solidFill>
                  </a:tcPr>
                </a:tc>
                <a:tc>
                  <a:txBody>
                    <a:bodyPr wrap="square" lIns="875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1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Webブラウザ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0" i="0">
                          <a:solidFill>
                            <a:srgbClr val="2A3F66"/>
                          </a:solidFill>
                          <a:latin typeface="Meiryo"/>
                          <a:ea typeface="Meiryo"/>
                          <a:cs typeface="Meiryo"/>
                        </a:rPr>
                        <a:t>（チャットUI）</a:t>
                      </a:r>
                    </a:p>
                  </a:txBody>
                  <a:tcPr marL="875002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生産技術部員が自然言語や確定キーで質問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回答結果（テーブル・要約・関連文書・リンク）を閲覧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認証後、社内ネットワークからアクセス</a:t>
                      </a:r>
                    </a:p>
                  </a:txBody>
                  <a:tcPr marL="145834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  <a:tc>
                  <a:txBody>
                    <a:bodyPr wrap="square" lIns="1750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Edge / Chrome 等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（社内クライアントPCのWebブラウザ）</a:t>
                      </a:r>
                    </a:p>
                  </a:txBody>
                  <a:tcPr marL="1750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</a:tr>
              <a:tr h="583335">
                <a:tc rowSpan="2">
                  <a:txBody>
                    <a:bodyPr wrap="square" lIns="525001" tIns="14583" rIns="7292" bIns="14583" anchor="ctr">
                      <a:noAutofit/>
                    </a:bodyPr>
                    <a:lstStyle/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オーケストレーション</a:t>
                      </a:r>
                    </a:p>
                    <a:p>
                      <a:pPr algn="l">
                        <a:lnSpc>
                          <a:spcPts val="165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（部員が触る層）</a:t>
                      </a:r>
                    </a:p>
                  </a:txBody>
                  <a:tcPr marL="525001" marT="14583" marR="7292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4EAAF4"/>
                    </a:solidFill>
                  </a:tcPr>
                </a:tc>
                <a:tc>
                  <a:txBody>
                    <a:bodyPr wrap="square" lIns="875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1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Dify CE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0" i="0">
                          <a:solidFill>
                            <a:srgbClr val="2A3F66"/>
                          </a:solidFill>
                          <a:latin typeface="Meiryo"/>
                          <a:ea typeface="Meiryo"/>
                          <a:cs typeface="Meiryo"/>
                        </a:rPr>
                        <a:t>（チャットUI／ワークフロー）</a:t>
                      </a:r>
                    </a:p>
                  </a:txBody>
                  <a:tcPr marL="875002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チャットUIの提供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ワークフローDSLによる処理フローの定義（分岐・文言・表示項目）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検索APIをOpenAPIで呼び出し、結果を表示</a:t>
                      </a:r>
                    </a:p>
                  </a:txBody>
                  <a:tcPr marL="145834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  <a:tc>
                  <a:txBody>
                    <a:bodyPr wrap="square" lIns="1750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Dify Community Edition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（Docker）</a:t>
                      </a:r>
                    </a:p>
                  </a:txBody>
                  <a:tcPr marL="1750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</a:tr>
              <a:tr h="52500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875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1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DifyのDSL・設定管理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0" i="0">
                          <a:solidFill>
                            <a:srgbClr val="2A3F66"/>
                          </a:solidFill>
                          <a:latin typeface="Meiryo"/>
                          <a:ea typeface="Meiryo"/>
                          <a:cs typeface="Meiryo"/>
                        </a:rPr>
                        <a:t>（Git）</a:t>
                      </a:r>
                    </a:p>
                  </a:txBody>
                  <a:tcPr marL="875002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ワークフローのテンプレート管理・バージョン管理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変更履歴・差分・レビュー・ロールバック</a:t>
                      </a:r>
                    </a:p>
                  </a:txBody>
                  <a:tcPr marL="145834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  <a:tc>
                  <a:txBody>
                    <a:bodyPr wrap="square" lIns="1750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Git（社内Gitサーバ）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Dify Export/Import（DSL YAML）</a:t>
                      </a:r>
                    </a:p>
                  </a:txBody>
                  <a:tcPr marL="1750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</a:tr>
              <a:tr h="736460">
                <a:tc rowSpan="2">
                  <a:txBody>
                    <a:bodyPr wrap="square" lIns="525001" tIns="14583" rIns="7292" bIns="14583" anchor="ctr">
                      <a:noAutofit/>
                    </a:bodyPr>
                    <a:lstStyle/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ドメインAPI・検索</a:t>
                      </a:r>
                    </a:p>
                    <a:p>
                      <a:pPr algn="l">
                        <a:lnSpc>
                          <a:spcPts val="165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（開発者が守る層）</a:t>
                      </a:r>
                    </a:p>
                  </a:txBody>
                  <a:tcPr marL="525001" marT="14583" marR="7292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5DADEB"/>
                    </a:solidFill>
                  </a:tcPr>
                </a:tc>
                <a:tc>
                  <a:txBody>
                    <a:bodyPr wrap="square" lIns="875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1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検索API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0" i="0">
                          <a:solidFill>
                            <a:srgbClr val="2A3F66"/>
                          </a:solidFill>
                          <a:latin typeface="Meiryo"/>
                          <a:ea typeface="Meiryo"/>
                          <a:cs typeface="Meiryo"/>
                        </a:rPr>
                        <a:t>（FastAPI）</a:t>
                      </a:r>
                    </a:p>
                  </a:txBody>
                  <a:tcPr marL="875002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質問解釈（LLMによる抽出＋コード検証）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用語辞書・正規化・ルーティング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構造化検索（SQL）・全文検索（BM25）・ベクトル検索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RRFによる結果統合・必須条件フィルタ・版・適用判定・根拠アセンブリ</a:t>
                      </a:r>
                    </a:p>
                  </a:txBody>
                  <a:tcPr marL="145834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  <a:tc>
                  <a:txBody>
                    <a:bodyPr wrap="square" lIns="1750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FastAPI（Docker）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Python</a:t>
                      </a:r>
                    </a:p>
                  </a:txBody>
                  <a:tcPr marL="1750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</a:tr>
              <a:tr h="4812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875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1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用語辞書・正規化辞書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0" i="0">
                          <a:solidFill>
                            <a:srgbClr val="2A3F66"/>
                          </a:solidFill>
                          <a:latin typeface="Meiryo"/>
                          <a:ea typeface="Meiryo"/>
                          <a:cs typeface="Meiryo"/>
                        </a:rPr>
                        <a:t>（ドメイン知識）</a:t>
                      </a:r>
                    </a:p>
                  </a:txBody>
                  <a:tcPr marL="875002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社内用語・略語・部品番号・工程名等の正規化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検索クエリの拡張・同義語処理</a:t>
                      </a:r>
                    </a:p>
                  </a:txBody>
                  <a:tcPr marL="145834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  <a:tc>
                  <a:txBody>
                    <a:bodyPr wrap="square" lIns="1750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PostgreSQL（辞書テーブル）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（または設定ファイル）</a:t>
                      </a:r>
                    </a:p>
                  </a:txBody>
                  <a:tcPr marL="1750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AFE"/>
                    </a:solidFill>
                  </a:tcPr>
                </a:tc>
              </a:tr>
              <a:tr h="488543">
                <a:tc rowSpan="3">
                  <a:txBody>
                    <a:bodyPr wrap="square" lIns="525001" tIns="14583" rIns="7292" bIns="14583" anchor="ctr">
                      <a:noAutofit/>
                    </a:bodyPr>
                    <a:lstStyle/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2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データ</a:t>
                      </a:r>
                    </a:p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1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（検索基盤）</a:t>
                      </a:r>
                    </a:p>
                  </a:txBody>
                  <a:tcPr marL="525001" marT="14583" marR="7292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D2EDFE"/>
                    </a:solidFill>
                  </a:tcPr>
                </a:tc>
                <a:tc>
                  <a:txBody>
                    <a:bodyPr wrap="square" lIns="875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1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PostgreSQL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0" i="0">
                          <a:solidFill>
                            <a:srgbClr val="2A3F66"/>
                          </a:solidFill>
                          <a:latin typeface="Meiryo"/>
                          <a:ea typeface="Meiryo"/>
                          <a:cs typeface="Meiryo"/>
                        </a:rPr>
                        <a:t>（中間DB）</a:t>
                      </a:r>
                    </a:p>
                  </a:txBody>
                  <a:tcPr marL="875002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9FE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N-PLUSの構造化データ（TOS検索単位・文書メタ・版・適用情報）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用語辞書・正規化辞書・ログ・評価データ等の格納</a:t>
                      </a:r>
                    </a:p>
                  </a:txBody>
                  <a:tcPr marL="145834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9FE"/>
                    </a:solidFill>
                  </a:tcPr>
                </a:tc>
                <a:tc>
                  <a:txBody>
                    <a:bodyPr wrap="square" lIns="1750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PostgreSQL 16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（Docker）</a:t>
                      </a:r>
                    </a:p>
                  </a:txBody>
                  <a:tcPr marL="1750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9FE"/>
                    </a:solidFill>
                  </a:tcPr>
                </a:tc>
              </a:tr>
              <a:tr h="57604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875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1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OpenSearch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0" i="0">
                          <a:solidFill>
                            <a:srgbClr val="2A3F66"/>
                          </a:solidFill>
                          <a:latin typeface="Meiryo"/>
                          <a:ea typeface="Meiryo"/>
                          <a:cs typeface="Meiryo"/>
                        </a:rPr>
                        <a:t>（全文＋ベクトル検索）</a:t>
                      </a:r>
                    </a:p>
                  </a:txBody>
                  <a:tcPr marL="875002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9FE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共有文書・技術資料の全文検索（BM25）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文書チャンクのベクトル検索（Embedding）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検索インデックス・メタデータの管理</a:t>
                      </a:r>
                    </a:p>
                  </a:txBody>
                  <a:tcPr marL="145834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9FE"/>
                    </a:solidFill>
                  </a:tcPr>
                </a:tc>
                <a:tc>
                  <a:txBody>
                    <a:bodyPr wrap="square" lIns="1750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OpenSearch 2.x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（Docker）</a:t>
                      </a:r>
                    </a:p>
                  </a:txBody>
                  <a:tcPr marL="1750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9FE"/>
                    </a:solidFill>
                  </a:tcPr>
                </a:tc>
              </a:tr>
              <a:tr h="58333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875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1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文書抽出・チャンク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0" i="0">
                          <a:solidFill>
                            <a:srgbClr val="2A3F66"/>
                          </a:solidFill>
                          <a:latin typeface="Meiryo"/>
                          <a:ea typeface="Meiryo"/>
                          <a:cs typeface="Meiryo"/>
                        </a:rPr>
                        <a:t>（取込バッチ）</a:t>
                      </a:r>
                    </a:p>
                  </a:txBody>
                  <a:tcPr marL="875002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9FE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Word／Excel／PDFから本文・表を抽出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見出し付きチャンクに分割・メタデータ付与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N-PLUSのCSV（12表）をJOIN・コード変換・文脈化して取込</a:t>
                      </a:r>
                    </a:p>
                  </a:txBody>
                  <a:tcPr marL="145834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9FE"/>
                    </a:solidFill>
                  </a:tcPr>
                </a:tc>
                <a:tc>
                  <a:txBody>
                    <a:bodyPr wrap="square" lIns="1750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Docling / unstructured 等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Python（バッチ処理）</a:t>
                      </a:r>
                    </a:p>
                  </a:txBody>
                  <a:tcPr marL="1750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9FE"/>
                    </a:solidFill>
                  </a:tcPr>
                </a:tc>
              </a:tr>
              <a:tr h="539585">
                <a:tc rowSpan="3">
                  <a:txBody>
                    <a:bodyPr wrap="square" lIns="525001" tIns="14583" rIns="7292" bIns="14583" anchor="ctr">
                      <a:noAutofit/>
                    </a:bodyPr>
                    <a:lstStyle/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2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基盤</a:t>
                      </a:r>
                    </a:p>
                    <a:p>
                      <a:pPr algn="l">
                        <a:lnSpc>
                          <a:spcPts val="1650"/>
                        </a:lnSpc>
                      </a:pPr>
                      <a:r>
                        <a:rPr sz="7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（モデル・インフラ・運用）</a:t>
                      </a:r>
                    </a:p>
                  </a:txBody>
                  <a:tcPr marL="525001" marT="14583" marR="7292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E5E5"/>
                    </a:solidFill>
                  </a:tcPr>
                </a:tc>
                <a:tc>
                  <a:txBody>
                    <a:bodyPr wrap="square" lIns="875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90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LLM／Embedding／Reranker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0" i="0">
                          <a:solidFill>
                            <a:srgbClr val="2A3F66"/>
                          </a:solidFill>
                          <a:latin typeface="Meiryo"/>
                          <a:ea typeface="Meiryo"/>
                          <a:cs typeface="Meiryo"/>
                        </a:rPr>
                        <a:t>（推論モデル）</a:t>
                      </a:r>
                    </a:p>
                  </a:txBody>
                  <a:tcPr marL="875002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6F8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LLM：質問解釈・根拠付き説明生成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Embedding：文書のベクトル化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Reranker：検索結果の再ランキング（任意）</a:t>
                      </a:r>
                    </a:p>
                  </a:txBody>
                  <a:tcPr marL="145834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6F8"/>
                    </a:solidFill>
                  </a:tcPr>
                </a:tc>
                <a:tc>
                  <a:txBody>
                    <a:bodyPr wrap="square" lIns="1750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vLLM（aarch64）／llama.cpp</a:t>
                      </a:r>
                    </a:p>
                    <a:p>
                      <a:pPr algn="l">
                        <a:lnSpc>
                          <a:spcPts val="12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日本製・オープンモデル 等</a:t>
                      </a:r>
                    </a:p>
                    <a:p>
                      <a:pPr algn="l">
                        <a:lnSpc>
                          <a:spcPts val="12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（Docker）</a:t>
                      </a:r>
                    </a:p>
                  </a:txBody>
                  <a:tcPr marL="1750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6F8"/>
                    </a:solidFill>
                  </a:tcPr>
                </a:tc>
              </a:tr>
              <a:tr h="44479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875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1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NVIDIA DGX Spark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0" i="0">
                          <a:solidFill>
                            <a:srgbClr val="2A3F66"/>
                          </a:solidFill>
                          <a:latin typeface="Meiryo"/>
                          <a:ea typeface="Meiryo"/>
                          <a:cs typeface="Meiryo"/>
                        </a:rPr>
                        <a:t>（実行環境）</a:t>
                      </a:r>
                    </a:p>
                  </a:txBody>
                  <a:tcPr marL="875002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6F8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全コンポーネントのコンテナ実行基盤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GPUによる推論・ベクトル化の高速実行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外部通信遮断（社内ネットワーク内で完結）</a:t>
                      </a:r>
                    </a:p>
                  </a:txBody>
                  <a:tcPr marL="145834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6F8"/>
                    </a:solidFill>
                  </a:tcPr>
                </a:tc>
                <a:tc>
                  <a:txBody>
                    <a:bodyPr wrap="square" lIns="1750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NVIDIA DGX Spark</a:t>
                      </a:r>
                    </a:p>
                    <a:p>
                      <a:pPr algn="l">
                        <a:lnSpc>
                          <a:spcPts val="12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（NVIDIA Grace Blackwell, 128GB 統合メモリ）</a:t>
                      </a:r>
                    </a:p>
                    <a:p>
                      <a:pPr algn="l">
                        <a:lnSpc>
                          <a:spcPts val="12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Docker / NVIDIA Container Toolkit</a:t>
                      </a:r>
                    </a:p>
                  </a:txBody>
                  <a:tcPr marL="1750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6F8"/>
                    </a:solidFill>
                  </a:tcPr>
                </a:tc>
              </a:tr>
              <a:tr h="53229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875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150" b="1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ログ・評価データ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0" i="0">
                          <a:solidFill>
                            <a:srgbClr val="2A3F66"/>
                          </a:solidFill>
                          <a:latin typeface="Meiryo"/>
                          <a:ea typeface="Meiryo"/>
                          <a:cs typeface="Meiryo"/>
                        </a:rPr>
                        <a:t>（運用・品質管理）</a:t>
                      </a:r>
                    </a:p>
                  </a:txBody>
                  <a:tcPr marL="875002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6F8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利用ログ（質問・回答・クリック等）の記録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評価用の正答・許容回答・必要根拠データの管理</a:t>
                      </a:r>
                    </a:p>
                    <a:p>
                      <a:pPr algn="l">
                        <a:lnSpc>
                          <a:spcPts val="1300"/>
                        </a:lnSpc>
                      </a:pPr>
                      <a:r>
                        <a:rPr sz="90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•  精度評価（RAGAS等）と改善に利用</a:t>
                      </a:r>
                    </a:p>
                  </a:txBody>
                  <a:tcPr marL="145834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6F8"/>
                    </a:solidFill>
                  </a:tcPr>
                </a:tc>
                <a:tc>
                  <a:txBody>
                    <a:bodyPr wrap="square" lIns="1750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PostgreSQL（ログ・評価テーブル）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050" b="0" i="0">
                          <a:solidFill>
                            <a:srgbClr val="0B2350"/>
                          </a:solidFill>
                          <a:latin typeface="Meiryo"/>
                          <a:ea typeface="Meiryo"/>
                          <a:cs typeface="Meiryo"/>
                        </a:rPr>
                        <a:t>RAGAS＋自作スクリプト（Python）</a:t>
                      </a:r>
                    </a:p>
                  </a:txBody>
                  <a:tcPr marL="1750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pic>
        <p:nvPicPr>
          <p:cNvPr id="4" name="icon material:groups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751" y="823960"/>
            <a:ext cx="422918" cy="422918"/>
          </a:xfrm>
          <a:prstGeom prst="rect">
            <a:avLst/>
          </a:prstGeom>
        </p:spPr>
      </p:pic>
      <p:pic>
        <p:nvPicPr>
          <p:cNvPr id="5" name="icon material:sms-fill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8751" y="1662504"/>
            <a:ext cx="422918" cy="422918"/>
          </a:xfrm>
          <a:prstGeom prst="rect">
            <a:avLst/>
          </a:prstGeom>
        </p:spPr>
      </p:pic>
      <p:pic>
        <p:nvPicPr>
          <p:cNvPr id="6" name="icon lucide:settings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751" y="2843757"/>
            <a:ext cx="422918" cy="422918"/>
          </a:xfrm>
          <a:prstGeom prst="rect">
            <a:avLst/>
          </a:prstGeom>
        </p:spPr>
      </p:pic>
      <p:pic>
        <p:nvPicPr>
          <p:cNvPr id="7" name="icon lucide:database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8751" y="4294802"/>
            <a:ext cx="422918" cy="422918"/>
          </a:xfrm>
          <a:prstGeom prst="rect">
            <a:avLst/>
          </a:prstGeom>
        </p:spPr>
      </p:pic>
      <p:pic>
        <p:nvPicPr>
          <p:cNvPr id="8" name="icon lucide:server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8751" y="5833347"/>
            <a:ext cx="422918" cy="422918"/>
          </a:xfrm>
          <a:prstGeom prst="rect">
            <a:avLst/>
          </a:prstGeom>
        </p:spPr>
      </p:pic>
      <p:pic>
        <p:nvPicPr>
          <p:cNvPr id="9" name="icon lucide:laptop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87505" y="827606"/>
            <a:ext cx="408334" cy="408334"/>
          </a:xfrm>
          <a:prstGeom prst="rect">
            <a:avLst/>
          </a:prstGeom>
        </p:spPr>
      </p:pic>
      <p:pic>
        <p:nvPicPr>
          <p:cNvPr id="10" name="icon lucide:workflow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87505" y="1414587"/>
            <a:ext cx="408334" cy="408334"/>
          </a:xfrm>
          <a:prstGeom prst="rect">
            <a:avLst/>
          </a:prstGeom>
        </p:spPr>
      </p:pic>
      <p:pic>
        <p:nvPicPr>
          <p:cNvPr id="11" name="icon lucide:file-text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87505" y="1968755"/>
            <a:ext cx="408334" cy="408334"/>
          </a:xfrm>
          <a:prstGeom prst="rect">
            <a:avLst/>
          </a:prstGeom>
        </p:spPr>
      </p:pic>
      <p:pic>
        <p:nvPicPr>
          <p:cNvPr id="12" name="icon lucide:settings" descr="image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187505" y="2599485"/>
            <a:ext cx="408334" cy="408334"/>
          </a:xfrm>
          <a:prstGeom prst="rect">
            <a:avLst/>
          </a:prstGeom>
        </p:spPr>
      </p:pic>
      <p:pic>
        <p:nvPicPr>
          <p:cNvPr id="13" name="icon lucide:book-a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187505" y="3208341"/>
            <a:ext cx="408334" cy="408334"/>
          </a:xfrm>
          <a:prstGeom prst="rect">
            <a:avLst/>
          </a:prstGeom>
        </p:spPr>
      </p:pic>
      <p:pic>
        <p:nvPicPr>
          <p:cNvPr id="14" name="icon lucide:database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87505" y="3693238"/>
            <a:ext cx="408334" cy="408334"/>
          </a:xfrm>
          <a:prstGeom prst="rect">
            <a:avLst/>
          </a:prstGeom>
        </p:spPr>
      </p:pic>
      <p:pic>
        <p:nvPicPr>
          <p:cNvPr id="15" name="icon lucide:search" descr="image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187505" y="4225531"/>
            <a:ext cx="408334" cy="408334"/>
          </a:xfrm>
          <a:prstGeom prst="rect">
            <a:avLst/>
          </a:prstGeom>
        </p:spPr>
      </p:pic>
      <p:pic>
        <p:nvPicPr>
          <p:cNvPr id="16" name="icon lucide:file-text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87505" y="4805220"/>
            <a:ext cx="408334" cy="408334"/>
          </a:xfrm>
          <a:prstGeom prst="rect">
            <a:avLst/>
          </a:prstGeom>
        </p:spPr>
      </p:pic>
      <p:pic>
        <p:nvPicPr>
          <p:cNvPr id="17" name="icon lucide:brain" descr="image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187505" y="5366679"/>
            <a:ext cx="408334" cy="408334"/>
          </a:xfrm>
          <a:prstGeom prst="rect">
            <a:avLst/>
          </a:prstGeom>
        </p:spPr>
      </p:pic>
      <p:pic>
        <p:nvPicPr>
          <p:cNvPr id="18" name="icon lucide:server" descr="image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187505" y="5858868"/>
            <a:ext cx="408334" cy="408334"/>
          </a:xfrm>
          <a:prstGeom prst="rect">
            <a:avLst/>
          </a:prstGeom>
        </p:spPr>
      </p:pic>
      <p:pic>
        <p:nvPicPr>
          <p:cNvPr id="19" name="icon lucide:clipboard-list" descr="image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87505" y="6347411"/>
            <a:ext cx="408334" cy="4083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
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834" y="72917"/>
            <a:ext cx="1210419" cy="422918"/>
          </a:xfrm>
          <a:prstGeom prst="roundRect">
            <a:avLst>
              <a:gd name="adj" fmla="val 10344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図6-1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2087" y="43750"/>
            <a:ext cx="10500024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版の新しさ × 対象への適用 による判定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837504" y="612501"/>
            <a:ext cx="0" cy="4783345"/>
          </a:xfrm>
          <a:prstGeom prst="line">
            <a:avLst/>
          </a:prstGeom>
          <a:ln w="21875">
            <a:solidFill>
              <a:srgbClr val="0E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37504" y="5395846"/>
            <a:ext cx="10150024" cy="0"/>
          </a:xfrm>
          <a:prstGeom prst="line">
            <a:avLst/>
          </a:prstGeom>
          <a:ln w="21875">
            <a:solidFill>
              <a:srgbClr val="0E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4183" y="641668"/>
            <a:ext cx="0" cy="4725011"/>
          </a:xfrm>
          <a:prstGeom prst="line">
            <a:avLst/>
          </a:prstGeom>
          <a:ln w="8750">
            <a:solidFill>
              <a:srgbClr val="8FA3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25004" y="3018757"/>
            <a:ext cx="9975024" cy="0"/>
          </a:xfrm>
          <a:prstGeom prst="line">
            <a:avLst/>
          </a:prstGeom>
          <a:ln w="8750">
            <a:solidFill>
              <a:srgbClr val="8FA3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2501" y="904169"/>
            <a:ext cx="1531254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4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適用確認</a:t>
            </a:r>
          </a:p>
          <a:p>
            <a:pPr algn="ctr">
              <a:lnSpc>
                <a:spcPts val="19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（対象に適用可能）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251" y="2537506"/>
            <a:ext cx="1370837" cy="772918"/>
          </a:xfrm>
          <a:prstGeom prst="roundRect">
            <a:avLst>
              <a:gd name="adj" fmla="val 7547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2200"/>
              </a:lnSpc>
            </a:pPr>
            <a:r>
              <a:rPr sz="1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対象への</a:t>
            </a:r>
          </a:p>
          <a:p>
            <a:pPr algn="ctr">
              <a:lnSpc>
                <a:spcPts val="2200"/>
              </a:lnSpc>
            </a:pPr>
            <a:r>
              <a:rPr sz="15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501" y="4447927"/>
            <a:ext cx="1531254" cy="7583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50"/>
              </a:lnSpc>
            </a:pPr>
            <a:r>
              <a:rPr sz="14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適用不明</a:t>
            </a:r>
          </a:p>
          <a:p>
            <a:pPr algn="ctr">
              <a:lnSpc>
                <a:spcPts val="18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（対象への適用性</a:t>
            </a:r>
          </a:p>
          <a:p>
            <a:pPr algn="ctr">
              <a:lnSpc>
                <a:spcPts val="18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が未確認）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588" y="5483346"/>
            <a:ext cx="1020836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50"/>
              </a:lnSpc>
            </a:pPr>
            <a:r>
              <a:rPr sz="14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旧</a:t>
            </a:r>
          </a:p>
          <a:p>
            <a:pPr algn="ctr">
              <a:lnSpc>
                <a:spcPts val="18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（古い版）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347" y="5527096"/>
            <a:ext cx="2041671" cy="495834"/>
          </a:xfrm>
          <a:prstGeom prst="roundRect">
            <a:avLst>
              <a:gd name="adj" fmla="val 11764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版の新しさ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24" y="5483346"/>
            <a:ext cx="1166669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50"/>
              </a:lnSpc>
            </a:pPr>
            <a:r>
              <a:rPr sz="14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最新</a:t>
            </a:r>
          </a:p>
          <a:p>
            <a:pPr algn="ctr">
              <a:lnSpc>
                <a:spcPts val="18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（新しい版）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4171" y="700002"/>
            <a:ext cx="4885428" cy="2231255"/>
          </a:xfrm>
          <a:prstGeom prst="roundRect">
            <a:avLst>
              <a:gd name="adj" fmla="val 3267"/>
            </a:avLst>
          </a:prstGeom>
          <a:solidFill>
            <a:srgbClr val="EAF3FC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14588" y="831252"/>
            <a:ext cx="2318755" cy="452084"/>
          </a:xfrm>
          <a:prstGeom prst="roundRect">
            <a:avLst>
              <a:gd name="adj" fmla="val 12903"/>
            </a:avLst>
          </a:prstGeom>
          <a:solidFill>
            <a:srgbClr val="1E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旧版・参照用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9177" y="875002"/>
            <a:ext cx="875002" cy="350001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750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断定可</a:t>
            </a:r>
          </a:p>
        </p:txBody>
      </p:sp>
      <p:sp>
        <p:nvSpPr>
          <p:cNvPr id="17" name="Oval 16"/>
          <p:cNvSpPr/>
          <p:nvPr/>
        </p:nvSpPr>
        <p:spPr>
          <a:xfrm>
            <a:off x="5468763" y="1356253"/>
            <a:ext cx="306251" cy="306251"/>
          </a:xfrm>
          <a:prstGeom prst="ellipse">
            <a:avLst/>
          </a:prstGeom>
          <a:solidFill>
            <a:srgbClr val="2E8CF0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347" y="1312503"/>
            <a:ext cx="102083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候補B</a:t>
            </a:r>
          </a:p>
          <a:p>
            <a:pPr algn="l">
              <a:lnSpc>
                <a:spcPts val="1500"/>
              </a:lnSpc>
            </a:pPr>
            <a:r>
              <a:rPr sz="8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（旧版・適用確認）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9172" y="1400003"/>
            <a:ext cx="4520844" cy="14583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00"/>
              </a:lnSpc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表示ラベル：旧版・参照用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ユーザーに提示する文言：</a:t>
            </a:r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「この情報は旧版ですが、対象に適用可能です。</a:t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　必要に応じて最新版も確認してください。」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断定可否：適用可、ただし最新版ではない</a:t>
            </a:r>
            <a:br/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ことを明示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7099" y="700002"/>
            <a:ext cx="4885428" cy="2231255"/>
          </a:xfrm>
          <a:prstGeom prst="roundRect">
            <a:avLst>
              <a:gd name="adj" fmla="val 3267"/>
            </a:avLst>
          </a:prstGeom>
          <a:solidFill>
            <a:srgbClr val="DDEBF9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7516" y="831252"/>
            <a:ext cx="1735421" cy="452084"/>
          </a:xfrm>
          <a:prstGeom prst="roundRect">
            <a:avLst>
              <a:gd name="adj" fmla="val 12903"/>
            </a:avLst>
          </a:prstGeom>
          <a:solidFill>
            <a:srgbClr val="0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推奨候補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5854" y="875002"/>
            <a:ext cx="875002" cy="350001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750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断定可</a:t>
            </a:r>
          </a:p>
        </p:txBody>
      </p:sp>
      <p:sp>
        <p:nvSpPr>
          <p:cNvPr id="23" name="Oval 22"/>
          <p:cNvSpPr/>
          <p:nvPr/>
        </p:nvSpPr>
        <p:spPr>
          <a:xfrm>
            <a:off x="10441691" y="1356253"/>
            <a:ext cx="306251" cy="306251"/>
          </a:xfrm>
          <a:prstGeom prst="ellipse">
            <a:avLst/>
          </a:prstGeom>
          <a:solidFill>
            <a:srgbClr val="0E2A8A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6275" y="1312503"/>
            <a:ext cx="102083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候補A</a:t>
            </a:r>
          </a:p>
          <a:p>
            <a:pPr algn="l">
              <a:lnSpc>
                <a:spcPts val="1500"/>
              </a:lnSpc>
            </a:pPr>
            <a:r>
              <a:rPr sz="8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（最新・適用確認）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2100" y="1400003"/>
            <a:ext cx="4520844" cy="14583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00"/>
              </a:lnSpc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表示ラベル：推奨候補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ユーザーに提示する文言：</a:t>
            </a:r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「最新版であり、対象に適用可能です。</a:t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　優先的にご確認ください。」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断定可否：最新版かつ適用可と断定可能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54171" y="3091674"/>
            <a:ext cx="4885428" cy="2231255"/>
          </a:xfrm>
          <a:prstGeom prst="roundRect">
            <a:avLst>
              <a:gd name="adj" fmla="val 3267"/>
            </a:avLst>
          </a:prstGeom>
          <a:solidFill>
            <a:srgbClr val="EEF0F3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14588" y="3222924"/>
            <a:ext cx="1735421" cy="452084"/>
          </a:xfrm>
          <a:prstGeom prst="roundRect">
            <a:avLst>
              <a:gd name="adj" fmla="val 12903"/>
            </a:avLst>
          </a:prstGeom>
          <a:solidFill>
            <a:srgbClr val="4A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保留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22926" y="3266674"/>
            <a:ext cx="875002" cy="350001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750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断定不可</a:t>
            </a:r>
          </a:p>
        </p:txBody>
      </p:sp>
      <p:sp>
        <p:nvSpPr>
          <p:cNvPr id="29" name="Oval 28"/>
          <p:cNvSpPr/>
          <p:nvPr/>
        </p:nvSpPr>
        <p:spPr>
          <a:xfrm>
            <a:off x="5468763" y="3747925"/>
            <a:ext cx="306251" cy="306251"/>
          </a:xfrm>
          <a:prstGeom prst="ellipse">
            <a:avLst/>
          </a:prstGeom>
          <a:solidFill>
            <a:srgbClr val="7A838F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3347" y="3704175"/>
            <a:ext cx="102083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候補D</a:t>
            </a:r>
          </a:p>
          <a:p>
            <a:pPr algn="l">
              <a:lnSpc>
                <a:spcPts val="1500"/>
              </a:lnSpc>
            </a:pPr>
            <a:r>
              <a:rPr sz="8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（旧版・適用不明）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9172" y="3791675"/>
            <a:ext cx="4520844" cy="14583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00"/>
              </a:lnSpc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表示ラベル：保留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ユーザーに提示する文言：</a:t>
            </a:r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「旧版であり、対象への適用性も未確認です。</a:t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　追加の情報を確認してください。」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断定可否：最新版ではない、適用可否も不明</a:t>
            </a:r>
            <a:br/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のため断定不可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27099" y="3091674"/>
            <a:ext cx="4885428" cy="2231255"/>
          </a:xfrm>
          <a:prstGeom prst="roundRect">
            <a:avLst>
              <a:gd name="adj" fmla="val 3267"/>
            </a:avLst>
          </a:prstGeom>
          <a:solidFill>
            <a:srgbClr val="E8F4FC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87516" y="3222924"/>
            <a:ext cx="2318755" cy="452084"/>
          </a:xfrm>
          <a:prstGeom prst="roundRect">
            <a:avLst>
              <a:gd name="adj" fmla="val 12903"/>
            </a:avLst>
          </a:prstGeom>
          <a:solidFill>
            <a:srgbClr val="22A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適用未確認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2106" y="3266674"/>
            <a:ext cx="875002" cy="350001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750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断定不可</a:t>
            </a:r>
          </a:p>
        </p:txBody>
      </p:sp>
      <p:sp>
        <p:nvSpPr>
          <p:cNvPr id="35" name="Oval 34"/>
          <p:cNvSpPr/>
          <p:nvPr/>
        </p:nvSpPr>
        <p:spPr>
          <a:xfrm>
            <a:off x="10441691" y="3747925"/>
            <a:ext cx="306251" cy="306251"/>
          </a:xfrm>
          <a:prstGeom prst="ellipse">
            <a:avLst/>
          </a:prstGeom>
          <a:solidFill>
            <a:srgbClr val="2AAEF2"/>
          </a:soli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6275" y="3704175"/>
            <a:ext cx="102083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候補C</a:t>
            </a:r>
          </a:p>
          <a:p>
            <a:pPr algn="l">
              <a:lnSpc>
                <a:spcPts val="1500"/>
              </a:lnSpc>
            </a:pPr>
            <a:r>
              <a:rPr sz="80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（最新・適用不明）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2100" y="3791675"/>
            <a:ext cx="4520844" cy="145833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00"/>
              </a:lnSpc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表示ラベル：適用未確認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ユーザーに提示する文言：</a:t>
            </a:r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/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「最新版ですが、対象への適用性は未確認です。</a:t>
            </a:r>
            <a:br/>
            <a:r>
              <a:rPr sz="11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　適用範囲や条件を確認してください。」</a:t>
            </a:r>
          </a:p>
          <a:p>
            <a:pPr algn="l" marL="175000" indent="-175000">
              <a:lnSpc>
                <a:spcPts val="1800"/>
              </a:lnSpc>
              <a:spcBef>
                <a:spcPts val="350"/>
              </a:spcBef>
              <a:buFont typeface="Arial"/>
              <a:buChar char="•"/>
            </a:pPr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断定可否：最新版であることのみ確認可能、</a:t>
            </a:r>
            <a:br/>
            <a:r>
              <a:rPr sz="1150" b="1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適用可否は断定不可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1667" y="6139598"/>
            <a:ext cx="11608360" cy="612501"/>
          </a:xfrm>
          <a:prstGeom prst="roundRect">
            <a:avLst>
              <a:gd name="adj" fmla="val 9523"/>
            </a:avLst>
          </a:prstGeom>
          <a:solidFill>
            <a:srgbClr val="FDECEC"/>
          </a:solidFill>
          <a:ln w="14583">
            <a:solidFill>
              <a:srgbClr val="E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icon material:warning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501" y="6205223"/>
            <a:ext cx="481251" cy="48125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0836" y="6139598"/>
            <a:ext cx="10806275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2050"/>
              </a:lnSpc>
            </a:pPr>
            <a:r>
              <a:rPr sz="145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版の新しさと対象への適用は別の判定です。情報が欠損している場合でも、最新版であると断定しないこと。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
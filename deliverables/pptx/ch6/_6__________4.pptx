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con_svg3.svg"/><Relationship Id="rId7" Type="http://schemas.openxmlformats.org/officeDocument/2006/relationships/image" Target="../media/image3.png"/><Relationship Id="rId8" Type="http://schemas.openxmlformats.org/officeDocument/2006/relationships/image" Target="../media/icon_svg4.svg"/><Relationship Id="rId9" Type="http://schemas.openxmlformats.org/officeDocument/2006/relationships/image" Target="../media/icon_svg5.svg"/><Relationship Id="rId10" Type="http://schemas.openxmlformats.org/officeDocument/2006/relationships/image" Target="../media/icon_svg6.svg"/><Relationship Id="rId11" Type="http://schemas.openxmlformats.org/officeDocument/2006/relationships/image" Target="../media/icon_svg7.svg"/><Relationship Id="rId12" Type="http://schemas.openxmlformats.org/officeDocument/2006/relationships/image" Target="../media/image4.png"/><Relationship Id="rId13" Type="http://schemas.openxmlformats.org/officeDocument/2006/relationships/image" Target="../media/icon_svg8.svg"/><Relationship Id="rId14" Type="http://schemas.openxmlformats.org/officeDocument/2006/relationships/image" Target="../media/icon_svg9.svg"/><Relationship Id="rId15" Type="http://schemas.openxmlformats.org/officeDocument/2006/relationships/image" Target="../media/icon_svg10.svg"/><Relationship Id="rId16" Type="http://schemas.openxmlformats.org/officeDocument/2006/relationships/image" Target="../media/image5.png"/><Relationship Id="rId17" Type="http://schemas.openxmlformats.org/officeDocument/2006/relationships/image" Target="../media/icon_svg1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5834" y="72917"/>
            <a:ext cx="1210419" cy="422918"/>
          </a:xfrm>
          <a:prstGeom prst="roundRect">
            <a:avLst>
              <a:gd name="adj" fmla="val 10344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表6-2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2087" y="43750"/>
            <a:ext cx="10500024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版・適用に関する不足／矛盾時の表示方針</a:t>
            </a:r>
          </a:p>
        </p:txBody>
      </p:sp>
      <p:graphicFrame>
        <p:nvGraphicFramePr>
          <p:cNvPr id="4" name="policy-table"/>
          <p:cNvGraphicFramePr>
            <a:graphicFrameLocks noGrp="1"/>
          </p:cNvGraphicFramePr>
          <p:nvPr/>
        </p:nvGraphicFramePr>
        <p:xfrm>
          <a:off x="102084" y="583335"/>
          <a:ext cx="12016695" cy="519167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04172"/>
                <a:gridCol w="2260422"/>
                <a:gridCol w="2172922"/>
                <a:gridCol w="5279179"/>
              </a:tblGrid>
              <a:tr h="61250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85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状態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85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版情報</a:t>
                      </a:r>
                    </a:p>
                    <a:p>
                      <a:pPr algn="ctr">
                        <a:lnSpc>
                          <a:spcPts val="185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（版の新しさ）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85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適用可否</a:t>
                      </a:r>
                    </a:p>
                    <a:p>
                      <a:pPr algn="ctr">
                        <a:lnSpc>
                          <a:spcPts val="185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（対象への適用）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85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表示・回答方針</a:t>
                      </a:r>
                    </a:p>
                    <a:p>
                      <a:pPr algn="ctr">
                        <a:lnSpc>
                          <a:spcPts val="185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（ユーザーへの表示文言・対応）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0E3F82"/>
                    </a:solidFill>
                  </a:tcPr>
                </a:tc>
              </a:tr>
              <a:tr h="816669">
                <a:tc>
                  <a:txBody>
                    <a:bodyPr wrap="square" lIns="612501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有効・適用範囲内</a:t>
                      </a:r>
                    </a:p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（通常）</a:t>
                      </a:r>
                    </a:p>
                  </a:txBody>
                  <a:tcPr marL="612501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093753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latest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（最新版）</a:t>
                      </a:r>
                    </a:p>
                  </a:txBody>
                  <a:tcPr marL="1093753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0208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applicable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（適用可能）</a:t>
                      </a:r>
                    </a:p>
                  </a:txBody>
                  <a:tcPr marL="802085" marT="14583" marR="14583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947919">
                <a:tc>
                  <a:txBody>
                    <a:bodyPr wrap="square" lIns="612501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有効だが</a:t>
                      </a:r>
                    </a:p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適用範囲外</a:t>
                      </a:r>
                    </a:p>
                  </a:txBody>
                  <a:tcPr marL="612501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093753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latest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（最新版）</a:t>
                      </a:r>
                    </a:p>
                  </a:txBody>
                  <a:tcPr marL="1093753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0208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not applicable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（適用不可）</a:t>
                      </a:r>
                    </a:p>
                  </a:txBody>
                  <a:tcPr marL="802085" marT="14583" marR="14583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947919">
                <a:tc>
                  <a:txBody>
                    <a:bodyPr wrap="square" lIns="612501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旧版だが</a:t>
                      </a:r>
                    </a:p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適用範囲内</a:t>
                      </a:r>
                    </a:p>
                  </a:txBody>
                  <a:tcPr marL="612501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093753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old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（旧版）</a:t>
                      </a:r>
                    </a:p>
                  </a:txBody>
                  <a:tcPr marL="1093753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0208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applicable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（適用可能）</a:t>
                      </a:r>
                    </a:p>
                  </a:txBody>
                  <a:tcPr marL="802085" marT="14583" marR="14583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904169">
                <a:tc>
                  <a:txBody>
                    <a:bodyPr wrap="square" lIns="612501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版情報が未登録</a:t>
                      </a:r>
                    </a:p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（版列の NULL 等）</a:t>
                      </a:r>
                    </a:p>
                  </a:txBody>
                  <a:tcPr marL="612501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093753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unknown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（版不明）</a:t>
                      </a:r>
                    </a:p>
                  </a:txBody>
                  <a:tcPr marL="1093753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0208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unverified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（適用未確認）</a:t>
                      </a:r>
                    </a:p>
                  </a:txBody>
                  <a:tcPr marL="802085" marT="14583" marR="14583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962502">
                <a:tc>
                  <a:txBody>
                    <a:bodyPr wrap="square" lIns="612501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同一IDで</a:t>
                      </a:r>
                    </a:p>
                    <a:p>
                      <a:pPr algn="l">
                        <a:lnSpc>
                          <a:spcPts val="19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内容に矛盾あり</a:t>
                      </a:r>
                    </a:p>
                  </a:txBody>
                  <a:tcPr marL="612501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093753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conflict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（矛盾あり）</a:t>
                      </a:r>
                    </a:p>
                  </a:txBody>
                  <a:tcPr marL="1093753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0208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unverified</a:t>
                      </a:r>
                    </a:p>
                    <a:p>
                      <a:pPr algn="l">
                        <a:lnSpc>
                          <a:spcPts val="1850"/>
                        </a:lnSpc>
                      </a:pPr>
                      <a:r>
                        <a:rPr sz="1050" b="0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（適用未確認）</a:t>
                      </a:r>
                    </a:p>
                  </a:txBody>
                  <a:tcPr marL="802085" marT="14583" marR="14583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CE4EE"/>
                      </a:solidFill>
                    </a:lnB>
                    <a:lnT w="10938">
                      <a:solidFill>
                        <a:srgbClr val="DCE4EE"/>
                      </a:solidFill>
                    </a:lnT>
                    <a:lnR w="10938">
                      <a:solidFill>
                        <a:srgbClr val="DCE4EE"/>
                      </a:solidFill>
                    </a:lnR>
                    <a:lnL w="10938">
                      <a:solidFill>
                        <a:srgbClr val="DCE4EE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240626" y="1436462"/>
            <a:ext cx="335417" cy="335417"/>
          </a:xfrm>
          <a:prstGeom prst="ellipse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pic>
        <p:nvPicPr>
          <p:cNvPr id="6" name="icon azure:fi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8756" y="1327086"/>
            <a:ext cx="481251" cy="5541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960424" y="1647920"/>
            <a:ext cx="379168" cy="218751"/>
          </a:xfrm>
          <a:prstGeom prst="roundRect">
            <a:avLst>
              <a:gd name="adj" fmla="val 13333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NEW</a:t>
            </a:r>
          </a:p>
        </p:txBody>
      </p:sp>
      <p:pic>
        <p:nvPicPr>
          <p:cNvPr id="8" name="icon material:check_circle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5428" y="1370837"/>
            <a:ext cx="466668" cy="4666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70850" y="1429170"/>
            <a:ext cx="1195836" cy="350001"/>
          </a:xfrm>
          <a:prstGeom prst="roundRect">
            <a:avLst>
              <a:gd name="adj" fmla="val 125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通常表示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3353" y="1254170"/>
            <a:ext cx="3762509" cy="7000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最新版であり、対象に適用可能です。</a:t>
            </a:r>
          </a:p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関連情報（根拠・適用範囲・発効日等）を表示します。</a:t>
            </a:r>
          </a:p>
        </p:txBody>
      </p:sp>
      <p:sp>
        <p:nvSpPr>
          <p:cNvPr id="11" name="Oval 10"/>
          <p:cNvSpPr/>
          <p:nvPr/>
        </p:nvSpPr>
        <p:spPr>
          <a:xfrm>
            <a:off x="240626" y="2318755"/>
            <a:ext cx="335417" cy="335417"/>
          </a:xfrm>
          <a:prstGeom prst="ellipse">
            <a:avLst/>
          </a:prstGeom>
          <a:solidFill>
            <a:srgbClr val="2AA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pic>
        <p:nvPicPr>
          <p:cNvPr id="12" name="icon azure:fi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8756" y="2209380"/>
            <a:ext cx="481251" cy="5541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960424" y="2530214"/>
            <a:ext cx="379168" cy="218751"/>
          </a:xfrm>
          <a:prstGeom prst="roundRect">
            <a:avLst>
              <a:gd name="adj" fmla="val 13333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NEW</a:t>
            </a:r>
          </a:p>
        </p:txBody>
      </p:sp>
      <p:pic>
        <p:nvPicPr>
          <p:cNvPr id="14" name="icon material:warning-fill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5428" y="2253130"/>
            <a:ext cx="466668" cy="4666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970850" y="2311464"/>
            <a:ext cx="1195836" cy="350001"/>
          </a:xfrm>
          <a:prstGeom prst="roundRect">
            <a:avLst>
              <a:gd name="adj" fmla="val 12500"/>
            </a:avLst>
          </a:prstGeom>
          <a:solidFill>
            <a:srgbClr val="FC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D42A2A"/>
                </a:solidFill>
                <a:latin typeface="Meiryo"/>
                <a:ea typeface="Meiryo"/>
                <a:cs typeface="Meiryo"/>
              </a:rPr>
              <a:t>対象外の警告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353" y="2070838"/>
            <a:ext cx="3762509" cy="8312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最新版ですが、対象への適用範囲外です。</a:t>
            </a:r>
          </a:p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適用範囲（FROM－THRU 等）を表示し、対象外であることを</a:t>
            </a:r>
            <a:br/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明示します。</a:t>
            </a:r>
          </a:p>
        </p:txBody>
      </p:sp>
      <p:sp>
        <p:nvSpPr>
          <p:cNvPr id="17" name="Oval 16"/>
          <p:cNvSpPr/>
          <p:nvPr/>
        </p:nvSpPr>
        <p:spPr>
          <a:xfrm>
            <a:off x="240626" y="3266674"/>
            <a:ext cx="335417" cy="335417"/>
          </a:xfrm>
          <a:prstGeom prst="ellipse">
            <a:avLst/>
          </a:prstGeom>
          <a:solidFill>
            <a:srgbClr val="2AA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pic>
        <p:nvPicPr>
          <p:cNvPr id="18" name="icon azure:fi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68756" y="3157299"/>
            <a:ext cx="481251" cy="55416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960424" y="3478133"/>
            <a:ext cx="379168" cy="218751"/>
          </a:xfrm>
          <a:prstGeom prst="roundRect">
            <a:avLst>
              <a:gd name="adj" fmla="val 13333"/>
            </a:avLst>
          </a:prstGeom>
          <a:solidFill>
            <a:srgbClr val="6B7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OLD</a:t>
            </a:r>
          </a:p>
        </p:txBody>
      </p:sp>
      <p:pic>
        <p:nvPicPr>
          <p:cNvPr id="20" name="icon material:check_circle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5428" y="3201049"/>
            <a:ext cx="466668" cy="46666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970850" y="3259383"/>
            <a:ext cx="1195836" cy="350001"/>
          </a:xfrm>
          <a:prstGeom prst="roundRect">
            <a:avLst>
              <a:gd name="adj" fmla="val 12500"/>
            </a:avLst>
          </a:prstGeom>
          <a:solidFill>
            <a:srgbClr val="FDF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5A4300"/>
                </a:solidFill>
                <a:latin typeface="Meiryo"/>
                <a:ea typeface="Meiryo"/>
                <a:cs typeface="Meiryo"/>
              </a:rPr>
              <a:t>旧版の警告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3353" y="3018757"/>
            <a:ext cx="3762509" cy="8312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旧版ですが、対象に適用可能です。</a:t>
            </a:r>
          </a:p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最新版の有無を確認するよう案内し、必要に応じて最新版を</a:t>
            </a:r>
            <a:br/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提示します。</a:t>
            </a:r>
          </a:p>
        </p:txBody>
      </p:sp>
      <p:sp>
        <p:nvSpPr>
          <p:cNvPr id="23" name="Oval 22"/>
          <p:cNvSpPr/>
          <p:nvPr/>
        </p:nvSpPr>
        <p:spPr>
          <a:xfrm>
            <a:off x="240626" y="4192718"/>
            <a:ext cx="335417" cy="335417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pic>
        <p:nvPicPr>
          <p:cNvPr id="24" name="icon azure:fi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68756" y="4083343"/>
            <a:ext cx="481251" cy="554168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3018757" y="4375010"/>
            <a:ext cx="277084" cy="277084"/>
          </a:xfrm>
          <a:prstGeom prst="ellipse">
            <a:avLst/>
          </a:prstGeom>
          <a:solidFill>
            <a:srgbClr val="7A838F"/>
          </a:solidFill>
          <a:ln w="1458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?</a:t>
            </a:r>
          </a:p>
        </p:txBody>
      </p:sp>
      <p:pic>
        <p:nvPicPr>
          <p:cNvPr id="26" name="icon material:help-fill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85428" y="4127093"/>
            <a:ext cx="466668" cy="46666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970850" y="4185426"/>
            <a:ext cx="1385420" cy="350001"/>
          </a:xfrm>
          <a:prstGeom prst="roundRect">
            <a:avLst>
              <a:gd name="adj" fmla="val 125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3A4552"/>
                </a:solidFill>
                <a:latin typeface="Meiryo"/>
                <a:ea typeface="Meiryo"/>
                <a:cs typeface="Meiryo"/>
              </a:rPr>
              <a:t>版不明・適用未確認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2936" y="3966676"/>
            <a:ext cx="3572925" cy="7875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版情報が不明のため、最新版とは断定できません。</a:t>
            </a:r>
          </a:p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対象への適用性も未確認です。</a:t>
            </a:r>
            <a:br/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追加の情報を確認してください。</a:t>
            </a:r>
          </a:p>
        </p:txBody>
      </p:sp>
      <p:sp>
        <p:nvSpPr>
          <p:cNvPr id="29" name="Oval 28"/>
          <p:cNvSpPr/>
          <p:nvPr/>
        </p:nvSpPr>
        <p:spPr>
          <a:xfrm>
            <a:off x="240626" y="5126054"/>
            <a:ext cx="335417" cy="335417"/>
          </a:xfrm>
          <a:prstGeom prst="ellipse">
            <a:avLst/>
          </a:prstGeom>
          <a:solidFill>
            <a:srgbClr val="2AA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pic>
        <p:nvPicPr>
          <p:cNvPr id="30" name="icon azure:fi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8756" y="5016678"/>
            <a:ext cx="481251" cy="554168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3018757" y="5308346"/>
            <a:ext cx="277084" cy="277084"/>
          </a:xfrm>
          <a:prstGeom prst="ellipse">
            <a:avLst/>
          </a:prstGeom>
          <a:solidFill>
            <a:srgbClr val="E02020"/>
          </a:solidFill>
          <a:ln w="14583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!</a:t>
            </a:r>
          </a:p>
        </p:txBody>
      </p:sp>
      <p:pic>
        <p:nvPicPr>
          <p:cNvPr id="32" name="icon material:help-fill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5428" y="5060428"/>
            <a:ext cx="466668" cy="46666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970850" y="4900011"/>
            <a:ext cx="3062507" cy="291667"/>
          </a:xfrm>
          <a:prstGeom prst="roundRect">
            <a:avLst>
              <a:gd name="adj" fmla="val 15000"/>
            </a:avLst>
          </a:prstGeom>
          <a:solidFill>
            <a:srgbClr val="FC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両方の情報を提示・矛盾箇所を明示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0850" y="5235429"/>
            <a:ext cx="5104179" cy="4958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同一文書番号に複数の異なる情報が存在します。</a:t>
            </a:r>
          </a:p>
          <a:p>
            <a:pPr algn="l" marL="131250" indent="-131250">
              <a:lnSpc>
                <a:spcPts val="1500"/>
              </a:lnSpc>
              <a:buFont typeface="Arial"/>
              <a:buChar char="•"/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確認できた情報を両方提示し、矛盾箇所を明示します。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084" y="5993764"/>
            <a:ext cx="12016695" cy="758335"/>
          </a:xfrm>
          <a:prstGeom prst="roundRect">
            <a:avLst>
              <a:gd name="adj" fmla="val 7692"/>
            </a:avLst>
          </a:prstGeom>
          <a:solidFill>
            <a:srgbClr val="FDECEC"/>
          </a:solidFill>
          <a:ln w="14583">
            <a:solidFill>
              <a:srgbClr val="E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 material:warning-fill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7917" y="6132306"/>
            <a:ext cx="481251" cy="48125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1252" y="5993764"/>
            <a:ext cx="11214609" cy="7583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2050"/>
              </a:lnSpc>
            </a:pPr>
            <a:r>
              <a:rPr sz="1250" b="1" i="0">
                <a:solidFill>
                  <a:srgbClr val="D42A2A"/>
                </a:solidFill>
                <a:latin typeface="Meiryo"/>
                <a:ea typeface="Meiryo"/>
                <a:cs typeface="Meiryo"/>
              </a:rPr>
              <a:t>情報が不足している場合や矛盾がある場合でも、最新版である、または対象に適用可能であると断定しないこと。</a:t>
            </a:r>
          </a:p>
          <a:p>
            <a:pPr algn="l">
              <a:lnSpc>
                <a:spcPts val="2050"/>
              </a:lnSpc>
            </a:pPr>
            <a:r>
              <a:rPr sz="1050" b="1" i="0">
                <a:solidFill>
                  <a:srgbClr val="D42A2A"/>
                </a:solidFill>
                <a:latin typeface="Meiryo"/>
                <a:ea typeface="Meiryo"/>
                <a:cs typeface="Meiryo"/>
              </a:rPr>
              <a:t>版の新しさと対象への適用は別の判定です。不明な場合は「版不明」「適用未確認」として表示し、必要に応じて追加情報の確認を促します。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
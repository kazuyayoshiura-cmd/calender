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media/icon_svg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mage4.png"/><Relationship Id="rId9" Type="http://schemas.openxmlformats.org/officeDocument/2006/relationships/image" Target="../media/icon_svg4.svg"/><Relationship Id="rId10" Type="http://schemas.openxmlformats.org/officeDocument/2006/relationships/image" Target="../media/image5.png"/><Relationship Id="rId11" Type="http://schemas.openxmlformats.org/officeDocument/2006/relationships/image" Target="../media/icon_svg5.svg"/><Relationship Id="rId12" Type="http://schemas.openxmlformats.org/officeDocument/2006/relationships/image" Target="../media/image6.png"/><Relationship Id="rId13" Type="http://schemas.openxmlformats.org/officeDocument/2006/relationships/image" Target="../media/icon_svg6.svg"/><Relationship Id="rId14" Type="http://schemas.openxmlformats.org/officeDocument/2006/relationships/image" Target="../media/image7.png"/><Relationship Id="rId15" Type="http://schemas.openxmlformats.org/officeDocument/2006/relationships/image" Target="../media/icon_svg7.svg"/><Relationship Id="rId16" Type="http://schemas.openxmlformats.org/officeDocument/2006/relationships/image" Target="../media/image8.png"/><Relationship Id="rId17" Type="http://schemas.openxmlformats.org/officeDocument/2006/relationships/image" Target="../media/icon_svg8.svg"/><Relationship Id="rId18" Type="http://schemas.openxmlformats.org/officeDocument/2006/relationships/image" Target="../media/image9.png"/><Relationship Id="rId19" Type="http://schemas.openxmlformats.org/officeDocument/2006/relationships/image" Target="../media/icon_svg9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5834" y="72917"/>
            <a:ext cx="1210419" cy="422918"/>
          </a:xfrm>
          <a:prstGeom prst="roundRect">
            <a:avLst>
              <a:gd name="adj" fmla="val 10344"/>
            </a:avLst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図6-2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2087" y="43750"/>
            <a:ext cx="10500024" cy="481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更新反映フロー（共有サーバー／CSV更新 → 画面反映）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1250" y="670835"/>
            <a:ext cx="1822921" cy="2508339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938">
            <a:solidFill>
              <a:srgbClr val="C8D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4167" y="743752"/>
            <a:ext cx="1677087" cy="525001"/>
          </a:xfrm>
          <a:prstGeom prst="roundRect">
            <a:avLst>
              <a:gd name="adj" fmla="val 8333"/>
            </a:avLst>
          </a:prstGeom>
          <a:solidFill>
            <a:srgbClr val="DD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168" y="758335"/>
            <a:ext cx="1502087" cy="49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共有サーバー／</a:t>
            </a:r>
          </a:p>
          <a:p>
            <a:pPr algn="ctr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CSV更新</a:t>
            </a:r>
          </a:p>
        </p:txBody>
      </p:sp>
      <p:sp>
        <p:nvSpPr>
          <p:cNvPr id="7" name="Oval 6"/>
          <p:cNvSpPr/>
          <p:nvPr/>
        </p:nvSpPr>
        <p:spPr>
          <a:xfrm>
            <a:off x="131250" y="656252"/>
            <a:ext cx="320834" cy="320834"/>
          </a:xfrm>
          <a:prstGeom prst="ellipse">
            <a:avLst/>
          </a:prstGeom>
          <a:solidFill>
            <a:srgbClr val="123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917" y="2391672"/>
            <a:ext cx="1647920" cy="7583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16667" indent="-116667">
              <a:lnSpc>
                <a:spcPts val="145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共有サーバーのファイル</a:t>
            </a:r>
            <a:br/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またはCSVが更新される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68755" y="1764587"/>
            <a:ext cx="175000" cy="204167"/>
          </a:xfrm>
          <a:prstGeom prst="rightArrow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58338" y="670835"/>
            <a:ext cx="1822921" cy="2508339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938">
            <a:solidFill>
              <a:srgbClr val="C8D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31255" y="743752"/>
            <a:ext cx="1677087" cy="525001"/>
          </a:xfrm>
          <a:prstGeom prst="roundRect">
            <a:avLst>
              <a:gd name="adj" fmla="val 8333"/>
            </a:avLst>
          </a:prstGeom>
          <a:solidFill>
            <a:srgbClr val="DD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6256" y="758335"/>
            <a:ext cx="1502087" cy="49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差分検知</a:t>
            </a:r>
          </a:p>
          <a:p>
            <a:pPr algn="ctr">
              <a:lnSpc>
                <a:spcPts val="1600"/>
              </a:lnSpc>
            </a:pPr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（ハッシュ・更新日）</a:t>
            </a:r>
          </a:p>
        </p:txBody>
      </p:sp>
      <p:sp>
        <p:nvSpPr>
          <p:cNvPr id="13" name="Oval 12"/>
          <p:cNvSpPr/>
          <p:nvPr/>
        </p:nvSpPr>
        <p:spPr>
          <a:xfrm>
            <a:off x="2158338" y="656252"/>
            <a:ext cx="320834" cy="320834"/>
          </a:xfrm>
          <a:prstGeom prst="ellipse">
            <a:avLst/>
          </a:prstGeom>
          <a:solidFill>
            <a:srgbClr val="123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5005" y="2391672"/>
            <a:ext cx="1647920" cy="7583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16667" indent="-116667">
              <a:lnSpc>
                <a:spcPts val="145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ファイルハッシュの比較</a:t>
            </a:r>
          </a:p>
          <a:p>
            <a:pPr algn="l" marL="116667" indent="-116667">
              <a:lnSpc>
                <a:spcPts val="145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更新日・件数等の差分を</a:t>
            </a:r>
            <a:br/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検知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95843" y="1764587"/>
            <a:ext cx="175000" cy="204167"/>
          </a:xfrm>
          <a:prstGeom prst="rightArrow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85426" y="670835"/>
            <a:ext cx="1822921" cy="2508339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938">
            <a:solidFill>
              <a:srgbClr val="C8D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58343" y="743752"/>
            <a:ext cx="1677087" cy="525001"/>
          </a:xfrm>
          <a:prstGeom prst="roundRect">
            <a:avLst>
              <a:gd name="adj" fmla="val 8333"/>
            </a:avLst>
          </a:prstGeom>
          <a:solidFill>
            <a:srgbClr val="DD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3344" y="758335"/>
            <a:ext cx="1502087" cy="49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新版を取込・</a:t>
            </a:r>
          </a:p>
          <a:p>
            <a:pPr algn="ctr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索引追加</a:t>
            </a:r>
          </a:p>
        </p:txBody>
      </p:sp>
      <p:sp>
        <p:nvSpPr>
          <p:cNvPr id="19" name="Oval 18"/>
          <p:cNvSpPr/>
          <p:nvPr/>
        </p:nvSpPr>
        <p:spPr>
          <a:xfrm>
            <a:off x="4185426" y="656252"/>
            <a:ext cx="320834" cy="320834"/>
          </a:xfrm>
          <a:prstGeom prst="ellipse">
            <a:avLst/>
          </a:prstGeom>
          <a:solidFill>
            <a:srgbClr val="123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2093" y="2391672"/>
            <a:ext cx="1647920" cy="7583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16667" indent="-116667">
              <a:lnSpc>
                <a:spcPts val="145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更新されたファイル／</a:t>
            </a:r>
            <a:br/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CSVを取込み</a:t>
            </a:r>
          </a:p>
          <a:p>
            <a:pPr algn="l" marL="116667" indent="-116667">
              <a:lnSpc>
                <a:spcPts val="145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検索用の索引に追加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22931" y="1764587"/>
            <a:ext cx="175000" cy="204167"/>
          </a:xfrm>
          <a:prstGeom prst="rightArrow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2514" y="670835"/>
            <a:ext cx="1822921" cy="2508339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938">
            <a:solidFill>
              <a:srgbClr val="C8D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85431" y="743752"/>
            <a:ext cx="1677087" cy="525001"/>
          </a:xfrm>
          <a:prstGeom prst="roundRect">
            <a:avLst>
              <a:gd name="adj" fmla="val 8333"/>
            </a:avLst>
          </a:prstGeom>
          <a:solidFill>
            <a:srgbClr val="DD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0432" y="758335"/>
            <a:ext cx="1502087" cy="49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版テーブル更新</a:t>
            </a:r>
          </a:p>
          <a:p>
            <a:pPr algn="ctr">
              <a:lnSpc>
                <a:spcPts val="160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（新版 latest、旧版 old）</a:t>
            </a:r>
          </a:p>
        </p:txBody>
      </p:sp>
      <p:sp>
        <p:nvSpPr>
          <p:cNvPr id="25" name="Oval 24"/>
          <p:cNvSpPr/>
          <p:nvPr/>
        </p:nvSpPr>
        <p:spPr>
          <a:xfrm>
            <a:off x="6212514" y="656252"/>
            <a:ext cx="320834" cy="320834"/>
          </a:xfrm>
          <a:prstGeom prst="ellipse">
            <a:avLst/>
          </a:prstGeom>
          <a:solidFill>
            <a:srgbClr val="123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050019" y="1764587"/>
            <a:ext cx="175000" cy="204167"/>
          </a:xfrm>
          <a:prstGeom prst="rightArrow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39602" y="670835"/>
            <a:ext cx="1822921" cy="2508339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938">
            <a:solidFill>
              <a:srgbClr val="C8D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12519" y="743752"/>
            <a:ext cx="1677087" cy="525001"/>
          </a:xfrm>
          <a:prstGeom prst="roundRect">
            <a:avLst>
              <a:gd name="adj" fmla="val 8333"/>
            </a:avLst>
          </a:prstGeom>
          <a:solidFill>
            <a:srgbClr val="DD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7520" y="758335"/>
            <a:ext cx="1502087" cy="49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索引切替・</a:t>
            </a:r>
          </a:p>
          <a:p>
            <a:pPr algn="ctr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最終取込日時を記録</a:t>
            </a:r>
          </a:p>
        </p:txBody>
      </p:sp>
      <p:sp>
        <p:nvSpPr>
          <p:cNvPr id="30" name="Oval 29"/>
          <p:cNvSpPr/>
          <p:nvPr/>
        </p:nvSpPr>
        <p:spPr>
          <a:xfrm>
            <a:off x="8239602" y="656252"/>
            <a:ext cx="320834" cy="320834"/>
          </a:xfrm>
          <a:prstGeom prst="ellipse">
            <a:avLst/>
          </a:prstGeom>
          <a:solidFill>
            <a:srgbClr val="123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6269" y="2391672"/>
            <a:ext cx="1647920" cy="7583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16667" indent="-116667">
              <a:lnSpc>
                <a:spcPts val="145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検索索引を最新版に切替</a:t>
            </a:r>
          </a:p>
          <a:p>
            <a:pPr algn="l" marL="116667" indent="-116667">
              <a:lnSpc>
                <a:spcPts val="145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最終取込日時を記録</a:t>
            </a:r>
            <a:br/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（ログに保存）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077107" y="1764587"/>
            <a:ext cx="175000" cy="204167"/>
          </a:xfrm>
          <a:prstGeom prst="rightArrow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66691" y="670835"/>
            <a:ext cx="1822921" cy="2508339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938">
            <a:solidFill>
              <a:srgbClr val="C8D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339607" y="743752"/>
            <a:ext cx="1677087" cy="525001"/>
          </a:xfrm>
          <a:prstGeom prst="roundRect">
            <a:avLst>
              <a:gd name="adj" fmla="val 8333"/>
            </a:avLst>
          </a:prstGeom>
          <a:solidFill>
            <a:srgbClr val="DD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4608" y="758335"/>
            <a:ext cx="1502087" cy="49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画面に最終取込日時</a:t>
            </a:r>
          </a:p>
          <a:p>
            <a:pPr algn="ctr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を常に表示</a:t>
            </a:r>
          </a:p>
        </p:txBody>
      </p:sp>
      <p:sp>
        <p:nvSpPr>
          <p:cNvPr id="36" name="Oval 35"/>
          <p:cNvSpPr/>
          <p:nvPr/>
        </p:nvSpPr>
        <p:spPr>
          <a:xfrm>
            <a:off x="10266691" y="656252"/>
            <a:ext cx="320834" cy="320834"/>
          </a:xfrm>
          <a:prstGeom prst="ellipse">
            <a:avLst/>
          </a:prstGeom>
          <a:solidFill>
            <a:srgbClr val="123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3357" y="2391672"/>
            <a:ext cx="1647920" cy="7583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16667" indent="-116667">
              <a:lnSpc>
                <a:spcPts val="145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検索画面や詳細画面に</a:t>
            </a:r>
            <a:br/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最終取込日時を常に表示</a:t>
            </a:r>
            <a:br/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（ユーザーが確認可能）</a:t>
            </a:r>
          </a:p>
        </p:txBody>
      </p:sp>
      <p:pic>
        <p:nvPicPr>
          <p:cNvPr id="38" name="icon azure:storage-sync-services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751" y="1400003"/>
            <a:ext cx="933336" cy="904169"/>
          </a:xfrm>
          <a:prstGeom prst="rect">
            <a:avLst/>
          </a:prstGeom>
        </p:spPr>
      </p:pic>
      <p:pic>
        <p:nvPicPr>
          <p:cNvPr id="39" name="icon azure:search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8756" y="1429170"/>
            <a:ext cx="816669" cy="816669"/>
          </a:xfrm>
          <a:prstGeom prst="rect">
            <a:avLst/>
          </a:prstGeom>
        </p:spPr>
      </p:pic>
      <p:pic>
        <p:nvPicPr>
          <p:cNvPr id="40" name="icon azure:files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6678" y="1400003"/>
            <a:ext cx="875002" cy="875002"/>
          </a:xfrm>
          <a:prstGeom prst="rect">
            <a:avLst/>
          </a:prstGeom>
        </p:spPr>
      </p:pic>
      <p:pic>
        <p:nvPicPr>
          <p:cNvPr id="41" name="icon azure:update-management-center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64604" y="1400003"/>
            <a:ext cx="787502" cy="787502"/>
          </a:xfrm>
          <a:prstGeom prst="rect">
            <a:avLst/>
          </a:prstGeom>
        </p:spPr>
      </p:pic>
      <p:sp>
        <p:nvSpPr>
          <p:cNvPr id="42" name="Can 41"/>
          <p:cNvSpPr/>
          <p:nvPr/>
        </p:nvSpPr>
        <p:spPr>
          <a:xfrm>
            <a:off x="6402098" y="1370837"/>
            <a:ext cx="1443753" cy="554168"/>
          </a:xfrm>
          <a:prstGeom prst="can">
            <a:avLst>
              <a:gd name="adj" fmla="val 35000"/>
            </a:avLst>
          </a:prstGeom>
          <a:solidFill>
            <a:srgbClr val="1F6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13125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版テーブル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6402098" y="1954171"/>
          <a:ext cx="1443754" cy="70000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39585"/>
                <a:gridCol w="364584"/>
                <a:gridCol w="539585"/>
              </a:tblGrid>
              <a:tr h="233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文書番号</a:t>
                      </a:r>
                    </a:p>
                  </a:txBody>
                  <a:tcPr marL="21875" marT="14583" marR="21875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REV</a:t>
                      </a:r>
                    </a:p>
                  </a:txBody>
                  <a:tcPr marL="21875" marT="14583" marR="21875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状態</a:t>
                      </a:r>
                    </a:p>
                  </a:txBody>
                  <a:tcPr marL="21875" marT="14583" marR="21875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</a:tr>
              <a:tr h="233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JP-001</a:t>
                      </a:r>
                    </a:p>
                  </a:txBody>
                  <a:tcPr marL="21875" marT="14583" marR="21875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A</a:t>
                      </a:r>
                    </a:p>
                  </a:txBody>
                  <a:tcPr marL="21875" marT="14583" marR="21875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7A838F"/>
                          </a:solidFill>
                          <a:latin typeface="Meiryo"/>
                          <a:ea typeface="Meiryo"/>
                          <a:cs typeface="Meiryo"/>
                        </a:rPr>
                        <a:t>old</a:t>
                      </a:r>
                    </a:p>
                  </a:txBody>
                  <a:tcPr marL="21875" marT="14583" marR="21875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33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JP-001</a:t>
                      </a:r>
                    </a:p>
                  </a:txBody>
                  <a:tcPr marL="21875" marT="14583" marR="21875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B</a:t>
                      </a:r>
                    </a:p>
                  </a:txBody>
                  <a:tcPr marL="21875" marT="14583" marR="21875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1" i="0">
                          <a:solidFill>
                            <a:srgbClr val="1F5FD0"/>
                          </a:solidFill>
                          <a:latin typeface="Meiryo"/>
                          <a:ea typeface="Meiryo"/>
                          <a:cs typeface="Meiryo"/>
                        </a:rPr>
                        <a:t>latest</a:t>
                      </a:r>
                    </a:p>
                  </a:txBody>
                  <a:tcPr marL="21875" marT="14583" marR="21875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DCEBFA"/>
                    </a:solidFill>
                  </a:tcPr>
                </a:tc>
              </a:tr>
            </a:tbl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10485441" y="1400003"/>
            <a:ext cx="1385420" cy="860419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43750">
            <a:solidFill>
              <a:srgbClr val="0E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090651" y="2260422"/>
            <a:ext cx="175000" cy="116667"/>
          </a:xfrm>
          <a:prstGeom prst="rect">
            <a:avLst/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813567" y="2362505"/>
            <a:ext cx="729168" cy="58333"/>
          </a:xfrm>
          <a:prstGeom prst="roundRect">
            <a:avLst>
              <a:gd name="adj" fmla="val 37500"/>
            </a:avLst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icon azure:file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87525" y="1575004"/>
            <a:ext cx="364584" cy="43750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995859" y="1516670"/>
            <a:ext cx="845835" cy="62708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sz="750" b="1" i="0">
                <a:solidFill>
                  <a:srgbClr val="0E2E63"/>
                </a:solidFill>
                <a:latin typeface="Meiryo"/>
                <a:ea typeface="Meiryo"/>
                <a:cs typeface="Meiryo"/>
              </a:rPr>
              <a:t>最終取込日時</a:t>
            </a:r>
          </a:p>
          <a:p>
            <a:pPr algn="l">
              <a:lnSpc>
                <a:spcPts val="1400"/>
              </a:lnSpc>
            </a:pPr>
            <a:r>
              <a:rPr sz="800" b="1" i="0">
                <a:solidFill>
                  <a:srgbClr val="0E2E63"/>
                </a:solidFill>
                <a:latin typeface="Meiryo"/>
                <a:ea typeface="Meiryo"/>
                <a:cs typeface="Meiryo"/>
              </a:rPr>
              <a:t>2026/07/02</a:t>
            </a:r>
          </a:p>
          <a:p>
            <a:pPr algn="l">
              <a:lnSpc>
                <a:spcPts val="1400"/>
              </a:lnSpc>
            </a:pPr>
            <a:r>
              <a:rPr sz="800" b="1" i="0">
                <a:solidFill>
                  <a:srgbClr val="0E2E63"/>
                </a:solidFill>
                <a:latin typeface="Meiryo"/>
                <a:ea typeface="Meiryo"/>
                <a:cs typeface="Meiryo"/>
              </a:rPr>
              <a:t>18:22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7007308" y="3208341"/>
            <a:ext cx="233334" cy="204167"/>
          </a:xfrm>
          <a:prstGeom prst="downArrow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39598" y="3397925"/>
            <a:ext cx="5935430" cy="1239586"/>
          </a:xfrm>
          <a:prstGeom prst="roundRect">
            <a:avLst>
              <a:gd name="adj" fmla="val 4705"/>
            </a:avLst>
          </a:prstGeom>
          <a:solidFill>
            <a:srgbClr val="F6F8FB"/>
          </a:solidFill>
          <a:ln w="10938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39598" y="3397925"/>
            <a:ext cx="5935430" cy="364584"/>
          </a:xfrm>
          <a:prstGeom prst="roundRect">
            <a:avLst>
              <a:gd name="adj" fmla="val 16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227098" y="3419800"/>
            <a:ext cx="320834" cy="320834"/>
          </a:xfrm>
          <a:prstGeom prst="ellipse">
            <a:avLst/>
          </a:prstGeom>
          <a:solidFill>
            <a:srgbClr val="4A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35432" y="3397925"/>
            <a:ext cx="5104179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旧版は削除しない → 旧版保持</a:t>
            </a:r>
          </a:p>
        </p:txBody>
      </p:sp>
      <p:pic>
        <p:nvPicPr>
          <p:cNvPr id="54" name="icon azure:versions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10432" y="3893759"/>
            <a:ext cx="612501" cy="612501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7481267" y="3922926"/>
            <a:ext cx="656252" cy="568751"/>
          </a:xfrm>
          <a:prstGeom prst="roundRect">
            <a:avLst>
              <a:gd name="adj" fmla="val 7692"/>
            </a:avLst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600"/>
              </a:lnSpc>
            </a:pPr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旧版</a:t>
            </a:r>
          </a:p>
          <a:p>
            <a:pPr algn="ctr">
              <a:lnSpc>
                <a:spcPts val="1600"/>
              </a:lnSpc>
            </a:pPr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(old)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75020" y="3864592"/>
            <a:ext cx="3383341" cy="729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31250" indent="-131250">
              <a:lnSpc>
                <a:spcPts val="1700"/>
              </a:lnSpc>
              <a:buFont typeface="Arial"/>
              <a:buChar char="•"/>
            </a:pPr>
            <a:r>
              <a:rPr sz="10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過去の版（旧版）は削除せずに保持</a:t>
            </a:r>
          </a:p>
          <a:p>
            <a:pPr algn="l" marL="131250" indent="-131250">
              <a:lnSpc>
                <a:spcPts val="1700"/>
              </a:lnSpc>
              <a:buFont typeface="Arial"/>
              <a:buChar char="•"/>
            </a:pPr>
            <a:r>
              <a:rPr sz="10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参照・比較・トレーサビリティのために維持</a:t>
            </a:r>
          </a:p>
          <a:p>
            <a:pPr algn="l" marL="131250" indent="-131250">
              <a:lnSpc>
                <a:spcPts val="1700"/>
              </a:lnSpc>
              <a:buFont typeface="Arial"/>
              <a:buChar char="•"/>
            </a:pPr>
            <a:r>
              <a:rPr sz="10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必要に応じて画面上で旧版も参照可能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6667" y="4783344"/>
            <a:ext cx="11958361" cy="1166669"/>
          </a:xfrm>
          <a:prstGeom prst="roundRect">
            <a:avLst>
              <a:gd name="adj" fmla="val 5000"/>
            </a:avLst>
          </a:prstGeom>
          <a:solidFill>
            <a:srgbClr val="F2F7FD"/>
          </a:solidFill>
          <a:ln w="10938">
            <a:solidFill>
              <a:srgbClr val="C8D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16667" y="4783344"/>
            <a:ext cx="1487503" cy="1166669"/>
          </a:xfrm>
          <a:prstGeom prst="roundRect">
            <a:avLst>
              <a:gd name="adj" fmla="val 5000"/>
            </a:avLst>
          </a:prstGeom>
          <a:solidFill>
            <a:srgbClr val="0E3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205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最新の考え方</a:t>
            </a:r>
          </a:p>
          <a:p>
            <a:pPr algn="ctr">
              <a:lnSpc>
                <a:spcPts val="205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（注意）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793754" y="4870845"/>
            <a:ext cx="1575004" cy="452084"/>
          </a:xfrm>
          <a:prstGeom prst="roundRect">
            <a:avLst>
              <a:gd name="adj" fmla="val 9677"/>
            </a:avLst>
          </a:prstGeom>
          <a:solidFill>
            <a:srgbClr val="2A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取込済み最新</a:t>
            </a:r>
          </a:p>
          <a:p>
            <a:pPr algn="ctr">
              <a:lnSpc>
                <a:spcPts val="1400"/>
              </a:lnSpc>
            </a:pPr>
            <a:r>
              <a:rPr sz="8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（本システムの最新）</a:t>
            </a:r>
          </a:p>
        </p:txBody>
      </p:sp>
      <p:pic>
        <p:nvPicPr>
          <p:cNvPr id="60" name="icon azure:sql-database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318755" y="5381263"/>
            <a:ext cx="510418" cy="510418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3485425" y="4870845"/>
            <a:ext cx="2683340" cy="1006252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87508" y="4914595"/>
            <a:ext cx="2552089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（本システムの最新）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02092" y="5162512"/>
            <a:ext cx="2552089" cy="6854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02084" indent="-102084">
              <a:lnSpc>
                <a:spcPts val="150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本システムに取込み済みの中での最新版</a:t>
            </a:r>
          </a:p>
          <a:p>
            <a:pPr algn="l" marL="102084" indent="-102084">
              <a:lnSpc>
                <a:spcPts val="150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検索・参照の対象となる</a:t>
            </a:r>
          </a:p>
          <a:p>
            <a:pPr algn="l" marL="102084" indent="-102084">
              <a:lnSpc>
                <a:spcPts val="150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画面に表示する最終取込日時時点の最新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41681" y="5104179"/>
            <a:ext cx="583335" cy="5833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32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≠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897933" y="4870845"/>
            <a:ext cx="1691671" cy="452084"/>
          </a:xfrm>
          <a:prstGeom prst="roundRect">
            <a:avLst>
              <a:gd name="adj" fmla="val 9677"/>
            </a:avLst>
          </a:prstGeom>
          <a:solidFill>
            <a:srgbClr val="6B7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元システム最新</a:t>
            </a:r>
          </a:p>
          <a:p>
            <a:pPr algn="ctr">
              <a:lnSpc>
                <a:spcPts val="1400"/>
              </a:lnSpc>
            </a:pPr>
            <a:r>
              <a:rPr sz="8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（共有サーバー上の最新）</a:t>
            </a:r>
          </a:p>
        </p:txBody>
      </p:sp>
      <p:pic>
        <p:nvPicPr>
          <p:cNvPr id="66" name="icon azure:storage-sync-services" descr="image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481267" y="5381263"/>
            <a:ext cx="525001" cy="510418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8706270" y="4870845"/>
            <a:ext cx="3281258" cy="1006252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08354" y="4914595"/>
            <a:ext cx="3135424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（共有サーバー上の最新）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22937" y="5162512"/>
            <a:ext cx="3135424" cy="6854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02084" indent="-102084">
              <a:lnSpc>
                <a:spcPts val="150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共有サーバー上に存在する最新版</a:t>
            </a:r>
          </a:p>
          <a:p>
            <a:pPr algn="l" marL="102084" indent="-102084">
              <a:lnSpc>
                <a:spcPts val="150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本システムにまだ取込みされていない可能性がある</a:t>
            </a:r>
          </a:p>
          <a:p>
            <a:pPr algn="l" marL="102084" indent="-102084">
              <a:lnSpc>
                <a:spcPts val="150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両者は一致しない場合がある（更新直後など）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6667" y="6066681"/>
            <a:ext cx="11958361" cy="685418"/>
          </a:xfrm>
          <a:prstGeom prst="roundRect">
            <a:avLst>
              <a:gd name="adj" fmla="val 8510"/>
            </a:avLst>
          </a:prstGeom>
          <a:solidFill>
            <a:srgbClr val="FDECEC"/>
          </a:solidFill>
          <a:ln w="14583">
            <a:solidFill>
              <a:srgbClr val="E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icon material:warning-fill" descr="image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2501" y="6168764"/>
            <a:ext cx="481251" cy="48125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45835" y="6066681"/>
            <a:ext cx="11156276" cy="6854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2050"/>
              </a:lnSpc>
            </a:pPr>
            <a:r>
              <a:rPr sz="1200" b="1" i="0">
                <a:solidFill>
                  <a:srgbClr val="D42A2A"/>
                </a:solidFill>
                <a:latin typeface="Meiryo"/>
                <a:ea typeface="Meiryo"/>
                <a:cs typeface="Meiryo"/>
              </a:rPr>
              <a:t>取込済みの最新（本システムの最新）と、元システムの最新（共有サーバー上の最新）は異なる場合があります。</a:t>
            </a:r>
          </a:p>
          <a:p>
            <a:pPr algn="l">
              <a:lnSpc>
                <a:spcPts val="2050"/>
              </a:lnSpc>
            </a:pPr>
            <a:r>
              <a:rPr sz="1200" b="1" i="0">
                <a:solidFill>
                  <a:srgbClr val="D42A2A"/>
                </a:solidFill>
                <a:latin typeface="Meiryo"/>
                <a:ea typeface="Meiryo"/>
                <a:cs typeface="Meiryo"/>
              </a:rPr>
              <a:t>検索・参照の際は、画面に表示される「最終取込日時」を必ず確認してください。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
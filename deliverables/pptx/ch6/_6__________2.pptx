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5834" y="72917"/>
            <a:ext cx="1210419" cy="422918"/>
          </a:xfrm>
          <a:prstGeom prst="roundRect">
            <a:avLst>
              <a:gd name="adj" fmla="val 10344"/>
            </a:avLst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表6-1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2087" y="43750"/>
            <a:ext cx="10500024" cy="48125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3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版・適用の情報源と優先順位</a:t>
            </a:r>
          </a:p>
        </p:txBody>
      </p:sp>
      <p:graphicFrame>
        <p:nvGraphicFramePr>
          <p:cNvPr id="4" name="source-table"/>
          <p:cNvGraphicFramePr>
            <a:graphicFrameLocks noGrp="1"/>
          </p:cNvGraphicFramePr>
          <p:nvPr/>
        </p:nvGraphicFramePr>
        <p:xfrm>
          <a:off x="116667" y="597918"/>
          <a:ext cx="11987528" cy="4433345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20837"/>
                <a:gridCol w="2668756"/>
                <a:gridCol w="2172922"/>
                <a:gridCol w="1225003"/>
                <a:gridCol w="4200010"/>
              </a:tblGrid>
              <a:tr h="422918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情報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主な情報源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用途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  <a:tc gridSpan="2"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</a:rPr>
                        <a:t>優先度・留意点</a:t>
                      </a:r>
                    </a:p>
                  </a:txBody>
                  <a:tcPr marL="291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0E3F8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70835"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4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REV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（リビジョン）</a:t>
                      </a:r>
                    </a:p>
                  </a:txBody>
                  <a:tcPr marL="145834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45834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図面マスター（UsingDWG.REV）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文書管理（JP/WPS/SPEC 等）</a:t>
                      </a:r>
                    </a:p>
                  </a:txBody>
                  <a:tcPr marL="145834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05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最新判定の主要キー</a:t>
                      </a:r>
                    </a:p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（同一文書番号内での新旧比較）</a:t>
                      </a:r>
                    </a:p>
                  </a:txBody>
                  <a:tcPr marL="1166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554168" tIns="14583" rIns="29167" bIns="14583" anchor="ctr">
                      <a:noAutofit/>
                    </a:bodyPr>
                    <a:lstStyle/>
                    <a:p>
                      <a:pPr algn="l"/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最優先</a:t>
                      </a:r>
                    </a:p>
                  </a:txBody>
                  <a:tcPr marL="554168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5F9FD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同一文書番号で、</a:t>
                      </a:r>
                      <a:r>
                        <a:rPr sz="85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発効日 ≦ 基準日 かつ有効の中で REV 最大を最新版</a:t>
                      </a: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とする</a:t>
                      </a:r>
                    </a:p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英数字の比較規則（例：A &lt; B &lt; … &lt; Z &lt; AA …）は Gate 0 で確認</a:t>
                      </a:r>
                    </a:p>
                  </a:txBody>
                  <a:tcPr marL="1166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5F9FD"/>
                    </a:solidFill>
                  </a:tcPr>
                </a:tc>
              </a:tr>
              <a:tr h="641668"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4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ED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（改訂・設変番号）</a:t>
                      </a:r>
                    </a:p>
                  </a:txBody>
                  <a:tcPr marL="145834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45834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図面マスター（UsingDWG.EO）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文書管理（設変履歴 等）</a:t>
                      </a:r>
                    </a:p>
                  </a:txBody>
                  <a:tcPr marL="145834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05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版の派生関係・改訂の追跡</a:t>
                      </a:r>
                    </a:p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（参考情報）</a:t>
                      </a:r>
                    </a:p>
                  </a:txBody>
                  <a:tcPr marL="1166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554168" tIns="14583" rIns="29167" bIns="14583" anchor="ctr">
                      <a:noAutofit/>
                    </a:bodyPr>
                    <a:lstStyle/>
                    <a:p>
                      <a:pPr algn="l"/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高</a:t>
                      </a:r>
                    </a:p>
                  </a:txBody>
                  <a:tcPr marL="554168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5F9FD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同一 REV 内の改訂識別に使用</a:t>
                      </a:r>
                    </a:p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最新版判定の補助。運用は文書種別により異なるため Gate 0 で確認</a:t>
                      </a:r>
                    </a:p>
                  </a:txBody>
                  <a:tcPr marL="1166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5F9FD"/>
                    </a:solidFill>
                  </a:tcPr>
                </a:tc>
              </a:tr>
              <a:tr h="656252"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4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発効日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（有効開始日）</a:t>
                      </a:r>
                    </a:p>
                  </a:txBody>
                  <a:tcPr marL="145834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45834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文書管理（発効日）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図面マスター（承認日・発効日 等）</a:t>
                      </a:r>
                    </a:p>
                  </a:txBody>
                  <a:tcPr marL="145834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05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最新判定の条件</a:t>
                      </a:r>
                    </a:p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（基準日時点で有効かの判定）</a:t>
                      </a:r>
                    </a:p>
                  </a:txBody>
                  <a:tcPr marL="1166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554168" tIns="14583" rIns="29167" bIns="14583" anchor="ctr">
                      <a:noAutofit/>
                    </a:bodyPr>
                    <a:lstStyle/>
                    <a:p>
                      <a:pPr algn="l"/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最優先</a:t>
                      </a:r>
                    </a:p>
                  </a:txBody>
                  <a:tcPr marL="554168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5F9FD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発効日 ≦ 基準日 のものを対象とする</a:t>
                      </a:r>
                    </a:p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未発効の文書は最新版としない</a:t>
                      </a:r>
                    </a:p>
                  </a:txBody>
                  <a:tcPr marL="1166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5F9FD"/>
                    </a:solidFill>
                  </a:tcPr>
                </a:tc>
              </a:tr>
              <a:tr h="656252"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FROM - THRU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（適用号機範囲）</a:t>
                      </a:r>
                    </a:p>
                  </a:txBody>
                  <a:tcPr marL="145834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45834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図面マスター（UsingDWG.</a:t>
                      </a:r>
                      <a:br/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SerialFrom / SerialThru）</a:t>
                      </a:r>
                    </a:p>
                  </a:txBody>
                  <a:tcPr marL="145834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05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対象への適用判定</a:t>
                      </a:r>
                    </a:p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（号機・製番の範囲確認）</a:t>
                      </a:r>
                    </a:p>
                  </a:txBody>
                  <a:tcPr marL="1166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554168" tIns="14583" rIns="29167" bIns="14583" anchor="ctr">
                      <a:noAutofit/>
                    </a:bodyPr>
                    <a:lstStyle/>
                    <a:p>
                      <a:pPr algn="l"/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最優先</a:t>
                      </a:r>
                    </a:p>
                  </a:txBody>
                  <a:tcPr marL="554168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5F9FD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対象の号機・製番が FROM ～ THRU の範囲内に含まれるかで判定</a:t>
                      </a:r>
                    </a:p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NULL（空欄）の扱い（全号機適用等）は Gate 0 で確認</a:t>
                      </a:r>
                    </a:p>
                  </a:txBody>
                  <a:tcPr marL="1166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5F9FD"/>
                    </a:solidFill>
                  </a:tcPr>
                </a:tc>
              </a:tr>
              <a:tr h="700002"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MBOM部品バージョン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有効開始/終了日</a:t>
                      </a:r>
                    </a:p>
                  </a:txBody>
                  <a:tcPr marL="145834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45834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MBOM（部品マスター／構成履歴）</a:t>
                      </a:r>
                    </a:p>
                  </a:txBody>
                  <a:tcPr marL="145834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05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部品の適用判定</a:t>
                      </a:r>
                    </a:p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（構成の有効期間確認）</a:t>
                      </a:r>
                    </a:p>
                  </a:txBody>
                  <a:tcPr marL="1166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554168" tIns="14583" rIns="29167" bIns="14583" anchor="ctr">
                      <a:noAutofit/>
                    </a:bodyPr>
                    <a:lstStyle/>
                    <a:p>
                      <a:pPr algn="l"/>
                      <a:r>
                        <a:rPr sz="12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高</a:t>
                      </a:r>
                    </a:p>
                  </a:txBody>
                  <a:tcPr marL="554168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5F9FD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対象日時点で </a:t>
                      </a:r>
                      <a:r>
                        <a:rPr sz="85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有効開始日 ≦ 基準日 ≦ 有効終了日</a:t>
                      </a: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 を満たすものを適用</a:t>
                      </a:r>
                    </a:p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終了日が NULL の扱い（無期限等）は Gate 0 で確認</a:t>
                      </a:r>
                    </a:p>
                  </a:txBody>
                  <a:tcPr marL="1166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5F9FD"/>
                    </a:solidFill>
                  </a:tcPr>
                </a:tc>
              </a:tr>
              <a:tr h="685418">
                <a:tc>
                  <a:txBody>
                    <a:bodyPr wrap="square" lIns="145834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4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履歴番号</a:t>
                      </a:r>
                    </a:p>
                    <a:p>
                      <a:pPr algn="l">
                        <a:lnSpc>
                          <a:spcPts val="1700"/>
                        </a:lnSpc>
                      </a:pPr>
                      <a:r>
                        <a:rPr sz="1050" b="1" i="0">
                          <a:solidFill>
                            <a:srgbClr val="1F3A6E"/>
                          </a:solidFill>
                          <a:latin typeface="Meiryo"/>
                          <a:ea typeface="Meiryo"/>
                          <a:cs typeface="Meiryo"/>
                        </a:rPr>
                        <a:t>（改訂履歴・変更履歴）</a:t>
                      </a:r>
                    </a:p>
                  </a:txBody>
                  <a:tcPr marL="145834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E6F1FB"/>
                    </a:solidFill>
                  </a:tcPr>
                </a:tc>
                <a:tc>
                  <a:txBody>
                    <a:bodyPr wrap="square" lIns="145834" tIns="14583" rIns="43750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文書管理（改訂履歴）</a:t>
                      </a:r>
                    </a:p>
                    <a:p>
                      <a:pPr algn="l" marL="131250" indent="-131250">
                        <a:lnSpc>
                          <a:spcPts val="1600"/>
                        </a:lnSpc>
                        <a:buFont typeface="Arial"/>
                        <a:buChar char="•"/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システム履歴（承認履歴 等）</a:t>
                      </a:r>
                    </a:p>
                  </a:txBody>
                  <a:tcPr marL="145834" marT="14583" marR="43750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050" b="1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変更経緯の確認</a:t>
                      </a:r>
                    </a:p>
                    <a:p>
                      <a:pPr algn="l">
                        <a:lnSpc>
                          <a:spcPts val="1650"/>
                        </a:lnSpc>
                      </a:pPr>
                      <a:r>
                        <a:rPr sz="100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（参考情報）</a:t>
                      </a:r>
                    </a:p>
                  </a:txBody>
                  <a:tcPr marL="1166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 wrap="square" lIns="554168" tIns="14583" rIns="29167" bIns="14583" anchor="ctr">
                      <a:noAutofit/>
                    </a:bodyPr>
                    <a:lstStyle/>
                    <a:p>
                      <a:pPr algn="l"/>
                      <a:r>
                        <a:rPr sz="1250" b="1" i="0">
                          <a:solidFill>
                            <a:srgbClr val="4A5563"/>
                          </a:solidFill>
                          <a:latin typeface="Meiryo"/>
                          <a:ea typeface="Meiryo"/>
                          <a:cs typeface="Meiryo"/>
                        </a:rPr>
                        <a:t>補助</a:t>
                      </a:r>
                    </a:p>
                  </a:txBody>
                  <a:tcPr marL="554168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5F9FD"/>
                    </a:solidFill>
                  </a:tcPr>
                </a:tc>
                <a:tc>
                  <a:txBody>
                    <a:bodyPr wrap="square" lIns="116667" tIns="14583" rIns="29167" bIns="14583" anchor="ctr">
                      <a:noAutofit/>
                    </a:bodyPr>
                    <a:lstStyle/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最新版判定・適用判定の補助情報として利用</a:t>
                      </a:r>
                    </a:p>
                    <a:p>
                      <a:pPr algn="l" marL="131250" indent="-131250">
                        <a:lnSpc>
                          <a:spcPts val="1550"/>
                        </a:lnSpc>
                        <a:buFont typeface="Arial"/>
                        <a:buChar char="•"/>
                      </a:pPr>
                      <a:r>
                        <a:rPr sz="850" b="0" i="0">
                          <a:solidFill>
                            <a:srgbClr val="1E2A44"/>
                          </a:solidFill>
                          <a:latin typeface="Meiryo"/>
                          <a:ea typeface="Meiryo"/>
                          <a:cs typeface="Meiryo"/>
                        </a:rPr>
                        <a:t>履歴番号のみでは最新版・適用を判定しない</a:t>
                      </a:r>
                    </a:p>
                  </a:txBody>
                  <a:tcPr marL="116667" marT="14583" marR="29167" marB="14583" anchor="ctr">
                    <a:lnB w="10938">
                      <a:solidFill>
                        <a:srgbClr val="D6E1EE"/>
                      </a:solidFill>
                    </a:lnB>
                    <a:lnT w="10938">
                      <a:solidFill>
                        <a:srgbClr val="D6E1EE"/>
                      </a:solidFill>
                    </a:lnT>
                    <a:lnR w="10938">
                      <a:solidFill>
                        <a:srgbClr val="D6E1EE"/>
                      </a:solidFill>
                    </a:lnR>
                    <a:lnL w="10938">
                      <a:solidFill>
                        <a:srgbClr val="D6E1EE"/>
                      </a:solidFill>
                    </a:lnL>
                    <a:solidFill>
                      <a:srgbClr val="F5F9FD"/>
                    </a:solidFill>
                  </a:tcPr>
                </a:tc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6817724" y="1188544"/>
            <a:ext cx="335417" cy="335417"/>
          </a:xfrm>
          <a:prstGeom prst="ellipse">
            <a:avLst/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6817724" y="1844796"/>
            <a:ext cx="335417" cy="335417"/>
          </a:xfrm>
          <a:prstGeom prst="ellipse">
            <a:avLst/>
          </a:prstGeom>
          <a:solidFill>
            <a:srgbClr val="2AA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17724" y="2493756"/>
            <a:ext cx="335417" cy="335417"/>
          </a:xfrm>
          <a:prstGeom prst="ellipse">
            <a:avLst/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817724" y="3150007"/>
            <a:ext cx="335417" cy="335417"/>
          </a:xfrm>
          <a:prstGeom prst="ellipse">
            <a:avLst/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6817724" y="3828134"/>
            <a:ext cx="335417" cy="335417"/>
          </a:xfrm>
          <a:prstGeom prst="ellipse">
            <a:avLst/>
          </a:prstGeom>
          <a:solidFill>
            <a:srgbClr val="2AA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817724" y="4520844"/>
            <a:ext cx="335417" cy="335417"/>
          </a:xfrm>
          <a:prstGeom prst="ellipse">
            <a:avLst/>
          </a:prstGeom>
          <a:solidFill>
            <a:srgbClr val="7A83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6667" y="5147929"/>
            <a:ext cx="3981259" cy="1589587"/>
          </a:xfrm>
          <a:prstGeom prst="roundRect">
            <a:avLst>
              <a:gd name="adj" fmla="val 2752"/>
            </a:avLst>
          </a:prstGeom>
          <a:solidFill>
            <a:srgbClr val="F7FAFD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6667" y="5147929"/>
            <a:ext cx="3981259" cy="320834"/>
          </a:xfrm>
          <a:prstGeom prst="roundRect">
            <a:avLst>
              <a:gd name="adj" fmla="val 13636"/>
            </a:avLst>
          </a:prstGeom>
          <a:solidFill>
            <a:srgbClr val="0E4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6667" y="5322929"/>
            <a:ext cx="3981259" cy="145834"/>
          </a:xfrm>
          <a:prstGeom prst="rect">
            <a:avLst/>
          </a:prstGeom>
          <a:solidFill>
            <a:srgbClr val="0E4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7917" y="5147929"/>
            <a:ext cx="3806259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最新版の判定ルール（基本）</a:t>
            </a:r>
          </a:p>
        </p:txBody>
      </p:sp>
      <p:sp>
        <p:nvSpPr>
          <p:cNvPr id="15" name="Oval 14"/>
          <p:cNvSpPr/>
          <p:nvPr/>
        </p:nvSpPr>
        <p:spPr>
          <a:xfrm>
            <a:off x="247917" y="5570846"/>
            <a:ext cx="262501" cy="262501"/>
          </a:xfrm>
          <a:prstGeom prst="ellipse">
            <a:avLst/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918" y="5527096"/>
            <a:ext cx="3456258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同一文書番号の候補を抽出</a:t>
            </a:r>
          </a:p>
        </p:txBody>
      </p:sp>
      <p:sp>
        <p:nvSpPr>
          <p:cNvPr id="17" name="Oval 16"/>
          <p:cNvSpPr/>
          <p:nvPr/>
        </p:nvSpPr>
        <p:spPr>
          <a:xfrm>
            <a:off x="247917" y="5935430"/>
            <a:ext cx="262501" cy="262501"/>
          </a:xfrm>
          <a:prstGeom prst="ellipse">
            <a:avLst/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918" y="5891680"/>
            <a:ext cx="3456258" cy="3500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発効日 ≦ 基準日 かつ 有効（終了日未到達）のものに絞り込み</a:t>
            </a:r>
          </a:p>
        </p:txBody>
      </p:sp>
      <p:sp>
        <p:nvSpPr>
          <p:cNvPr id="19" name="Oval 18"/>
          <p:cNvSpPr/>
          <p:nvPr/>
        </p:nvSpPr>
        <p:spPr>
          <a:xfrm>
            <a:off x="247917" y="6300015"/>
            <a:ext cx="262501" cy="262501"/>
          </a:xfrm>
          <a:prstGeom prst="ellipse">
            <a:avLst/>
          </a:prstGeom>
          <a:solidFill>
            <a:srgbClr val="0E2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918" y="6256265"/>
            <a:ext cx="3456258" cy="4083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REV（必要に応じて ED を含む）の比較規則に従い、</a:t>
            </a:r>
            <a:br/>
            <a:r>
              <a:rPr sz="9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最大のものを最新版とする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0010" y="5147929"/>
            <a:ext cx="4112510" cy="1589587"/>
          </a:xfrm>
          <a:prstGeom prst="roundRect">
            <a:avLst>
              <a:gd name="adj" fmla="val 2752"/>
            </a:avLst>
          </a:prstGeom>
          <a:solidFill>
            <a:srgbClr val="F7FAFD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00010" y="5147929"/>
            <a:ext cx="4112510" cy="320834"/>
          </a:xfrm>
          <a:prstGeom prst="roundRect">
            <a:avLst>
              <a:gd name="adj" fmla="val 13636"/>
            </a:avLst>
          </a:prstGeom>
          <a:solidFill>
            <a:srgbClr val="1D6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0010" y="5322929"/>
            <a:ext cx="4112510" cy="145834"/>
          </a:xfrm>
          <a:prstGeom prst="rect">
            <a:avLst/>
          </a:prstGeom>
          <a:solidFill>
            <a:srgbClr val="1D6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1260" y="5147929"/>
            <a:ext cx="3937509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適用の判定ルール（基本）</a:t>
            </a:r>
          </a:p>
        </p:txBody>
      </p:sp>
      <p:sp>
        <p:nvSpPr>
          <p:cNvPr id="25" name="Oval 24"/>
          <p:cNvSpPr/>
          <p:nvPr/>
        </p:nvSpPr>
        <p:spPr>
          <a:xfrm>
            <a:off x="4331260" y="5585430"/>
            <a:ext cx="262501" cy="262501"/>
          </a:xfrm>
          <a:prstGeom prst="ellipse">
            <a:avLst/>
          </a:prstGeom>
          <a:solidFill>
            <a:srgbClr val="2A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261" y="5527096"/>
            <a:ext cx="3602092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対象の号機・製番が FROM ～ THRU の範囲内に含まれるかを確認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（図面・文書）</a:t>
            </a:r>
          </a:p>
        </p:txBody>
      </p:sp>
      <p:sp>
        <p:nvSpPr>
          <p:cNvPr id="27" name="Oval 26"/>
          <p:cNvSpPr/>
          <p:nvPr/>
        </p:nvSpPr>
        <p:spPr>
          <a:xfrm>
            <a:off x="4331260" y="5993764"/>
            <a:ext cx="262501" cy="262501"/>
          </a:xfrm>
          <a:prstGeom prst="ellipse">
            <a:avLst/>
          </a:prstGeom>
          <a:solidFill>
            <a:srgbClr val="2A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261" y="5935430"/>
            <a:ext cx="3602092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部品については 有効開始日 ≦ 基準日 ≦ 有効終了日 を確認</a:t>
            </a:r>
            <a:br/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（MBOM）</a:t>
            </a:r>
          </a:p>
        </p:txBody>
      </p:sp>
      <p:sp>
        <p:nvSpPr>
          <p:cNvPr id="29" name="Oval 28"/>
          <p:cNvSpPr/>
          <p:nvPr/>
        </p:nvSpPr>
        <p:spPr>
          <a:xfrm>
            <a:off x="4331260" y="6402098"/>
            <a:ext cx="262501" cy="262501"/>
          </a:xfrm>
          <a:prstGeom prst="ellipse">
            <a:avLst/>
          </a:prstGeom>
          <a:solidFill>
            <a:srgbClr val="2A8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261" y="6343765"/>
            <a:ext cx="3602092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400"/>
              </a:lnSpc>
            </a:pPr>
            <a:r>
              <a:rPr sz="90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上記を満たすもののみを適用と判定する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4603" y="5147929"/>
            <a:ext cx="3660425" cy="1589587"/>
          </a:xfrm>
          <a:prstGeom prst="roundRect">
            <a:avLst>
              <a:gd name="adj" fmla="val 2752"/>
            </a:avLst>
          </a:prstGeom>
          <a:solidFill>
            <a:srgbClr val="F7FAFD"/>
          </a:solidFill>
          <a:ln w="8750">
            <a:solidFill>
              <a:srgbClr val="C4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14603" y="5147929"/>
            <a:ext cx="3660425" cy="320834"/>
          </a:xfrm>
          <a:prstGeom prst="roundRect">
            <a:avLst>
              <a:gd name="adj" fmla="val 13636"/>
            </a:avLst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14603" y="5322929"/>
            <a:ext cx="3660425" cy="145834"/>
          </a:xfrm>
          <a:prstGeom prst="rect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5853" y="5147929"/>
            <a:ext cx="3485425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共通の留意事項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1270" y="5527096"/>
            <a:ext cx="3500008" cy="118125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16667" indent="-116667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未発効の文書は、たとえ REV が最大でも最新版としない。</a:t>
            </a:r>
          </a:p>
          <a:p>
            <a:pPr algn="l" marL="116667" indent="-116667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NULL（空欄・未設定）の扱い（全号機適用、無期限 等）は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文書種別ごとに異なるため、Gate 0 で確認する。</a:t>
            </a:r>
          </a:p>
          <a:p>
            <a:pPr algn="l" marL="116667" indent="-116667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REV・ED の比較規則（英数字・桁数・先頭ゼロの扱い等）は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Gate 0 で確認し、実装時に固定する。</a:t>
            </a:r>
          </a:p>
          <a:p>
            <a:pPr algn="l" marL="116667" indent="-116667">
              <a:lnSpc>
                <a:spcPts val="1300"/>
              </a:lnSpc>
              <a:buFont typeface="Arial"/>
              <a:buChar char="•"/>
            </a:pPr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情報が欠損している場合でも、最新版であると断定しない。</a:t>
            </a:r>
            <a:br/>
            <a:r>
              <a:rPr sz="850" b="0" i="0">
                <a:solidFill>
                  <a:srgbClr val="1E2A44"/>
                </a:solidFill>
                <a:latin typeface="Meiryo"/>
                <a:ea typeface="Meiryo"/>
                <a:cs typeface="Meiryo"/>
              </a:rPr>
              <a:t>不明の場合は「適用未確認」として扱う。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
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500" y="58333"/>
            <a:ext cx="12016695" cy="554168"/>
          </a:xfrm>
          <a:prstGeom prst="roundRect">
            <a:avLst>
              <a:gd name="adj" fmla="val 13157"/>
            </a:avLst>
          </a:prstGeom>
          <a:solidFill>
            <a:srgbClr val="E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500" y="58333"/>
            <a:ext cx="12016695" cy="554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確定条件はコードで絞り、意味検索は候補拡張に限定</a:t>
            </a:r>
          </a:p>
        </p:txBody>
      </p:sp>
      <p:graphicFrame>
        <p:nvGraphicFramePr>
          <p:cNvPr id="4" name="method-table"/>
          <p:cNvGraphicFramePr>
            <a:graphicFrameLocks noGrp="1"/>
          </p:cNvGraphicFramePr>
          <p:nvPr/>
        </p:nvGraphicFramePr>
        <p:xfrm>
          <a:off x="72917" y="685418"/>
          <a:ext cx="12045861" cy="611043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14588"/>
                <a:gridCol w="2202088"/>
                <a:gridCol w="2121880"/>
                <a:gridCol w="3040632"/>
                <a:gridCol w="2566673"/>
              </a:tblGrid>
              <a:tr h="5250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質問種類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質問例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採用する方式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なぜこの方式を採用するのか（理由）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単一方式で起きる</a:t>
                      </a:r>
                    </a:p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取り逃しリスク</a:t>
                      </a:r>
                    </a:p>
                  </a:txBody>
                  <a:tcPr marL="29167" marT="14583" marR="29167" marB="14583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</a:tr>
              <a:tr h="1443753">
                <a:tc>
                  <a:txBody>
                    <a:bodyPr wrap="square" lIns="583335" tIns="189584" rIns="29167" bIns="29167" anchor="t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部品番号・工程番号・</a:t>
                      </a:r>
                      <a:br/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文書番号など</a:t>
                      </a:r>
                      <a:br/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確定キーのみ</a:t>
                      </a:r>
                    </a:p>
                  </a:txBody>
                  <a:tcPr marL="583335" marT="189584" marR="29167" marB="29167" anchor="t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 123456 の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図面を検索</a:t>
                      </a:r>
                    </a:p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工程番号 10-20 の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作業手順を表示</a:t>
                      </a:r>
                    </a:p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文書番号 JP-2024-001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を参照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29167" tIns="29167" rIns="29167" bIns="160417" anchor="b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構造化検索</a:t>
                      </a:r>
                    </a:p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（完全一致・フィルタ）</a:t>
                      </a:r>
                    </a:p>
                  </a:txBody>
                  <a:tcPr marL="29167" marT="29167" marR="29167" marB="160417" anchor="b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3F0FB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確定キーは一意性が高く、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構造化検索で正確かつ高速に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目的のデータへ到達できる</a:t>
                      </a:r>
                    </a:p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不要な類似候補を除外し、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誤った情報の混入を防ぐ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ベクトル検索のみ：</a:t>
                      </a: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表記ゆれや類似表現により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別の部品・文書を返す可能性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全文検索のみ：</a:t>
                      </a: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コード項目の一致精度が低く、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該当データを取り逃す可能性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EF1F5"/>
                    </a:solidFill>
                  </a:tcPr>
                </a:tc>
              </a:tr>
              <a:tr h="1560420">
                <a:tc>
                  <a:txBody>
                    <a:bodyPr wrap="square" lIns="583335" tIns="189584" rIns="29167" bIns="29167" anchor="t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確定キー＋</a:t>
                      </a:r>
                      <a:br/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自然言語</a:t>
                      </a:r>
                    </a:p>
                  </a:txBody>
                  <a:tcPr marL="583335" marT="189584" marR="29167" marB="29167" anchor="t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 123456 の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後継品を教えて</a:t>
                      </a:r>
                    </a:p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工程番号 10-20 の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不具合事例を調べて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29167" tIns="29167" rIns="29167" bIns="160417" anchor="b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構造化で絞って</a:t>
                      </a:r>
                    </a:p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全文・ベクトル</a:t>
                      </a:r>
                    </a:p>
                  </a:txBody>
                  <a:tcPr marL="29167" marT="29167" marR="29167" marB="160417" anchor="b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3F0FB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確定キーで対象範囲を絞り込み、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その中から自然言語の意図に合う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情報を全文・ベクトルで検索する</a:t>
                      </a:r>
                    </a:p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ノイズを抑えつつ、関連情報の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取りこぼしを防げる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構造化検索のみ：</a:t>
                      </a: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確定キーだけでは関連情報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（関連文書・類似事例）を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取り逃す可能性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ベクトル検索のみ：</a:t>
                      </a: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対象範囲が広くノイズが多く、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目的の情報を見落とす可能性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EF1F5"/>
                    </a:solidFill>
                  </a:tcPr>
                </a:tc>
              </a:tr>
              <a:tr h="1487503">
                <a:tc>
                  <a:txBody>
                    <a:bodyPr wrap="square" lIns="583335" tIns="189584" rIns="29167" bIns="29167" anchor="t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自然言語のみ</a:t>
                      </a:r>
                    </a:p>
                  </a:txBody>
                  <a:tcPr marL="583335" marT="189584" marR="29167" marB="29167" anchor="t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この部品の類似事例を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教えて</a:t>
                      </a:r>
                    </a:p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加工方法の注意点を調べて</a:t>
                      </a:r>
                    </a:p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この不具合の原因は？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29167" tIns="29167" rIns="29167" bIns="160417" anchor="b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全文 BM25＋</a:t>
                      </a:r>
                    </a:p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ベクトルのハイブリッド</a:t>
                      </a:r>
                    </a:p>
                  </a:txBody>
                  <a:tcPr marL="29167" marT="29167" marR="29167" marB="160417" anchor="b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3F0FB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キーワードの一致（全文 BM25）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と意味の類似（ベクトル）を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組み合わせ、用語の揺れや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類似表現にも対応できる</a:t>
                      </a:r>
                    </a:p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網羅性を高め、関連する候補を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幅広く提示できる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全文検索のみ：</a:t>
                      </a: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同義語・表記ゆれにより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関連情報を取り逃す可能性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ベクトル検索のみ：</a:t>
                      </a: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固有名詞や専門用語の一致に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弱く、重要な情報を見落とす可能性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EF1F5"/>
                    </a:solidFill>
                  </a:tcPr>
                </a:tc>
              </a:tr>
              <a:tr h="1093753">
                <a:tc>
                  <a:txBody>
                    <a:bodyPr wrap="square" lIns="583335" tIns="189584" rIns="29167" bIns="29167" anchor="t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意図不明／</a:t>
                      </a:r>
                      <a:br/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同名異義語</a:t>
                      </a:r>
                    </a:p>
                  </a:txBody>
                  <a:tcPr marL="583335" marT="189584" marR="29167" marB="29167" anchor="t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この部品について教えて</a:t>
                      </a:r>
                      <a:r>
                        <a:rPr sz="800" b="0" i="0">
                          <a:solidFill>
                            <a:srgbClr val="33466A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800" b="0" i="0">
                          <a:solidFill>
                            <a:srgbClr val="33466A"/>
                          </a:solidFill>
                          <a:latin typeface="Meiryo"/>
                          <a:ea typeface="Meiryo"/>
                          <a:cs typeface="Meiryo"/>
                        </a:rPr>
                        <a:t>（対象の部品が不明）</a:t>
                      </a:r>
                    </a:p>
                    <a:p>
                      <a:pPr algn="l" marL="145834" indent="-145834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“フランジ”の図面を探して</a:t>
                      </a:r>
                      <a:r>
                        <a:rPr sz="800" b="0" i="0">
                          <a:solidFill>
                            <a:srgbClr val="33466A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800" b="0" i="0">
                          <a:solidFill>
                            <a:srgbClr val="33466A"/>
                          </a:solidFill>
                          <a:latin typeface="Meiryo"/>
                          <a:ea typeface="Meiryo"/>
                          <a:cs typeface="Meiryo"/>
                        </a:rPr>
                        <a:t>（同名異義語が複数存在）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29167" tIns="29167" rIns="29167" bIns="102084" anchor="b">
                      <a:noAutofit/>
                    </a:bodyPr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追加確認</a:t>
                      </a:r>
                    </a:p>
                    <a:p>
                      <a:pPr algn="ctr">
                        <a:lnSpc>
                          <a:spcPts val="17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（Dify質問分岐）</a:t>
                      </a:r>
                    </a:p>
                  </a:txBody>
                  <a:tcPr marL="29167" marT="29167" marR="29167" marB="102084" anchor="b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3F0FB"/>
                    </a:solidFill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意図が不明確な場合や同名異義語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が存在する場合は、追加質問により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対象を特定してから検索を実行する</a:t>
                      </a:r>
                    </a:p>
                    <a:p>
                      <a:pPr algn="l" marL="145834" indent="-145834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誤った解釈による検索を防ぎ、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精度の高い結果を提示できる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noFill/>
                  </a:tcPr>
                </a:tc>
                <a:tc>
                  <a:txBody>
                    <a:bodyPr wrap="square" lIns="131250" tIns="29167" rIns="58333" bIns="29167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10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単一検索方式のみ：</a:t>
                      </a: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誤った対象で検索され、無関係な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結果を提示する可能性が高く、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正しい情報を取り逃す</a:t>
                      </a:r>
                    </a:p>
                  </a:txBody>
                  <a:tcPr marL="131250" marT="29167" marR="58333" marB="29167" anchor="ctr">
                    <a:lnB w="21875">
                      <a:solidFill>
                        <a:srgbClr val="FFFFFF"/>
                      </a:solidFill>
                    </a:lnB>
                    <a:lnT w="21875">
                      <a:solidFill>
                        <a:srgbClr val="FFFFFF"/>
                      </a:solidFill>
                    </a:lnT>
                    <a:lnR w="21875">
                      <a:solidFill>
                        <a:srgbClr val="FFFFFF"/>
                      </a:solidFill>
                    </a:lnR>
                    <a:lnL w="21875">
                      <a:solidFill>
                        <a:srgbClr val="FFFFFF"/>
                      </a:solidFill>
                    </a:lnL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89584" y="1341670"/>
            <a:ext cx="350001" cy="350001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pic>
        <p:nvPicPr>
          <p:cNvPr id="6" name="icon azure:sql-databas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7200" y="1348961"/>
            <a:ext cx="466668" cy="46666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89584" y="2785423"/>
            <a:ext cx="350001" cy="350001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pic>
        <p:nvPicPr>
          <p:cNvPr id="8" name="icon azure:sql-databas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4699" y="2814590"/>
            <a:ext cx="422918" cy="4229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77617" y="2902090"/>
            <a:ext cx="189584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+</a:t>
            </a:r>
          </a:p>
        </p:txBody>
      </p:sp>
      <p:pic>
        <p:nvPicPr>
          <p:cNvPr id="10" name="icon azure:search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7200" y="2836465"/>
            <a:ext cx="379168" cy="37916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89584" y="4345843"/>
            <a:ext cx="350001" cy="350001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pic>
        <p:nvPicPr>
          <p:cNvPr id="12" name="icon azure:file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8241" y="4375010"/>
            <a:ext cx="422918" cy="4229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1158" y="4462510"/>
            <a:ext cx="189584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+</a:t>
            </a:r>
          </a:p>
        </p:txBody>
      </p:sp>
      <p:pic>
        <p:nvPicPr>
          <p:cNvPr id="14" name="icon azure:cognitive-services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30742" y="4360427"/>
            <a:ext cx="452084" cy="45208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89584" y="5833347"/>
            <a:ext cx="350001" cy="350001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pic>
        <p:nvPicPr>
          <p:cNvPr id="16" name="icon azure:bot-services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24491" y="5789597"/>
            <a:ext cx="452084" cy="4520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
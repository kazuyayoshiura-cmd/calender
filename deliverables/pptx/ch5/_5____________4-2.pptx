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084" y="102084"/>
            <a:ext cx="991669" cy="408334"/>
          </a:xfrm>
          <a:prstGeom prst="roundRect">
            <a:avLst>
              <a:gd name="adj" fmla="val 7142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表 5-4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3336" y="58333"/>
            <a:ext cx="7291684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方式比較の評価計画</a:t>
            </a:r>
            <a:r>
              <a:rPr sz="15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（評価対象・評価指標の定義・採否判断の基準）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5834" y="670835"/>
            <a:ext cx="5104179" cy="5483346"/>
          </a:xfrm>
          <a:prstGeom prst="roundRect">
            <a:avLst>
              <a:gd name="adj" fmla="val 857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5834" y="670835"/>
            <a:ext cx="5104179" cy="364584"/>
          </a:xfrm>
          <a:prstGeom prst="roundRect">
            <a:avLst>
              <a:gd name="adj" fmla="val 12000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5834" y="889585"/>
            <a:ext cx="5104179" cy="145834"/>
          </a:xfrm>
          <a:prstGeom prst="rect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1667" y="670835"/>
            <a:ext cx="4885428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評価対象：代表質問セット（例）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62501" y="1152086"/>
          <a:ext cx="4870845" cy="481251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2921"/>
                <a:gridCol w="3047924"/>
              </a:tblGrid>
              <a:tr h="962502"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番号・条件一致</a:t>
                      </a:r>
                    </a:p>
                  </a:txBody>
                  <a:tcPr marL="554168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「部品番号 123456 のTOSを教えて」</a:t>
                      </a:r>
                    </a:p>
                  </a:txBody>
                  <a:tcPr marL="116667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962502"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略語・表記揺れ</a:t>
                      </a:r>
                    </a:p>
                  </a:txBody>
                  <a:tcPr marL="554168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「治具／治工具／ジグに関する作業指示」</a:t>
                      </a:r>
                    </a:p>
                  </a:txBody>
                  <a:tcPr marL="116667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962502"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言い換え</a:t>
                      </a:r>
                      <a:br/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（意味類似）</a:t>
                      </a:r>
                    </a:p>
                  </a:txBody>
                  <a:tcPr marL="554168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「過去に類似工程で使われた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TOSを探したい」</a:t>
                      </a:r>
                    </a:p>
                  </a:txBody>
                  <a:tcPr marL="116667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962502"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同名異義語</a:t>
                      </a:r>
                    </a:p>
                  </a:txBody>
                  <a:tcPr marL="554168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「A工程のドリルについて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（治具のドリル or 加工のドリル？）」</a:t>
                      </a:r>
                    </a:p>
                  </a:txBody>
                  <a:tcPr marL="116667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962502"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版・適用条件</a:t>
                      </a:r>
                    </a:p>
                  </a:txBody>
                  <a:tcPr marL="554168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「JP-2024-001 の最新版と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適用機種を教えて」</a:t>
                      </a:r>
                    </a:p>
                  </a:txBody>
                  <a:tcPr marL="116667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9" name="Oval 8"/>
          <p:cNvSpPr/>
          <p:nvPr/>
        </p:nvSpPr>
        <p:spPr>
          <a:xfrm>
            <a:off x="364584" y="1472920"/>
            <a:ext cx="320834" cy="320834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364584" y="2435422"/>
            <a:ext cx="320834" cy="320834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364584" y="3397925"/>
            <a:ext cx="320834" cy="320834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364584" y="4360427"/>
            <a:ext cx="320834" cy="320834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64584" y="5322929"/>
            <a:ext cx="320834" cy="320834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6679" y="670835"/>
            <a:ext cx="3354174" cy="5483346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66679" y="670835"/>
            <a:ext cx="3354174" cy="364584"/>
          </a:xfrm>
          <a:prstGeom prst="roundRect">
            <a:avLst>
              <a:gd name="adj" fmla="val 12000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66679" y="889585"/>
            <a:ext cx="3354174" cy="145834"/>
          </a:xfrm>
          <a:prstGeom prst="rect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2513" y="670835"/>
            <a:ext cx="3135424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評価指標の定義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3346" y="1152086"/>
          <a:ext cx="3120841" cy="481251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3753"/>
                <a:gridCol w="2027088"/>
              </a:tblGrid>
              <a:tr h="160417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Top-5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到達率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7291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正解または許容回答が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上位5件に含まれる割合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（％）。高いほど良い。</a:t>
                      </a:r>
                    </a:p>
                  </a:txBody>
                  <a:tcPr marL="116667" marT="14583" marR="7291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160417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根拠の</a:t>
                      </a:r>
                    </a:p>
                    <a:p>
                      <a:pPr algn="ctr"/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正確性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7291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提示された根拠（出典・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版・該当箇所等）が正しい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割合（%）。高いほど良い。</a:t>
                      </a:r>
                    </a:p>
                  </a:txBody>
                  <a:tcPr marL="116667" marT="14583" marR="7291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160417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1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応答時間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7291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質問入力から最終回答の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表示までの時間（秒）。</a:t>
                      </a:r>
                      <a:br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短いほど良い。</a:t>
                      </a:r>
                    </a:p>
                  </a:txBody>
                  <a:tcPr marL="116667" marT="14583" marR="7291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837521" y="670835"/>
            <a:ext cx="3252091" cy="5483346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37521" y="670835"/>
            <a:ext cx="3252091" cy="364584"/>
          </a:xfrm>
          <a:prstGeom prst="roundRect">
            <a:avLst>
              <a:gd name="adj" fmla="val 12000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7521" y="889585"/>
            <a:ext cx="3252091" cy="145834"/>
          </a:xfrm>
          <a:prstGeom prst="rect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3354" y="670835"/>
            <a:ext cx="3033340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採否判断の基準（例）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954187" y="1152086"/>
          <a:ext cx="3018757" cy="218750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3753"/>
                <a:gridCol w="1925004"/>
              </a:tblGrid>
              <a:tr h="80208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Top-5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到達率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02084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80%以上（全体）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かつ 各質問セットで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70%以上</a:t>
                      </a:r>
                    </a:p>
                  </a:txBody>
                  <a:tcPr marL="102084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65625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根拠の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正確性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02084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85%以上（全体）</a:t>
                      </a:r>
                    </a:p>
                  </a:txBody>
                  <a:tcPr marL="102084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  <a:tr h="72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応答時間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02084" tIns="14583" rIns="58333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3秒以内（目安）</a:t>
                      </a:r>
                    </a:p>
                  </a:txBody>
                  <a:tcPr marL="102084" marT="14583" marR="58333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954187" y="3543758"/>
            <a:ext cx="1604170" cy="277084"/>
          </a:xfrm>
          <a:prstGeom prst="roundRect">
            <a:avLst>
              <a:gd name="adj" fmla="val 10526"/>
            </a:avLst>
          </a:prstGeom>
          <a:solidFill>
            <a:srgbClr val="3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リランクの採用判断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4187" y="3864592"/>
            <a:ext cx="3018757" cy="2172922"/>
          </a:xfrm>
          <a:prstGeom prst="roundRect">
            <a:avLst>
              <a:gd name="adj" fmla="val 1342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54" y="3981259"/>
            <a:ext cx="2858340" cy="1968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600"/>
              </a:lnSpc>
              <a:buFont typeface="Arial"/>
              <a:buChar char="•"/>
            </a:pPr>
            <a:r>
              <a:rPr sz="10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併用に対して Top-5到達率の改善が</a:t>
            </a:r>
            <a:br/>
            <a:r>
              <a:rPr sz="10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+3%未満 かつ 根拠の正確性の改善が</a:t>
            </a:r>
            <a:br/>
            <a:r>
              <a:rPr sz="10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+3%未満の場合、リランクは不採用とする。</a:t>
            </a:r>
          </a:p>
          <a:p>
            <a:pPr algn="l" marL="145834" indent="-145834">
              <a:lnSpc>
                <a:spcPts val="1600"/>
              </a:lnSpc>
              <a:spcBef>
                <a:spcPts val="800"/>
              </a:spcBef>
              <a:buFont typeface="Arial"/>
              <a:buChar char="•"/>
            </a:pPr>
            <a:r>
              <a:rPr sz="10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応答時間が業務要件（3秒以内）を</a:t>
            </a:r>
            <a:br/>
            <a:r>
              <a:rPr sz="10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超える場合も不採用とする。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5834" y="6270848"/>
            <a:ext cx="11943778" cy="46666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azure:fi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01" y="6343765"/>
            <a:ext cx="291667" cy="32083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6252" y="6270848"/>
            <a:ext cx="11375026" cy="4666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前提：</a:t>
            </a:r>
            <a:r>
              <a:rPr sz="10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評価は固定の代表質問セットで実施し、各方式を同一条件で比較する。辞書・プロンプト・パラメータ等の調整も評価対象に含め、再現性のある結果で判断する。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
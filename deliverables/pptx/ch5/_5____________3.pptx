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media/icon_svg7.svg" ContentType="image/svg+xml"/>
  <Override PartName="/ppt/media/icon_svg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mage3.png"/><Relationship Id="rId7" Type="http://schemas.openxmlformats.org/officeDocument/2006/relationships/image" Target="../media/icon_svg3.svg"/><Relationship Id="rId8" Type="http://schemas.openxmlformats.org/officeDocument/2006/relationships/image" Target="../media/image4.png"/><Relationship Id="rId9" Type="http://schemas.openxmlformats.org/officeDocument/2006/relationships/image" Target="../media/icon_svg4.svg"/><Relationship Id="rId10" Type="http://schemas.openxmlformats.org/officeDocument/2006/relationships/image" Target="../media/image5.png"/><Relationship Id="rId11" Type="http://schemas.openxmlformats.org/officeDocument/2006/relationships/image" Target="../media/icon_svg5.svg"/><Relationship Id="rId12" Type="http://schemas.openxmlformats.org/officeDocument/2006/relationships/image" Target="../media/image6.png"/><Relationship Id="rId13" Type="http://schemas.openxmlformats.org/officeDocument/2006/relationships/image" Target="../media/icon_svg6.svg"/><Relationship Id="rId14" Type="http://schemas.openxmlformats.org/officeDocument/2006/relationships/image" Target="../media/image7.png"/><Relationship Id="rId15" Type="http://schemas.openxmlformats.org/officeDocument/2006/relationships/image" Target="../media/icon_svg7.svg"/><Relationship Id="rId16" Type="http://schemas.openxmlformats.org/officeDocument/2006/relationships/image" Target="../media/icon_svg8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2084" y="102084"/>
            <a:ext cx="991669" cy="408334"/>
          </a:xfrm>
          <a:prstGeom prst="roundRect">
            <a:avLst>
              <a:gd name="adj" fmla="val 7142"/>
            </a:avLst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表 5-2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3336" y="58333"/>
            <a:ext cx="6562515" cy="495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単一方式の失敗パターンとハイブリッドでの補完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08352" y="102084"/>
            <a:ext cx="3981259" cy="437501"/>
          </a:xfrm>
          <a:prstGeom prst="roundRect">
            <a:avLst>
              <a:gd name="adj" fmla="val 13333"/>
            </a:avLst>
          </a:prstGeom>
          <a:solidFill>
            <a:srgbClr val="E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確定条件はコード、意味の拡張は検索</a:t>
            </a:r>
          </a:p>
        </p:txBody>
      </p:sp>
      <p:graphicFrame>
        <p:nvGraphicFramePr>
          <p:cNvPr id="5" name="failure-table"/>
          <p:cNvGraphicFramePr>
            <a:graphicFrameLocks noGrp="1"/>
          </p:cNvGraphicFramePr>
          <p:nvPr/>
        </p:nvGraphicFramePr>
        <p:xfrm>
          <a:off x="102084" y="656252"/>
          <a:ext cx="11987528" cy="61979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6256"/>
                <a:gridCol w="4404177"/>
                <a:gridCol w="4827095"/>
              </a:tblGrid>
              <a:tr h="4666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単一方式</a:t>
                      </a:r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0E2E63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起きる失敗</a:t>
                      </a:r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（取り逃しの典型例）</a:t>
                      </a:r>
                    </a:p>
                  </a:txBody>
                  <a:tcPr marL="29167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0E2E63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ハイブリッドでの補完</a:t>
                      </a:r>
                      <a:r>
                        <a:rPr sz="11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（組み合わせによる解決）</a:t>
                      </a:r>
                    </a:p>
                  </a:txBody>
                  <a:tcPr marL="29167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0E2E63"/>
                    </a:solidFill>
                  </a:tcPr>
                </a:tc>
              </a:tr>
              <a:tr h="1458337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247917" tIns="466668" rIns="291667" bIns="29167" anchor="t">
                      <a:noAutofit/>
                    </a:bodyPr>
                    <a:lstStyle/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正式名称と異なる表現（略語・通称・旧称）で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ヒットしない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関連する部品や工程の言い換え表現を拾えない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人の記憶にある曖昧な表現では検索できない</a:t>
                      </a:r>
                    </a:p>
                  </a:txBody>
                  <a:tcPr marL="247917" marT="466668" marR="291667" marB="29167" anchor="t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364584" tIns="627085" rIns="58333" bIns="29167" anchor="t">
                      <a:noAutofit/>
                    </a:bodyPr>
                    <a:lstStyle/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キーワード一致（BM25）で表記揺れ・略語を拾う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意味的に近い表現（ベクトル）で類似情報を候補に拡張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コードでの確定検索を軸に、関連候補を幅広く提示</a:t>
                      </a:r>
                    </a:p>
                  </a:txBody>
                  <a:tcPr marL="364584" marT="627085" marR="58333" marB="29167" anchor="t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</a:tr>
              <a:tr h="1458337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247917" tIns="466668" rIns="291667" bIns="29167" anchor="t">
                      <a:noAutofit/>
                    </a:bodyPr>
                    <a:lstStyle/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同義語・表記揺れ（例：治具／治工具）でヒットしない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キーワードが本文に無い関連情報を取り逃す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文脈的に類似する内容（類似工程・類似事例）を拾えない</a:t>
                      </a:r>
                    </a:p>
                  </a:txBody>
                  <a:tcPr marL="247917" marT="466668" marR="291667" marB="29167" anchor="t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364584" tIns="627085" rIns="58333" bIns="29167" anchor="t">
                      <a:noAutofit/>
                    </a:bodyPr>
                    <a:lstStyle/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意味的な類似性に基づき、関連文書や類似事例を取得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キーワードが異なる文書も候補に含める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BM25 とベクトルの結果を RRF で統合し、網羅性を向上</a:t>
                      </a:r>
                    </a:p>
                  </a:txBody>
                  <a:tcPr marL="364584" marT="627085" marR="58333" marB="29167" anchor="t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</a:tr>
              <a:tr h="1458337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247917" tIns="466668" rIns="291667" bIns="29167" anchor="t">
                      <a:noAutofit/>
                    </a:bodyPr>
                    <a:lstStyle/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部品番号・工程番号などの厳密な一致が不得意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最新版のみ、特定機種のみ等の版／適用条件を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保証できない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意味的に近いが、別の部品・旧版の情報を返すリスク</a:t>
                      </a:r>
                    </a:p>
                  </a:txBody>
                  <a:tcPr marL="247917" marT="466668" marR="291667" marB="29167" anchor="t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364584" tIns="627085" rIns="58333" bIns="29167" anchor="t">
                      <a:noAutofit/>
                    </a:bodyPr>
                    <a:lstStyle/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部品番号・工程番号・文書番号などで対象を厳密に絞り込み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版・適用機種・有効期間などの業務条件をフィルタ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そのうえでベクトル検索により、関連候補を拡張</a:t>
                      </a:r>
                    </a:p>
                  </a:txBody>
                  <a:tcPr marL="364584" marT="627085" marR="58333" marB="29167" anchor="t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</a:tr>
              <a:tr h="1356253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  <a:tc>
                  <a:txBody>
                    <a:bodyPr wrap="square" lIns="247917" tIns="466668" rIns="291667" bIns="29167" anchor="t">
                      <a:noAutofit/>
                    </a:bodyPr>
                    <a:lstStyle/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存在しない情報の生成（ハルシネーション）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出典・根拠が不明で、業務で使えない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同じ質問でも回答が変わり、再現性がない</a:t>
                      </a:r>
                    </a:p>
                  </a:txBody>
                  <a:tcPr marL="247917" marT="466668" marR="291667" marB="29167" anchor="t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364584" tIns="627085" rIns="58333" bIns="29167" anchor="t">
                      <a:noAutofit/>
                    </a:bodyPr>
                    <a:lstStyle/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検索で取得した根拠情報をコンテキストに生成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確定部分は DB／業務 API での決定的な取得・検証を実施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回答には出典・文書 ID・版・適用条件を付与し、再現性を確保</a:t>
                      </a:r>
                    </a:p>
                  </a:txBody>
                  <a:tcPr marL="364584" marT="627085" marR="58333" marB="29167" anchor="t">
                    <a:lnB w="29167">
                      <a:solidFill>
                        <a:srgbClr val="FFFFFF"/>
                      </a:solidFill>
                    </a:lnB>
                    <a:lnT w="29167">
                      <a:solidFill>
                        <a:srgbClr val="FFFFFF"/>
                      </a:solidFill>
                    </a:lnT>
                    <a:lnR w="29167">
                      <a:solidFill>
                        <a:srgbClr val="FFFFFF"/>
                      </a:solidFill>
                    </a:lnR>
                    <a:lnL w="29167">
                      <a:solidFill>
                        <a:srgbClr val="FFFFFF"/>
                      </a:solidFill>
                    </a:lnL>
                    <a:solidFill>
                      <a:srgbClr val="EAF3FC"/>
                    </a:solidFill>
                  </a:tcPr>
                </a:tc>
              </a:tr>
            </a:tbl>
          </a:graphicData>
        </a:graphic>
      </p:graphicFrame>
      <p:pic>
        <p:nvPicPr>
          <p:cNvPr id="6" name="icon azure:sql-databas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917" y="1239586"/>
            <a:ext cx="481251" cy="4812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5002" y="1225003"/>
            <a:ext cx="1895838" cy="525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4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構造化検索のみ</a:t>
            </a:r>
          </a:p>
          <a:p>
            <a:pPr algn="l">
              <a:lnSpc>
                <a:spcPts val="1950"/>
              </a:lnSpc>
            </a:pPr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（完全一致・フィルタ）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001" y="1852088"/>
            <a:ext cx="2275005" cy="597918"/>
          </a:xfrm>
          <a:prstGeom prst="roundRect">
            <a:avLst>
              <a:gd name="adj" fmla="val 9756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600"/>
              </a:lnSpc>
            </a:pPr>
            <a:r>
              <a:rPr sz="10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SQL による</a:t>
            </a:r>
          </a:p>
          <a:p>
            <a:pPr algn="ctr">
              <a:lnSpc>
                <a:spcPts val="1600"/>
              </a:lnSpc>
            </a:pPr>
            <a:r>
              <a:rPr sz="10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コード・番号の一致検索</a:t>
            </a:r>
          </a:p>
        </p:txBody>
      </p:sp>
      <p:sp>
        <p:nvSpPr>
          <p:cNvPr id="9" name="Oval 8"/>
          <p:cNvSpPr/>
          <p:nvPr/>
        </p:nvSpPr>
        <p:spPr>
          <a:xfrm>
            <a:off x="3033340" y="1225003"/>
            <a:ext cx="320834" cy="320834"/>
          </a:xfrm>
          <a:prstGeom prst="ellipse">
            <a:avLst/>
          </a:prstGeom>
          <a:solidFill>
            <a:srgbClr val="C8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0841" y="1210419"/>
            <a:ext cx="3645842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意味表現・略語を取り逃す</a:t>
            </a:r>
          </a:p>
        </p:txBody>
      </p:sp>
      <p:sp>
        <p:nvSpPr>
          <p:cNvPr id="11" name="Chevron 10"/>
          <p:cNvSpPr/>
          <p:nvPr/>
        </p:nvSpPr>
        <p:spPr>
          <a:xfrm>
            <a:off x="7029183" y="1633337"/>
            <a:ext cx="189584" cy="437501"/>
          </a:xfrm>
          <a:prstGeom prst="chevron">
            <a:avLst>
              <a:gd name="adj" fmla="val 43333"/>
            </a:avLst>
          </a:prstGeom>
          <a:solidFill>
            <a:srgbClr val="9AA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 azure:search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7934" y="1254170"/>
            <a:ext cx="422918" cy="4229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7519" y="1268753"/>
            <a:ext cx="3864592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全文 BM25 ＋ ベクトル検索で補完</a:t>
            </a:r>
          </a:p>
        </p:txBody>
      </p:sp>
      <p:pic>
        <p:nvPicPr>
          <p:cNvPr id="14" name="icon azure:file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7917" y="2697923"/>
            <a:ext cx="481251" cy="48125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5002" y="2683340"/>
            <a:ext cx="1895838" cy="525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4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全文 BM25 のみ</a:t>
            </a:r>
          </a:p>
          <a:p>
            <a:pPr algn="l">
              <a:lnSpc>
                <a:spcPts val="1950"/>
              </a:lnSpc>
            </a:pPr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（キーワード一致）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001" y="3310424"/>
            <a:ext cx="2275005" cy="597918"/>
          </a:xfrm>
          <a:prstGeom prst="roundRect">
            <a:avLst>
              <a:gd name="adj" fmla="val 9756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600"/>
              </a:lnSpc>
            </a:pPr>
            <a:r>
              <a:rPr sz="10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文書・図面テキストの</a:t>
            </a:r>
          </a:p>
          <a:p>
            <a:pPr algn="ctr">
              <a:lnSpc>
                <a:spcPts val="1600"/>
              </a:lnSpc>
            </a:pPr>
            <a:r>
              <a:rPr sz="10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キーワード検索</a:t>
            </a:r>
          </a:p>
        </p:txBody>
      </p:sp>
      <p:sp>
        <p:nvSpPr>
          <p:cNvPr id="17" name="Oval 16"/>
          <p:cNvSpPr/>
          <p:nvPr/>
        </p:nvSpPr>
        <p:spPr>
          <a:xfrm>
            <a:off x="3033340" y="2683340"/>
            <a:ext cx="320834" cy="320834"/>
          </a:xfrm>
          <a:prstGeom prst="ellipse">
            <a:avLst/>
          </a:prstGeom>
          <a:solidFill>
            <a:srgbClr val="C8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0841" y="2668756"/>
            <a:ext cx="3645842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表記揺れ・意味類似に弱い</a:t>
            </a:r>
          </a:p>
        </p:txBody>
      </p:sp>
      <p:sp>
        <p:nvSpPr>
          <p:cNvPr id="19" name="Chevron 18"/>
          <p:cNvSpPr/>
          <p:nvPr/>
        </p:nvSpPr>
        <p:spPr>
          <a:xfrm>
            <a:off x="7029183" y="3091674"/>
            <a:ext cx="189584" cy="437501"/>
          </a:xfrm>
          <a:prstGeom prst="chevron">
            <a:avLst>
              <a:gd name="adj" fmla="val 43333"/>
            </a:avLst>
          </a:prstGeom>
          <a:solidFill>
            <a:srgbClr val="9AA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 azure:cognitive-services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97934" y="2712506"/>
            <a:ext cx="422918" cy="42291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37519" y="2727090"/>
            <a:ext cx="3864592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ベクトル検索で補完</a:t>
            </a:r>
          </a:p>
        </p:txBody>
      </p:sp>
      <p:pic>
        <p:nvPicPr>
          <p:cNvPr id="22" name="icon azure:cognitive-services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7917" y="4156260"/>
            <a:ext cx="481251" cy="48125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5002" y="4141676"/>
            <a:ext cx="1895838" cy="525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4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ベクトル検索のみ</a:t>
            </a:r>
          </a:p>
          <a:p>
            <a:pPr algn="l">
              <a:lnSpc>
                <a:spcPts val="1950"/>
              </a:lnSpc>
            </a:pPr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（意味類似検索）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001" y="4768761"/>
            <a:ext cx="2275005" cy="597918"/>
          </a:xfrm>
          <a:prstGeom prst="roundRect">
            <a:avLst>
              <a:gd name="adj" fmla="val 9756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600"/>
              </a:lnSpc>
            </a:pPr>
            <a:r>
              <a:rPr sz="10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文書・図面・属性の</a:t>
            </a:r>
          </a:p>
          <a:p>
            <a:pPr algn="ctr">
              <a:lnSpc>
                <a:spcPts val="1600"/>
              </a:lnSpc>
            </a:pPr>
            <a:r>
              <a:rPr sz="10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ベクトル類似検索</a:t>
            </a:r>
          </a:p>
        </p:txBody>
      </p:sp>
      <p:sp>
        <p:nvSpPr>
          <p:cNvPr id="25" name="Oval 24"/>
          <p:cNvSpPr/>
          <p:nvPr/>
        </p:nvSpPr>
        <p:spPr>
          <a:xfrm>
            <a:off x="3033340" y="4141676"/>
            <a:ext cx="320834" cy="320834"/>
          </a:xfrm>
          <a:prstGeom prst="ellipse">
            <a:avLst/>
          </a:prstGeom>
          <a:solidFill>
            <a:srgbClr val="C8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0841" y="4127093"/>
            <a:ext cx="3645842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確定キー・版／適用条件を保証できない</a:t>
            </a:r>
          </a:p>
        </p:txBody>
      </p:sp>
      <p:sp>
        <p:nvSpPr>
          <p:cNvPr id="27" name="Chevron 26"/>
          <p:cNvSpPr/>
          <p:nvPr/>
        </p:nvSpPr>
        <p:spPr>
          <a:xfrm>
            <a:off x="7029183" y="4550011"/>
            <a:ext cx="189584" cy="437501"/>
          </a:xfrm>
          <a:prstGeom prst="chevron">
            <a:avLst>
              <a:gd name="adj" fmla="val 43333"/>
            </a:avLst>
          </a:prstGeom>
          <a:solidFill>
            <a:srgbClr val="9AA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icon azure:sql-database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97934" y="4170843"/>
            <a:ext cx="422918" cy="42291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137519" y="4185426"/>
            <a:ext cx="3864592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構造化検索（SQL）の必須条件フィルタで補完</a:t>
            </a:r>
          </a:p>
        </p:txBody>
      </p:sp>
      <p:pic>
        <p:nvPicPr>
          <p:cNvPr id="30" name="icon azure:azure-openai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7917" y="5614596"/>
            <a:ext cx="481251" cy="48125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75002" y="5600013"/>
            <a:ext cx="1895838" cy="525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4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 単独</a:t>
            </a:r>
          </a:p>
          <a:p>
            <a:pPr algn="l">
              <a:lnSpc>
                <a:spcPts val="1950"/>
              </a:lnSpc>
            </a:pPr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（生成のみ・検索なし）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0001" y="6227098"/>
            <a:ext cx="2275005" cy="495834"/>
          </a:xfrm>
          <a:prstGeom prst="roundRect">
            <a:avLst>
              <a:gd name="adj" fmla="val 11764"/>
            </a:avLst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600"/>
              </a:lnSpc>
            </a:pPr>
            <a:r>
              <a:rPr sz="10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事前知識に基づく</a:t>
            </a:r>
          </a:p>
          <a:p>
            <a:pPr algn="ctr">
              <a:lnSpc>
                <a:spcPts val="1600"/>
              </a:lnSpc>
            </a:pPr>
            <a:r>
              <a:rPr sz="10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生成回答</a:t>
            </a:r>
          </a:p>
        </p:txBody>
      </p:sp>
      <p:sp>
        <p:nvSpPr>
          <p:cNvPr id="33" name="Oval 32"/>
          <p:cNvSpPr/>
          <p:nvPr/>
        </p:nvSpPr>
        <p:spPr>
          <a:xfrm>
            <a:off x="3033340" y="5600013"/>
            <a:ext cx="320834" cy="320834"/>
          </a:xfrm>
          <a:prstGeom prst="ellipse">
            <a:avLst/>
          </a:prstGeom>
          <a:solidFill>
            <a:srgbClr val="C8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0841" y="5585430"/>
            <a:ext cx="3645842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根拠なき断定・再現不能</a:t>
            </a:r>
          </a:p>
        </p:txBody>
      </p:sp>
      <p:sp>
        <p:nvSpPr>
          <p:cNvPr id="35" name="Chevron 34"/>
          <p:cNvSpPr/>
          <p:nvPr/>
        </p:nvSpPr>
        <p:spPr>
          <a:xfrm>
            <a:off x="7029183" y="5957306"/>
            <a:ext cx="189584" cy="437501"/>
          </a:xfrm>
          <a:prstGeom prst="chevron">
            <a:avLst>
              <a:gd name="adj" fmla="val 43333"/>
            </a:avLst>
          </a:prstGeom>
          <a:solidFill>
            <a:srgbClr val="9AA9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icon azure:sql-database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97934" y="5629180"/>
            <a:ext cx="422918" cy="42291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137519" y="5643763"/>
            <a:ext cx="3864592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検索結果＋業務 API の決定的処理で補完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
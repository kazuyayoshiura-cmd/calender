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084" y="102084"/>
            <a:ext cx="991669" cy="408334"/>
          </a:xfrm>
          <a:prstGeom prst="roundRect">
            <a:avLst>
              <a:gd name="adj" fmla="val 7142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表 5-4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3336" y="58333"/>
            <a:ext cx="7291684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方式比較の評価計画</a:t>
            </a:r>
            <a:r>
              <a:rPr sz="15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91684" y="102084"/>
            <a:ext cx="4797928" cy="437501"/>
          </a:xfrm>
          <a:prstGeom prst="roundRect">
            <a:avLst>
              <a:gd name="adj" fmla="val 13333"/>
            </a:avLst>
          </a:prstGeom>
          <a:solidFill>
            <a:srgbClr val="E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代表質問セットで各方式を比較し、業務での有効性と採用可否を判断する</a:t>
            </a:r>
          </a:p>
        </p:txBody>
      </p:sp>
      <p:graphicFrame>
        <p:nvGraphicFramePr>
          <p:cNvPr id="5" name="evaluation-table"/>
          <p:cNvGraphicFramePr>
            <a:graphicFrameLocks noGrp="1"/>
          </p:cNvGraphicFramePr>
          <p:nvPr/>
        </p:nvGraphicFramePr>
        <p:xfrm>
          <a:off x="102084" y="656252"/>
          <a:ext cx="11972944" cy="56145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2505"/>
                <a:gridCol w="1866671"/>
                <a:gridCol w="1239586"/>
                <a:gridCol w="1239586"/>
                <a:gridCol w="1239586"/>
                <a:gridCol w="875002"/>
                <a:gridCol w="875002"/>
                <a:gridCol w="875002"/>
                <a:gridCol w="875002"/>
                <a:gridCol w="875002"/>
              </a:tblGrid>
              <a:tr h="350001">
                <a:tc rowSpan="2"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検索方式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E2E63"/>
                    </a:solidFill>
                  </a:tcPr>
                </a:tc>
                <a:tc rowSpan="2"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概要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E2E63"/>
                    </a:solidFill>
                  </a:tcPr>
                </a:tc>
                <a:tc gridSpan="3"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評価指標（主要3指標）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E2E6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評価対象（代表質問セットでの傾向）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0E2E6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70835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Top-5到達率（%）</a:t>
                      </a:r>
                    </a:p>
                    <a:p>
                      <a:pPr algn="ctr">
                        <a:lnSpc>
                          <a:spcPts val="145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↑ 高いほど良い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根拠の正確性（%）</a:t>
                      </a:r>
                    </a:p>
                    <a:p>
                      <a:pPr algn="ctr">
                        <a:lnSpc>
                          <a:spcPts val="145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↑ 高いほど良い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50"/>
                        </a:lnSpc>
                      </a:pPr>
                      <a:r>
                        <a:rPr sz="11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応答時間（秒）</a:t>
                      </a:r>
                    </a:p>
                    <a:p>
                      <a:pPr algn="ctr">
                        <a:lnSpc>
                          <a:spcPts val="1450"/>
                        </a:lnSpc>
                      </a:pPr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↓ 短いほど良い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①番号・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条件一致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②略語・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表記揺れ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③言い換え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（意味類似）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④同名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異義語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⑤版・適用</a:t>
                      </a:r>
                    </a:p>
                    <a:p>
                      <a:pPr algn="ctr">
                        <a:lnSpc>
                          <a:spcPts val="1400"/>
                        </a:lnSpc>
                      </a:pPr>
                      <a:r>
                        <a:rPr sz="10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条件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918752">
                <a:tc>
                  <a:txBody>
                    <a:bodyPr wrap="square" lIns="860419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構造化のみ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（SQL・フィルタ）</a:t>
                      </a:r>
                    </a:p>
                  </a:txBody>
                  <a:tcPr marL="860419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確定キーや番号での</a:t>
                      </a:r>
                    </a:p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厳密な一致検索</a:t>
                      </a:r>
                    </a:p>
                  </a:txBody>
                  <a:tcPr marL="1166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80%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95%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0.5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918752">
                <a:tc>
                  <a:txBody>
                    <a:bodyPr wrap="square" lIns="860419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全文のみ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（BM25）</a:t>
                      </a:r>
                    </a:p>
                  </a:txBody>
                  <a:tcPr marL="860419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キーワード一致による</a:t>
                      </a:r>
                    </a:p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全文検索</a:t>
                      </a:r>
                    </a:p>
                  </a:txBody>
                  <a:tcPr marL="1166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60%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70%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1.0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918752">
                <a:tc>
                  <a:txBody>
                    <a:bodyPr wrap="square" lIns="860419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ベクトルのみ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（意味類似）</a:t>
                      </a:r>
                    </a:p>
                  </a:txBody>
                  <a:tcPr marL="860419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意味的な類似性による</a:t>
                      </a:r>
                    </a:p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ベクトル検索</a:t>
                      </a:r>
                    </a:p>
                  </a:txBody>
                  <a:tcPr marL="1166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70%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75%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1.2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△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918752">
                <a:tc>
                  <a:txBody>
                    <a:bodyPr wrap="square" lIns="860419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併用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（BM25＋</a:t>
                      </a:r>
                      <a:br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ベクトル）</a:t>
                      </a:r>
                    </a:p>
                  </a:txBody>
                  <a:tcPr marL="860419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全文とベクトルの</a:t>
                      </a:r>
                    </a:p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ハイブリッド（RRF統合）</a:t>
                      </a:r>
                    </a:p>
                  </a:txBody>
                  <a:tcPr marL="1166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85%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85%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1.5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3F7FB"/>
                    </a:solidFill>
                  </a:tcPr>
                </a:tc>
              </a:tr>
              <a:tr h="918752">
                <a:tc>
                  <a:txBody>
                    <a:bodyPr wrap="square" lIns="860419" tIns="14583" rIns="14583" bIns="14583" anchor="ctr">
                      <a:noAutofit/>
                    </a:bodyPr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sz="12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併用＋リランク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（RRF＋</a:t>
                      </a:r>
                      <a:br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Reranker）</a:t>
                      </a:r>
                    </a:p>
                  </a:txBody>
                  <a:tcPr marL="860419" marT="14583" marR="14583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ハイブリッド結果を</a:t>
                      </a:r>
                    </a:p>
                    <a:p>
                      <a:pPr algn="l">
                        <a:lnSpc>
                          <a:spcPts val="15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生成AIで再ランキング</a:t>
                      </a:r>
                    </a:p>
                  </a:txBody>
                  <a:tcPr marL="1166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88%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90%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5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2.5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◎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700" b="0" i="0">
                          <a:solidFill>
                            <a:srgbClr val="1F4E8C"/>
                          </a:solidFill>
                          <a:latin typeface="Meiryo"/>
                          <a:ea typeface="Meiryo"/>
                          <a:cs typeface="Meiryo"/>
                        </a:rPr>
                        <a:t>○</a:t>
                      </a:r>
                    </a:p>
                  </a:txBody>
                  <a:tcPr marL="29167" marT="14583" marR="29167" marB="14583" anchor="ctr">
                    <a:lnB w="8750">
                      <a:solidFill>
                        <a:srgbClr val="D3DEEB"/>
                      </a:solidFill>
                    </a:lnB>
                    <a:lnT w="8750">
                      <a:solidFill>
                        <a:srgbClr val="D3DEEB"/>
                      </a:solidFill>
                    </a:lnT>
                    <a:lnR w="8750">
                      <a:solidFill>
                        <a:srgbClr val="D3DEEB"/>
                      </a:solidFill>
                    </a:lnR>
                    <a:lnL w="8750">
                      <a:solidFill>
                        <a:srgbClr val="D3DEEB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con azure:sql-databas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167" y="1903129"/>
            <a:ext cx="466668" cy="466668"/>
          </a:xfrm>
          <a:prstGeom prst="rect">
            <a:avLst/>
          </a:prstGeom>
        </p:spPr>
      </p:pic>
      <p:pic>
        <p:nvPicPr>
          <p:cNvPr id="7" name="icon azure:file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167" y="2821882"/>
            <a:ext cx="466668" cy="466668"/>
          </a:xfrm>
          <a:prstGeom prst="rect">
            <a:avLst/>
          </a:prstGeom>
        </p:spPr>
      </p:pic>
      <p:pic>
        <p:nvPicPr>
          <p:cNvPr id="8" name="icon azure:cognitive-services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4167" y="3740634"/>
            <a:ext cx="466668" cy="466668"/>
          </a:xfrm>
          <a:prstGeom prst="rect">
            <a:avLst/>
          </a:prstGeom>
        </p:spPr>
      </p:pic>
      <p:pic>
        <p:nvPicPr>
          <p:cNvPr id="9" name="icon azure:file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834" y="4732303"/>
            <a:ext cx="291667" cy="3208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2918" y="4790636"/>
            <a:ext cx="116667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+</a:t>
            </a:r>
          </a:p>
        </p:txBody>
      </p:sp>
      <p:pic>
        <p:nvPicPr>
          <p:cNvPr id="11" name="icon azure:cognitive-services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5001" y="4746886"/>
            <a:ext cx="291667" cy="291667"/>
          </a:xfrm>
          <a:prstGeom prst="rect">
            <a:avLst/>
          </a:prstGeom>
        </p:spPr>
      </p:pic>
      <p:pic>
        <p:nvPicPr>
          <p:cNvPr id="12" name="icon azure:metrics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4167" y="5578138"/>
            <a:ext cx="466668" cy="4666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084" y="6562515"/>
            <a:ext cx="11987528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10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凡例：◎ 得意　○ 対応可能　△ 苦手（取り逃しリスクあり）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